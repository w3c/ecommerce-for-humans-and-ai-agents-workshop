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78" r:id="rId2"/>
    <p:sldId id="261" r:id="rId3"/>
    <p:sldId id="2147483510" r:id="rId4"/>
    <p:sldId id="280" r:id="rId5"/>
    <p:sldId id="2147483509" r:id="rId6"/>
    <p:sldId id="2147483487" r:id="rId7"/>
    <p:sldId id="263" r:id="rId8"/>
    <p:sldId id="264" r:id="rId9"/>
    <p:sldId id="265" r:id="rId10"/>
    <p:sldId id="267" r:id="rId11"/>
    <p:sldId id="268" r:id="rId12"/>
    <p:sldId id="269" r:id="rId13"/>
    <p:sldId id="273" r:id="rId14"/>
    <p:sldId id="274" r:id="rId15"/>
    <p:sldId id="272" r:id="rId16"/>
    <p:sldId id="276" r:id="rId17"/>
    <p:sldId id="27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42131" autoAdjust="0"/>
  </p:normalViewPr>
  <p:slideViewPr>
    <p:cSldViewPr snapToGrid="0">
      <p:cViewPr varScale="1">
        <p:scale>
          <a:sx n="46" d="100"/>
          <a:sy n="46" d="100"/>
        </p:scale>
        <p:origin x="2070" y="5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COVID-era high</c:v>
          </c:tx>
          <c:spPr>
            <a:solidFill>
              <a:srgbClr val="F59E0B"/>
            </a:solidFill>
          </c:spPr>
          <c:invertIfNegative val="1"/>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China</c:v>
              </c:pt>
              <c:pt idx="1">
                <c:v>Indonesia</c:v>
              </c:pt>
              <c:pt idx="2">
                <c:v>United Kingdom</c:v>
              </c:pt>
              <c:pt idx="3">
                <c:v>South Korea</c:v>
              </c:pt>
              <c:pt idx="4">
                <c:v>United States</c:v>
              </c:pt>
              <c:pt idx="5">
                <c:v>Canada</c:v>
              </c:pt>
              <c:pt idx="6">
                <c:v>Rest of world</c:v>
              </c:pt>
            </c:strLit>
          </c:cat>
          <c:val>
            <c:numLit>
              <c:formatCode>General</c:formatCode>
              <c:ptCount val="7"/>
              <c:pt idx="0">
                <c:v>52.1</c:v>
              </c:pt>
              <c:pt idx="1">
                <c:v>15</c:v>
              </c:pt>
              <c:pt idx="2">
                <c:v>36.299999999999997</c:v>
              </c:pt>
              <c:pt idx="3">
                <c:v>32.200000000000003</c:v>
              </c:pt>
              <c:pt idx="4">
                <c:v>16.3</c:v>
              </c:pt>
              <c:pt idx="5">
                <c:v>12.7</c:v>
              </c:pt>
              <c:pt idx="6">
                <c:v>8.9</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BC4-43D9-A7B3-B0CFA126E63B}"/>
            </c:ext>
          </c:extLst>
        </c:ser>
        <c:ser>
          <c:idx val="1"/>
          <c:order val="1"/>
          <c:tx>
            <c:v>2025 estimate</c:v>
          </c:tx>
          <c:spPr>
            <a:solidFill>
              <a:srgbClr val="92A3B8"/>
            </a:solidFill>
          </c:spPr>
          <c:invertIfNegative val="1"/>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China</c:v>
              </c:pt>
              <c:pt idx="1">
                <c:v>Indonesia</c:v>
              </c:pt>
              <c:pt idx="2">
                <c:v>United Kingdom</c:v>
              </c:pt>
              <c:pt idx="3">
                <c:v>South Korea</c:v>
              </c:pt>
              <c:pt idx="4">
                <c:v>United States</c:v>
              </c:pt>
              <c:pt idx="5">
                <c:v>Canada</c:v>
              </c:pt>
              <c:pt idx="6">
                <c:v>Rest of world</c:v>
              </c:pt>
            </c:strLit>
          </c:cat>
          <c:val>
            <c:numLit>
              <c:formatCode>General</c:formatCode>
              <c:ptCount val="7"/>
              <c:pt idx="0">
                <c:v>47</c:v>
              </c:pt>
              <c:pt idx="1">
                <c:v>28.9</c:v>
              </c:pt>
              <c:pt idx="2">
                <c:v>30.7</c:v>
              </c:pt>
              <c:pt idx="3">
                <c:v>28.3</c:v>
              </c:pt>
              <c:pt idx="4">
                <c:v>16.899999999999999</c:v>
              </c:pt>
              <c:pt idx="5">
                <c:v>13</c:v>
              </c:pt>
              <c:pt idx="6">
                <c:v>9.6999999999999993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9BC4-43D9-A7B3-B0CFA126E63B}"/>
            </c:ext>
          </c:extLst>
        </c:ser>
        <c:ser>
          <c:idx val="2"/>
          <c:order val="2"/>
          <c:tx>
            <c:v>2029 projection</c:v>
          </c:tx>
          <c:spPr>
            <a:solidFill>
              <a:srgbClr val="2474FF"/>
            </a:solidFill>
          </c:spPr>
          <c:invertIfNegative val="1"/>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China</c:v>
              </c:pt>
              <c:pt idx="1">
                <c:v>Indonesia</c:v>
              </c:pt>
              <c:pt idx="2">
                <c:v>United Kingdom</c:v>
              </c:pt>
              <c:pt idx="3">
                <c:v>South Korea</c:v>
              </c:pt>
              <c:pt idx="4">
                <c:v>United States</c:v>
              </c:pt>
              <c:pt idx="5">
                <c:v>Canada</c:v>
              </c:pt>
              <c:pt idx="6">
                <c:v>Rest of world</c:v>
              </c:pt>
            </c:strLit>
          </c:cat>
          <c:val>
            <c:numLit>
              <c:formatCode>General</c:formatCode>
              <c:ptCount val="7"/>
              <c:pt idx="0">
                <c:v>52</c:v>
              </c:pt>
              <c:pt idx="1">
                <c:v>35</c:v>
              </c:pt>
              <c:pt idx="2">
                <c:v>34</c:v>
              </c:pt>
              <c:pt idx="3">
                <c:v>31.5</c:v>
              </c:pt>
              <c:pt idx="4">
                <c:v>20</c:v>
              </c:pt>
              <c:pt idx="5">
                <c:v>15.8</c:v>
              </c:pt>
              <c:pt idx="6">
                <c:v>10.1</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9BC4-43D9-A7B3-B0CFA126E63B}"/>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majorGridlines>
          <c:spPr>
            <a:ln w="9525">
              <a:solidFill>
                <a:srgbClr val="E7EBF0"/>
              </a:solidFill>
              <a:prstDash val="solid"/>
            </a:ln>
          </c:spPr>
        </c:majorGridlines>
        <c:numFmt formatCode="General" sourceLinked="1"/>
        <c:majorTickMark val="none"/>
        <c:minorTickMark val="none"/>
        <c:tickLblPos val="nextTo"/>
        <c:spPr>
          <a:ln w="0">
            <a:solidFill>
              <a:srgbClr val="FFFFFF"/>
            </a:solidFill>
            <a:prstDash val="solid"/>
          </a:ln>
        </c:spPr>
        <c:txPr>
          <a:bodyPr anchorCtr="1"/>
          <a:lstStyle/>
          <a:p>
            <a:pPr>
              <a:defRPr sz="900">
                <a:solidFill>
                  <a:srgbClr val="64748B"/>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l"/>
        <c:numFmt formatCode="General" sourceLinked="1"/>
        <c:majorTickMark val="none"/>
        <c:minorTickMark val="none"/>
        <c:tickLblPos val="nextTo"/>
        <c:spPr>
          <a:ln w="0">
            <a:solidFill>
              <a:srgbClr val="FFFFFF"/>
            </a:solidFill>
            <a:prstDash val="solid"/>
          </a:ln>
        </c:spPr>
        <c:txPr>
          <a:bodyPr anchorCtr="1"/>
          <a:lstStyle/>
          <a:p>
            <a:pPr>
              <a:defRPr sz="1050" b="1">
                <a:solidFill>
                  <a:srgbClr val="0F172A"/>
                </a:solidFill>
                <a:latin typeface="Arial"/>
                <a:ea typeface="Arial"/>
                <a:cs typeface="Arial"/>
              </a:defRPr>
            </a:pPr>
            <a:endParaRPr lang="en-US"/>
          </a:p>
        </c:txPr>
        <c:crossAx val="48650112"/>
        <c:crosses val="autoZero"/>
        <c:crossBetween val="between"/>
      </c:valAx>
      <c:spPr>
        <a:noFill/>
        <a:ln w="0">
          <a:solidFill>
            <a:srgbClr val="FFFFFF"/>
          </a:solidFill>
          <a:prstDash val="solid"/>
        </a:ln>
      </c:spPr>
    </c:plotArea>
    <c:legend>
      <c:legendPos val="b"/>
      <c:overlay val="0"/>
      <c:txPr>
        <a:bodyPr anchorCtr="1"/>
        <a:lstStyle/>
        <a:p>
          <a:pPr>
            <a:defRPr sz="975">
              <a:solidFill>
                <a:srgbClr val="334155"/>
              </a:solidFill>
              <a:latin typeface="Arial"/>
              <a:ea typeface="Arial"/>
              <a:cs typeface="Arial"/>
            </a:defRPr>
          </a:pPr>
          <a:endParaRPr lang="en-US"/>
        </a:p>
      </c:txPr>
    </c:legend>
    <c:plotVisOnly val="1"/>
    <c:dispBlanksAs val="zero"/>
    <c:showDLblsOverMax val="1"/>
  </c:chart>
  <c:spPr>
    <a:solidFill>
      <a:srgbClr val="FFFFFF"/>
    </a:solidFill>
    <a:ln w="0">
      <a:solidFill>
        <a:srgbClr val="FFFFFF"/>
      </a:solid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v>2025 estimate</c:v>
          </c:tx>
          <c:spPr>
            <a:solidFill>
              <a:srgbClr val="92A3B8"/>
            </a:solidFill>
          </c:spPr>
          <c:invertIfNegative val="1"/>
          <c:dLbls>
            <c:spPr>
              <a:noFill/>
              <a:ln>
                <a:noFill/>
              </a:ln>
              <a:effectLst/>
            </c:spPr>
            <c:txPr>
              <a:bodyPr anchorCtr="1"/>
              <a:lstStyle/>
              <a:p>
                <a:pPr>
                  <a:defRPr sz="975" b="1">
                    <a:solidFill>
                      <a:srgbClr val="334155"/>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1"/>
              <c:pt idx="0">
                <c:v>Worldwide</c:v>
              </c:pt>
            </c:strLit>
          </c:cat>
          <c:val>
            <c:numLit>
              <c:formatCode>0.0"T"</c:formatCode>
              <c:ptCount val="1"/>
              <c:pt idx="0">
                <c:v>24.1</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1D3-4A2D-B92C-57FCC9EA50B4}"/>
            </c:ext>
          </c:extLst>
        </c:ser>
        <c:ser>
          <c:idx val="1"/>
          <c:order val="1"/>
          <c:tx>
            <c:v>2029 calculated</c:v>
          </c:tx>
          <c:spPr>
            <a:solidFill>
              <a:srgbClr val="2474FF"/>
            </a:solidFill>
          </c:spPr>
          <c:invertIfNegative val="1"/>
          <c:dLbls>
            <c:spPr>
              <a:noFill/>
              <a:ln>
                <a:noFill/>
              </a:ln>
              <a:effectLst/>
            </c:spPr>
            <c:txPr>
              <a:bodyPr anchorCtr="1"/>
              <a:lstStyle/>
              <a:p>
                <a:pPr>
                  <a:defRPr sz="975" b="1">
                    <a:solidFill>
                      <a:srgbClr val="334155"/>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1"/>
              <c:pt idx="0">
                <c:v>Worldwide</c:v>
              </c:pt>
            </c:strLit>
          </c:cat>
          <c:val>
            <c:numLit>
              <c:formatCode>0.0"T"</c:formatCode>
              <c:ptCount val="1"/>
              <c:pt idx="0">
                <c:v>49.5</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41D3-4A2D-B92C-57FCC9EA50B4}"/>
            </c:ext>
          </c:extLst>
        </c:ser>
        <c:ser>
          <c:idx val="2"/>
          <c:order val="2"/>
          <c:tx>
            <c:v>2033 forecast</c:v>
          </c:tx>
          <c:spPr>
            <a:solidFill>
              <a:srgbClr val="0B3A82"/>
            </a:solidFill>
          </c:spPr>
          <c:invertIfNegative val="1"/>
          <c:dLbls>
            <c:spPr>
              <a:noFill/>
              <a:ln>
                <a:noFill/>
              </a:ln>
              <a:effectLst/>
            </c:spPr>
            <c:txPr>
              <a:bodyPr anchorCtr="1"/>
              <a:lstStyle/>
              <a:p>
                <a:pPr>
                  <a:defRPr sz="975" b="1">
                    <a:solidFill>
                      <a:srgbClr val="334155"/>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1"/>
              <c:pt idx="0">
                <c:v>Worldwide</c:v>
              </c:pt>
            </c:strLit>
          </c:cat>
          <c:val>
            <c:numLit>
              <c:formatCode>0.0"T"</c:formatCode>
              <c:ptCount val="1"/>
              <c:pt idx="0">
                <c:v>105.9</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41D3-4A2D-B92C-57FCC9EA50B4}"/>
            </c:ext>
          </c:extLst>
        </c:ser>
        <c:dLbls>
          <c:dLblPos val="outEnd"/>
          <c:showLegendKey val="0"/>
          <c:showVal val="1"/>
          <c:showCatName val="0"/>
          <c:showSerName val="0"/>
          <c:showPercent val="0"/>
          <c:showBubbleSize val="0"/>
        </c:dLbls>
        <c:gapWidth val="80"/>
        <c:axId val="48650112"/>
        <c:axId val="48672768"/>
      </c:barChart>
      <c:catAx>
        <c:axId val="48650112"/>
        <c:scaling>
          <c:orientation val="minMax"/>
        </c:scaling>
        <c:delete val="0"/>
        <c:axPos val="b"/>
        <c:majorGridlines>
          <c:spPr>
            <a:ln w="9525">
              <a:solidFill>
                <a:srgbClr val="E7EBF0"/>
              </a:solidFill>
              <a:prstDash val="solid"/>
            </a:ln>
          </c:spPr>
        </c:majorGridlines>
        <c:numFmt formatCode="General" sourceLinked="1"/>
        <c:majorTickMark val="none"/>
        <c:minorTickMark val="none"/>
        <c:tickLblPos val="nextTo"/>
        <c:spPr>
          <a:ln w="0">
            <a:solidFill>
              <a:srgbClr val="FFFFFF"/>
            </a:solidFill>
            <a:prstDash val="solid"/>
          </a:ln>
        </c:spPr>
        <c:txPr>
          <a:bodyPr anchorCtr="1"/>
          <a:lstStyle/>
          <a:p>
            <a:pPr>
              <a:defRPr sz="825">
                <a:solidFill>
                  <a:srgbClr val="64748B"/>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l"/>
        <c:numFmt formatCode="0.0&quot;T&quot;" sourceLinked="1"/>
        <c:majorTickMark val="none"/>
        <c:minorTickMark val="none"/>
        <c:tickLblPos val="nextTo"/>
        <c:spPr>
          <a:ln w="0">
            <a:solidFill>
              <a:srgbClr val="FFFFFF"/>
            </a:solidFill>
            <a:prstDash val="solid"/>
          </a:ln>
        </c:spPr>
        <c:txPr>
          <a:bodyPr anchorCtr="1"/>
          <a:lstStyle/>
          <a:p>
            <a:pPr>
              <a:defRPr sz="975" b="1">
                <a:solidFill>
                  <a:srgbClr val="0F172A"/>
                </a:solidFill>
                <a:latin typeface="Arial"/>
                <a:ea typeface="Arial"/>
                <a:cs typeface="Arial"/>
              </a:defRPr>
            </a:pPr>
            <a:endParaRPr lang="en-US"/>
          </a:p>
        </c:txPr>
        <c:crossAx val="48650112"/>
        <c:crosses val="autoZero"/>
        <c:crossBetween val="between"/>
      </c:valAx>
      <c:spPr>
        <a:noFill/>
        <a:ln w="0">
          <a:solidFill>
            <a:srgbClr val="FFFFFF"/>
          </a:solidFill>
          <a:prstDash val="solid"/>
        </a:ln>
      </c:spPr>
    </c:plotArea>
    <c:legend>
      <c:legendPos val="b"/>
      <c:overlay val="0"/>
      <c:txPr>
        <a:bodyPr anchorCtr="1"/>
        <a:lstStyle/>
        <a:p>
          <a:pPr>
            <a:defRPr sz="975">
              <a:solidFill>
                <a:srgbClr val="334155"/>
              </a:solidFill>
              <a:latin typeface="Arial"/>
              <a:ea typeface="Arial"/>
              <a:cs typeface="Arial"/>
            </a:defRPr>
          </a:pPr>
          <a:endParaRPr lang="en-US"/>
        </a:p>
      </c:txPr>
    </c:legend>
    <c:plotVisOnly val="1"/>
    <c:dispBlanksAs val="zero"/>
    <c:showDLblsOverMax val="1"/>
  </c:chart>
  <c:spPr>
    <a:solidFill>
      <a:srgbClr val="FFFFFF"/>
    </a:solidFill>
    <a:ln w="0">
      <a:solidFill>
        <a:srgbClr val="FFFFFF"/>
      </a:solidFill>
      <a:prstDash val="solid"/>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v>Global</c:v>
          </c:tx>
          <c:spPr>
            <a:solidFill>
              <a:srgbClr val="246BFD"/>
            </a:solidFill>
          </c:spPr>
          <c:invertIfNegative val="1"/>
          <c:dLbls>
            <c:spPr>
              <a:noFill/>
              <a:ln>
                <a:noFill/>
              </a:ln>
              <a:effectLst/>
            </c:spPr>
            <c:txPr>
              <a:bodyPr anchorCtr="1"/>
              <a:lstStyle/>
              <a:p>
                <a:pPr>
                  <a:defRPr sz="1050" b="1">
                    <a:solidFill>
                      <a:srgbClr val="0B1220"/>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Search engines</c:v>
              </c:pt>
              <c:pt idx="1">
                <c:v>Social networks</c:v>
              </c:pt>
              <c:pt idx="2">
                <c:v>Consumer reviews</c:v>
              </c:pt>
              <c:pt idx="3">
                <c:v>Brand / product sites</c:v>
              </c:pt>
              <c:pt idx="4">
                <c:v>Mobile apps</c:v>
              </c:pt>
              <c:pt idx="5">
                <c:v>Price comparison</c:v>
              </c:pt>
              <c:pt idx="6">
                <c:v>Video sites</c:v>
              </c:pt>
            </c:strLit>
          </c:cat>
          <c:val>
            <c:numLit>
              <c:formatCode>0.0"%"</c:formatCode>
              <c:ptCount val="7"/>
              <c:pt idx="0">
                <c:v>51</c:v>
              </c:pt>
              <c:pt idx="1">
                <c:v>46.1</c:v>
              </c:pt>
              <c:pt idx="2">
                <c:v>37.700000000000003</c:v>
              </c:pt>
              <c:pt idx="3">
                <c:v>33.6</c:v>
              </c:pt>
              <c:pt idx="4">
                <c:v>29.2</c:v>
              </c:pt>
              <c:pt idx="5">
                <c:v>25.7</c:v>
              </c:pt>
              <c:pt idx="6">
                <c:v>22.1</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FC0-4674-A181-89D386DD5386}"/>
            </c:ext>
          </c:extLst>
        </c:ser>
        <c:dLbls>
          <c:dLblPos val="outEnd"/>
          <c:showLegendKey val="0"/>
          <c:showVal val="1"/>
          <c:showCatName val="0"/>
          <c:showSerName val="0"/>
          <c:showPercent val="0"/>
          <c:showBubbleSize val="0"/>
        </c:dLbls>
        <c:gapWidth val="40"/>
        <c:axId val="48650112"/>
        <c:axId val="48672768"/>
      </c:barChart>
      <c:catAx>
        <c:axId val="48650112"/>
        <c:scaling>
          <c:orientation val="minMax"/>
        </c:scaling>
        <c:delete val="0"/>
        <c:axPos val="l"/>
        <c:majorGridlines>
          <c:spPr>
            <a:ln w="9525">
              <a:solidFill>
                <a:srgbClr val="EEF1F4"/>
              </a:solidFill>
              <a:prstDash val="solid"/>
            </a:ln>
          </c:spPr>
        </c:majorGridlines>
        <c:numFmt formatCode="General" sourceLinked="1"/>
        <c:majorTickMark val="none"/>
        <c:minorTickMark val="none"/>
        <c:tickLblPos val="nextTo"/>
        <c:spPr>
          <a:ln w="9525">
            <a:solidFill>
              <a:srgbClr val="C9CED6"/>
            </a:solidFill>
            <a:prstDash val="solid"/>
          </a:ln>
        </c:spPr>
        <c:txPr>
          <a:bodyPr anchorCtr="1"/>
          <a:lstStyle/>
          <a:p>
            <a:pPr>
              <a:defRPr sz="1050">
                <a:solidFill>
                  <a:srgbClr val="5E6878"/>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60"/>
          <c:min val="0"/>
        </c:scaling>
        <c:delete val="0"/>
        <c:axPos val="b"/>
        <c:majorGridlines>
          <c:spPr>
            <a:ln w="9525">
              <a:solidFill>
                <a:srgbClr val="EEF1F4"/>
              </a:solidFill>
              <a:prstDash val="solid"/>
            </a:ln>
          </c:spPr>
        </c:majorGridlines>
        <c:numFmt formatCode="0.0&quot;%&quot;" sourceLinked="1"/>
        <c:majorTickMark val="none"/>
        <c:minorTickMark val="none"/>
        <c:tickLblPos val="nextTo"/>
        <c:spPr>
          <a:ln w="9525">
            <a:solidFill>
              <a:srgbClr val="C9CED6"/>
            </a:solidFill>
            <a:prstDash val="solid"/>
          </a:ln>
        </c:spPr>
        <c:txPr>
          <a:bodyPr anchorCtr="1"/>
          <a:lstStyle/>
          <a:p>
            <a:pPr>
              <a:defRPr sz="1050">
                <a:solidFill>
                  <a:srgbClr val="5E6878"/>
                </a:solidFill>
                <a:latin typeface="Arial"/>
                <a:ea typeface="Arial"/>
                <a:cs typeface="Arial"/>
              </a:defRPr>
            </a:pPr>
            <a:endParaRPr lang="en-US"/>
          </a:p>
        </c:txPr>
        <c:crossAx val="48650112"/>
        <c:crosses val="autoZero"/>
        <c:crossBetween val="between"/>
        <c:majorUnit val="10"/>
      </c:valAx>
      <c:spPr>
        <a:no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v>Selected markets</c:v>
          </c:tx>
          <c:spPr>
            <a:solidFill>
              <a:srgbClr val="14A7A0"/>
            </a:solidFill>
          </c:spPr>
          <c:invertIfNegative val="1"/>
          <c:dLbls>
            <c:spPr>
              <a:noFill/>
              <a:ln>
                <a:noFill/>
              </a:ln>
              <a:effectLst/>
            </c:spPr>
            <c:txPr>
              <a:bodyPr anchorCtr="1"/>
              <a:lstStyle/>
              <a:p>
                <a:pPr>
                  <a:defRPr sz="1050" b="1">
                    <a:solidFill>
                      <a:srgbClr val="0B1220"/>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Germany</c:v>
              </c:pt>
              <c:pt idx="1">
                <c:v>United States</c:v>
              </c:pt>
              <c:pt idx="2">
                <c:v>France</c:v>
              </c:pt>
              <c:pt idx="3">
                <c:v>Canada</c:v>
              </c:pt>
              <c:pt idx="4">
                <c:v>United Kingdom</c:v>
              </c:pt>
              <c:pt idx="5">
                <c:v>Japan</c:v>
              </c:pt>
              <c:pt idx="6">
                <c:v>South Korea</c:v>
              </c:pt>
            </c:strLit>
          </c:cat>
          <c:val>
            <c:numLit>
              <c:formatCode>0.0"%"</c:formatCode>
              <c:ptCount val="7"/>
              <c:pt idx="0">
                <c:v>33.4</c:v>
              </c:pt>
              <c:pt idx="1">
                <c:v>32.299999999999997</c:v>
              </c:pt>
              <c:pt idx="2">
                <c:v>32.1</c:v>
              </c:pt>
              <c:pt idx="3">
                <c:v>30.6</c:v>
              </c:pt>
              <c:pt idx="4">
                <c:v>26.6</c:v>
              </c:pt>
              <c:pt idx="5">
                <c:v>24.1</c:v>
              </c:pt>
              <c:pt idx="6">
                <c:v>22.1</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367D-4100-B3A1-E4E99C54BD62}"/>
            </c:ext>
          </c:extLst>
        </c:ser>
        <c:dLbls>
          <c:dLblPos val="outEnd"/>
          <c:showLegendKey val="0"/>
          <c:showVal val="1"/>
          <c:showCatName val="0"/>
          <c:showSerName val="0"/>
          <c:showPercent val="0"/>
          <c:showBubbleSize val="0"/>
        </c:dLbls>
        <c:gapWidth val="40"/>
        <c:axId val="48650112"/>
        <c:axId val="48672768"/>
      </c:barChart>
      <c:catAx>
        <c:axId val="48650112"/>
        <c:scaling>
          <c:orientation val="minMax"/>
        </c:scaling>
        <c:delete val="0"/>
        <c:axPos val="l"/>
        <c:majorGridlines>
          <c:spPr>
            <a:ln w="9525">
              <a:solidFill>
                <a:srgbClr val="EEF1F4"/>
              </a:solidFill>
              <a:prstDash val="solid"/>
            </a:ln>
          </c:spPr>
        </c:majorGridlines>
        <c:numFmt formatCode="General" sourceLinked="1"/>
        <c:majorTickMark val="none"/>
        <c:minorTickMark val="none"/>
        <c:tickLblPos val="nextTo"/>
        <c:spPr>
          <a:ln w="9525">
            <a:solidFill>
              <a:srgbClr val="C9CED6"/>
            </a:solidFill>
            <a:prstDash val="solid"/>
          </a:ln>
        </c:spPr>
        <c:txPr>
          <a:bodyPr anchorCtr="1"/>
          <a:lstStyle/>
          <a:p>
            <a:pPr>
              <a:defRPr sz="1050">
                <a:solidFill>
                  <a:srgbClr val="5E6878"/>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40"/>
          <c:min val="0"/>
        </c:scaling>
        <c:delete val="0"/>
        <c:axPos val="b"/>
        <c:majorGridlines>
          <c:spPr>
            <a:ln w="9525">
              <a:solidFill>
                <a:srgbClr val="EEF1F4"/>
              </a:solidFill>
              <a:prstDash val="solid"/>
            </a:ln>
          </c:spPr>
        </c:majorGridlines>
        <c:numFmt formatCode="0.0&quot;%&quot;" sourceLinked="1"/>
        <c:majorTickMark val="none"/>
        <c:minorTickMark val="none"/>
        <c:tickLblPos val="nextTo"/>
        <c:spPr>
          <a:ln w="9525">
            <a:solidFill>
              <a:srgbClr val="C9CED6"/>
            </a:solidFill>
            <a:prstDash val="solid"/>
          </a:ln>
        </c:spPr>
        <c:txPr>
          <a:bodyPr anchorCtr="1"/>
          <a:lstStyle/>
          <a:p>
            <a:pPr>
              <a:defRPr sz="1050">
                <a:solidFill>
                  <a:srgbClr val="5E6878"/>
                </a:solidFill>
                <a:latin typeface="Arial"/>
                <a:ea typeface="Arial"/>
                <a:cs typeface="Arial"/>
              </a:defRPr>
            </a:pPr>
            <a:endParaRPr lang="en-US"/>
          </a:p>
        </c:txPr>
        <c:crossAx val="48650112"/>
        <c:crosses val="autoZero"/>
        <c:crossBetween val="between"/>
        <c:majorUnit val="10"/>
      </c:valAx>
      <c:spPr>
        <a:no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v>AOV index</c:v>
          </c:tx>
          <c:spPr>
            <a:solidFill>
              <a:srgbClr val="3D8DFF"/>
            </a:solidFill>
          </c:spPr>
          <c:invertIfNegative val="1"/>
          <c:dPt>
            <c:idx val="0"/>
            <c:invertIfNegative val="0"/>
            <c:bubble3D val="0"/>
            <c:spPr>
              <a:solidFill>
                <a:srgbClr val="C9CED3"/>
              </a:solidFill>
            </c:spPr>
            <c:extLst>
              <c:ext xmlns:c16="http://schemas.microsoft.com/office/drawing/2014/chart" uri="{C3380CC4-5D6E-409C-BE32-E72D297353CC}">
                <c16:uniqueId val="{00000001-D77E-49DC-B3A9-D305F3A7C75E}"/>
              </c:ext>
            </c:extLst>
          </c:dPt>
          <c:dPt>
            <c:idx val="1"/>
            <c:invertIfNegative val="0"/>
            <c:bubble3D val="0"/>
            <c:spPr>
              <a:solidFill>
                <a:srgbClr val="6DCBF4"/>
              </a:solidFill>
            </c:spPr>
            <c:extLst>
              <c:ext xmlns:c16="http://schemas.microsoft.com/office/drawing/2014/chart" uri="{C3380CC4-5D6E-409C-BE32-E72D297353CC}">
                <c16:uniqueId val="{00000003-D77E-49DC-B3A9-D305F3A7C75E}"/>
              </c:ext>
            </c:extLst>
          </c:dPt>
          <c:dLbls>
            <c:spPr>
              <a:noFill/>
              <a:ln>
                <a:noFill/>
              </a:ln>
            </c:spPr>
            <c:txPr>
              <a:bodyPr anchorCtr="1"/>
              <a:lstStyle/>
              <a:p>
                <a:pPr>
                  <a:defRPr sz="1350" b="1">
                    <a:solidFill>
                      <a:srgbClr val="101820"/>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Baseline</c:v>
              </c:pt>
              <c:pt idx="1">
                <c:v>Conversational search</c:v>
              </c:pt>
              <c:pt idx="2">
                <c:v>Comprehensive assistant</c:v>
              </c:pt>
            </c:strLit>
          </c:cat>
          <c:val>
            <c:numLit>
              <c:formatCode>General</c:formatCode>
              <c:ptCount val="3"/>
              <c:pt idx="0">
                <c:v>100</c:v>
              </c:pt>
              <c:pt idx="1">
                <c:v>110</c:v>
              </c:pt>
              <c:pt idx="2">
                <c:v>126</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D77E-49DC-B3A9-D305F3A7C75E}"/>
            </c:ext>
          </c:extLst>
        </c:ser>
        <c:dLbls>
          <c:dLblPos val="outEnd"/>
          <c:showLegendKey val="0"/>
          <c:showVal val="1"/>
          <c:showCatName val="0"/>
          <c:showSerName val="0"/>
          <c:showPercent val="0"/>
          <c:showBubbleSize val="0"/>
        </c:dLbls>
        <c:gapWidth val="8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C9CED3"/>
            </a:solidFill>
            <a:prstDash val="solid"/>
          </a:ln>
        </c:spPr>
        <c:txPr>
          <a:bodyPr anchorCtr="1"/>
          <a:lstStyle/>
          <a:p>
            <a:pPr>
              <a:defRPr sz="1125">
                <a:solidFill>
                  <a:srgbClr val="5E6973"/>
                </a:solidFill>
              </a:defRPr>
            </a:pPr>
            <a:endParaRPr lang="en-US"/>
          </a:p>
        </c:txPr>
        <c:crossAx val="48672768"/>
        <c:crosses val="autoZero"/>
        <c:auto val="1"/>
        <c:lblAlgn val="ctr"/>
        <c:lblOffset val="100"/>
        <c:noMultiLvlLbl val="1"/>
      </c:catAx>
      <c:valAx>
        <c:axId val="48672768"/>
        <c:scaling>
          <c:orientation val="minMax"/>
          <c:max val="140"/>
          <c:min val="0"/>
        </c:scaling>
        <c:delete val="0"/>
        <c:axPos val="l"/>
        <c:majorGridlines>
          <c:spPr>
            <a:ln w="9525">
              <a:solidFill>
                <a:srgbClr val="F1F3F4"/>
              </a:solidFill>
              <a:prstDash val="solid"/>
            </a:ln>
          </c:spPr>
        </c:majorGridlines>
        <c:numFmt formatCode="General" sourceLinked="1"/>
        <c:majorTickMark val="none"/>
        <c:minorTickMark val="none"/>
        <c:tickLblPos val="nextTo"/>
        <c:spPr>
          <a:ln w="0">
            <a:solidFill>
              <a:srgbClr val="FFFFFF"/>
            </a:solidFill>
            <a:prstDash val="solid"/>
          </a:ln>
        </c:spPr>
        <c:txPr>
          <a:bodyPr anchorCtr="1"/>
          <a:lstStyle/>
          <a:p>
            <a:pPr>
              <a:defRPr sz="1050">
                <a:solidFill>
                  <a:srgbClr val="5E6973"/>
                </a:solidFill>
              </a:defRPr>
            </a:pPr>
            <a:endParaRPr lang="en-US"/>
          </a:p>
        </c:txPr>
        <c:crossAx val="48650112"/>
        <c:crosses val="autoZero"/>
        <c:crossBetween val="between"/>
        <c:majorUnit val="20"/>
      </c:valAx>
      <c:spPr>
        <a:no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028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0:45</a:t>
            </a:r>
          </a:p>
          <a:p>
            <a:endParaRPr lang="en-US"/>
          </a:p>
          <a:p>
            <a:r>
              <a:rPr lang="en-US"/>
              <a:t>Hi, I'm Bob Vuppal from GS1 Canada. Yesterday, we heard how new protocols can support agentic systems. Today, I want to focus on the human side: what motivates people and how agentic systems can harness those motivations to deliver better outcomes.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the big question is: Will agentic shopping increase sales and change buying patterns? Historically, technology has facilitated existing human shopping patterns; it has not changed their underlying causes.</a:t>
            </a:r>
          </a:p>
          <a:p>
            <a:endParaRPr lang="en-US"/>
          </a:p>
          <a:p>
            <a:r>
              <a:rPr lang="en-US"/>
              <a:t>Consider how technological advances in steamships, trains, and planes merely refined existing travel patterns. Each shift made travel faster; it did not change why humans travel.</a:t>
            </a:r>
          </a:p>
          <a:p>
            <a:endParaRPr lang="en-US"/>
          </a:p>
          <a:p>
            <a:r>
              <a:rPr lang="en-US"/>
              <a:t>Agentic travel assistants respond to the same human desire to travel for immigration, leisure, or discovery. Travel has increased largely because of economics: a greater share of the population can afford it, while shorter travel times reduce both the economic burden on travellers and the health risks for an aging population. Agents currently facilitate only destination, price, and timing.</a:t>
            </a:r>
          </a:p>
          <a:p>
            <a:endParaRPr lang="en-US"/>
          </a:p>
          <a:p>
            <a:r>
              <a:rPr lang="en-US"/>
              <a:t>These are three key motivators for agentic shopping, yet they do not address age-related motivation, which could be a powerful tool for increasing travel globally as the population ages. People still create programs, agendas, and transportation options, while negative publicity can affect purchasing. The point is that whatever AI systems use, success will depend on understanding why people buy and demonstrating that delegating decisions to AI is safe, explainable, and reversible.</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361B9-4BD9-A2C5-8219-DE718E13E4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457407-A3FD-2F75-B5D1-A4BF8C839B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3EFD9D-4925-4E3E-4B57-C4E23263237F}"/>
              </a:ext>
            </a:extLst>
          </p:cNvPr>
          <p:cNvSpPr>
            <a:spLocks noGrp="1"/>
          </p:cNvSpPr>
          <p:nvPr>
            <p:ph type="body" idx="1"/>
          </p:nvPr>
        </p:nvSpPr>
        <p:spPr/>
        <p:txBody>
          <a:bodyPr/>
          <a:lstStyle/>
          <a:p>
            <a:r>
              <a:rPr lang="en-US"/>
              <a:t>So why do humans buy? People do not buy because of enabling mechanisms such as product evidence or payment networks. They buy to save time, solve a problem, be noticed, feel connected, and improve their own well-being and that of their families. Regarding the first two motivations, agentic systems can clearly help identify alternatives through statistical analysis, although their ability to account for individual preferences will remain limited unless more personal metadata is available.</a:t>
            </a:r>
          </a:p>
          <a:p>
            <a:endParaRPr lang="en-US"/>
          </a:p>
          <a:p>
            <a:r>
              <a:rPr lang="en-US"/>
              <a:t>The last three buying factors could be consequential—and a net positive—for agentic commerce. Helping individuals stand out may require access to personal preferences, employment information, and social-context data that AI may not have or may be restricted from acquiring under privacy laws. This is a fundamental challenge for AI.</a:t>
            </a:r>
          </a:p>
          <a:p>
            <a:endParaRPr lang="en-US"/>
          </a:p>
          <a:p>
            <a:r>
              <a:rPr lang="en-US"/>
              <a:t>AI has no inherent ethical compass. In extreme cases, AI-generated information has been used to facilitate serious harm.</a:t>
            </a:r>
          </a:p>
          <a:p>
            <a:endParaRPr lang="en-US"/>
          </a:p>
          <a:p>
            <a:r>
              <a:rPr lang="en-US"/>
              <a:t>The point is that we need new protocols and new layers. We need a moral protocol—one that an independent agency can validate. Emotional factors influence a significant share of purchasing decisions.</a:t>
            </a:r>
          </a:p>
          <a:p>
            <a:endParaRPr lang="en-US"/>
          </a:p>
          <a:p>
            <a:r>
              <a:rPr lang="en-US"/>
              <a:t>We know emotions can be used statistically to influence large populations, as seen in election messaging. However, engaging individuals requires information that AI cannot access—or is not permitted to access—in Western jurisdictions. In countries with broader social-data programs, larger pools of personal data may be available.</a:t>
            </a:r>
          </a:p>
          <a:p>
            <a:endParaRPr lang="en-US"/>
          </a:p>
          <a:p>
            <a:r>
              <a:rPr lang="en-US"/>
              <a:t>In the West, however, e-commerce trends that attempt to bridge the emotional gap—for example, in fashion—often lead to higher return rates. If businesses do not consider health and other emotional factors, costs rise. One example is the impact of GLP-1 medications on return rates.</a:t>
            </a:r>
          </a:p>
          <a:p>
            <a:endParaRPr lang="en-US"/>
          </a:p>
          <a:p>
            <a:r>
              <a:rPr lang="en-US"/>
              <a:t>People may buy multiple styles—or as many as five items in different sizes—to meet the emotional and physical needs associated with losing weight and looking good. AI may identify the style, but it may not account for how weight loss affects buying decisions and business outcomes. AI also increasingly engages with deeply personal topics. These interactions may seem harmless, yet they can open a Pandora's box of mental-health concerns—an area where human oversight is essential.</a:t>
            </a:r>
          </a:p>
          <a:p>
            <a:endParaRPr lang="en-US"/>
          </a:p>
          <a:p>
            <a:r>
              <a:rPr lang="en-US"/>
              <a:t>The third aspect is buying to improve one's health, or health-related shopping. AI can appear helpful by suggesting food alternatives or reviewing radiology results. However, the best outcomes occur when recommendations come from a qualified healthcare professional, and AI aligns with that professional's guidance. Without professional oversight, AI can create significant risks—especially when pseudoscience is incorporated into health decisions.</a:t>
            </a:r>
          </a:p>
          <a:p>
            <a:endParaRPr lang="en-US"/>
          </a:p>
          <a:p>
            <a:r>
              <a:rPr lang="en-US"/>
              <a:t>Today, hundreds of millions of people globally ask health- and wellness-related questions through chat services each week. This creates risks for both users and the companies providing the advice, including mental-health concerns and long-term legal consequences. Yet these three factors are significant and must be addressed to unlock and support responsible human–AI interaction.</a:t>
            </a:r>
          </a:p>
        </p:txBody>
      </p:sp>
      <p:sp>
        <p:nvSpPr>
          <p:cNvPr id="4" name="Slide Number Placeholder 3">
            <a:extLst>
              <a:ext uri="{FF2B5EF4-FFF2-40B4-BE49-F238E27FC236}">
                <a16:creationId xmlns:a16="http://schemas.microsoft.com/office/drawing/2014/main" id="{E19AB6F2-B11A-AD00-1CA8-67F2F6BA014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96262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need additional protocols—such as AI marketing and MarCom layers—that integrate product development, product imaging, and segment-specific messaging. COVID-era highs only began to touch this potential. To surpass them, we need protocols and AI guardrails that address human emotions through research and a clearer understanding of how AI markets products to people of all ages. For example, how should age ratings be managed?</a:t>
            </a:r>
          </a:p>
          <a:p>
            <a:endParaRPr lang="en-US"/>
          </a:p>
          <a:p>
            <a:r>
              <a:rPr lang="en-US"/>
              <a:t>What is appropriate for an adult may not be appropriate for a child, including certain clothing, age-restricted content, or other products. A protocol could use simple ratings—for example, G for general audiences and PG for parental guidance.</a:t>
            </a:r>
          </a:p>
          <a:p>
            <a:endParaRPr lang="en-US"/>
          </a:p>
          <a:p>
            <a:r>
              <a:rPr lang="en-US"/>
              <a:t>These designators can be included in product information, allowing us to simplify AI offerings and AI interfaces with computers on which parents set the parameters, while also helping address future legal concerns that AI companies and image provision companies may face. To achieve and surpass COVID-era highs, we need to make these changes, as human interaction is why research and in-store shopping remain the go-to options in the U.S. and Europe. People still want human interactions.</a:t>
            </a:r>
          </a:p>
          <a:p>
            <a:endParaRPr lang="en-US"/>
          </a:p>
          <a:p>
            <a:r>
              <a:rPr lang="en-US"/>
              <a:t>AI therefore needs protocols that facilitate questions such as, “Have you asked your friends?” or “What do they think?” This can create a virtuous circle—human–AI–human–AI interaction—that drives adoption and strengthens social connection. Yet the most impactful and profitable path for the trillions invested in AI is to make B2B commerce viable through agentic commerce.</a:t>
            </a:r>
          </a:p>
          <a:p>
            <a:endParaRPr lang="en-US"/>
          </a:p>
          <a:p>
            <a:r>
              <a:rPr lang="en-US"/>
              <a:t>[Sources]</a:t>
            </a:r>
          </a:p>
          <a:p>
            <a:r>
              <a:rPr lang="en-US"/>
              <a:t>EMARKETER, ‘Ecommerce continues to grow its share of total retail, though progress is slow’ (Apr. 15, 2025): https://www.emarketer.com/content/ecommerce-continues-grow-its-share-of-total-retail--though-progress-slow</a:t>
            </a:r>
          </a:p>
          <a:p>
            <a:r>
              <a:rPr lang="en-US"/>
              <a:t>EMARKETER, ‘Ecommerce to account for more than 20% of worldwide retail sales despite slowdown’ (May 22, 2025): https://www.emarketer.com/content/ecommerce-account-more-than-20--of-worldwide-retail-sales-despite-slowdown</a:t>
            </a:r>
          </a:p>
          <a:p>
            <a:r>
              <a:rPr lang="en-US"/>
              <a:t>EMARKETER, ‘Canada Ecommerce Forecast 2025’ (Jul. 29, 2025): https://www.emarketer.com/content/canada-ecommerce-forecast-2025</a:t>
            </a:r>
          </a:p>
          <a:p>
            <a:r>
              <a:rPr lang="en-US"/>
              <a:t>US Census Bureau, Quarterly Retail E-Commerce Sales, Q1 2026: https://www.census.gov/retail/ecommerce.html</a:t>
            </a:r>
          </a:p>
          <a:p>
            <a:r>
              <a:rPr lang="en-US"/>
              <a:t>Shopify summary of EMARKETER worldwide forecast (2025–2028): https://www.shopify.com/id/blog/global-eCommerce-sales</a:t>
            </a:r>
          </a:p>
          <a:p>
            <a:r>
              <a:rPr lang="en-US"/>
              <a:t>EMARKETER, China 2021 ecommerce share forecast (52.1%): https://www.emarketer.com/content/global-historic-first-ecommerce-china-will-account-more-than-50-of-retail-sales</a:t>
            </a:r>
          </a:p>
          <a:p>
            <a:r>
              <a:rPr lang="en-US"/>
              <a:t>EMARKETER, 2022 country penetration: China 46.3%, UK 36.3%, South Korea 32.2%: https://www.emarketer.com/content/countries-retail-ecommerce</a:t>
            </a:r>
          </a:p>
          <a:p>
            <a:r>
              <a:rPr lang="en-US"/>
              <a:t>UNCTAD, global online retail share increased to 19% in 2020 and remained elevated: https://unctad.org/news/global-e-commerce-jumps-267-trillion-covid-19-boosts-online-sales</a:t>
            </a:r>
          </a:p>
          <a:p>
            <a:r>
              <a:rPr lang="en-US"/>
              <a:t>US Census / Marketplace Pulse, US quarterly lockdown peak of 16.3% in Q2 2020: https://www.marketplacepulse.com/articles/e-commerce-finally-returns-to-its-covid-peak</a:t>
            </a:r>
          </a:p>
          <a:p>
            <a:r>
              <a:rPr lang="en-US"/>
              <a:t>Canada 2020 ecommerce share of total retail sales (12.7%): https://pmc.ncbi.nlm.nih.gov/articles/PMC9379614/</a:t>
            </a:r>
          </a:p>
          <a:p>
            <a:r>
              <a:rPr lang="en-US"/>
              <a:t>Indonesia COVID-era high shown as a directional 15.0% estimate because no definitionally comparable public annual series was located; available sources place 2020 penetration below 10% and show rapid expansion through 2022.</a:t>
            </a:r>
          </a:p>
          <a:p>
            <a:r>
              <a:rPr lang="en-US"/>
              <a:t>2029 projection values other than the US are the author’s directional deductions based on published 2025 penetration, market-growth outlooks and endpoint trends; they are not a single-source forecast.</a:t>
            </a:r>
          </a:p>
          <a:p>
            <a:r>
              <a:rPr lang="en-US"/>
              <a:t>Rest-of-world values are calculated as global totals less China, US, UK, South Korea, Indonesia and Canada. Residual penetration equals residual ecommerce divided by residual total retail.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AI is 80 to 85% B2B and 15 to 20% B2C today. We're covering B2C here, and they have similar buying needs. Human buyers are affected by similar factors: they want to reduce procurement time across categories, solve problems such as cost or availability with an existing provider, stand out as suppliers as buying teams consider politics and preferences, and ensure supplier quality similar to health and B2C.</a:t>
            </a:r>
          </a:p>
          <a:p>
            <a:endParaRPr lang="en-US"/>
          </a:p>
          <a:p>
            <a:r>
              <a:rPr lang="en-US"/>
              <a:t>In B2B, however, these factors are not effectively addressed, although B2B will enable AI investments to work truly. We currently have no imaging standards to address B2B procurement requirements. For example, there is no repository of business equipment, construction, architectural work, or quality.</a:t>
            </a:r>
          </a:p>
          <a:p>
            <a:endParaRPr lang="en-US"/>
          </a:p>
          <a:p>
            <a:r>
              <a:rPr lang="en-US"/>
              <a:t>To solve this problem, AI will need increased access to data from engineering, transportation, and logistics companies, and integration with software like Ariba and Jaggaer, but with incremental layers. To save time, AI can certainly do some of this via agentic parameters and standard purchases. For the last three most important B2B buying factors, however, there's no current way to address them, and these protocols fall short beyond searching images and matching them to a buyer's preferences.</a:t>
            </a:r>
          </a:p>
          <a:p>
            <a:endParaRPr lang="en-US"/>
          </a:p>
          <a:p>
            <a:r>
              <a:rPr lang="en-US"/>
              <a:t>Standing out similarly requires access to company profiles and information about needs that AI—and platforms such as LinkedIn—may not have. Quality is another area AI cannot adequately assess today. Supplier scorecards could improve B2B AI efficiency. These factors matter because procurement and related decisions enable every company.</a:t>
            </a:r>
          </a:p>
          <a:p>
            <a:endParaRPr lang="en-US"/>
          </a:p>
          <a:p>
            <a:r>
              <a:rPr dirty="0"/>
              <a:t>[Sources]</a:t>
            </a:r>
          </a:p>
          <a:p>
            <a:r>
              <a:rPr dirty="0"/>
              <a:t>Grand View Research, Business-to-Business E-commerce Market Report 2026–2033: https://www.grandviewresearch.com/industry-analysis/business-to-business-b2b-e-commerce-market</a:t>
            </a:r>
          </a:p>
          <a:p>
            <a:r>
              <a:rPr dirty="0"/>
              <a:t>GVR estimates the market at USD 24.1T in 2025, USD 28.0T in 2026 and USD 105.9T in 2033, a 20.9% CAGR for 2026–33.</a:t>
            </a:r>
          </a:p>
          <a:p>
            <a:r>
              <a:rPr dirty="0"/>
              <a:t>2029 value of USD 49.5T is the author’s calculation: 28.0 × (1.209)^3.</a:t>
            </a:r>
          </a:p>
          <a:p>
            <a:r>
              <a:rPr dirty="0"/>
              <a:t>UNCTAD estimated B2B at 82% of all e-commerce in 2019, including marketplaces and EDI: https://unctad.org/news/global-e-commerce-jumps-267-trillion-covid-19-boosts-online-sales</a:t>
            </a:r>
          </a:p>
          <a:p>
            <a:r>
              <a:rPr dirty="0"/>
              <a:t>Market definitions differ across sources; B2B figures should not be added directly to the retail B2C values on slide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E749A-3496-5B98-8F2C-5B027580C1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94712-B6EA-0BFA-8267-38A0FFF87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ED11D1-5C6A-229E-4843-D4CDF5DDE47A}"/>
              </a:ext>
            </a:extLst>
          </p:cNvPr>
          <p:cNvSpPr>
            <a:spLocks noGrp="1"/>
          </p:cNvSpPr>
          <p:nvPr>
            <p:ph type="body" idx="1"/>
          </p:nvPr>
        </p:nvSpPr>
        <p:spPr/>
        <p:txBody>
          <a:bodyPr/>
          <a:lstStyle/>
          <a:p>
            <a:r>
              <a:rPr lang="en-US"/>
              <a:t>Another big area is social shopping attention. To build effective B2B and B2C protocols, we also need to examine social networks: how influencer-driven product placements and fallacies on social media influence AI decision-making. Currently, when AI uses social media, it does not rate actual scientific journal data highly enough to influence recommendations.</a:t>
            </a:r>
          </a:p>
          <a:p>
            <a:endParaRPr lang="en-US"/>
          </a:p>
          <a:p>
            <a:r>
              <a:rPr lang="en-US"/>
              <a:t>As a result, AI cannot adequately enhance the consumer experience while accounting for the emotional influence of pseudoscience and hidden trade-offs. Until tools can present reliable evidence about these trade-offs and how feedback loops affect people, protocols may influence buying preferences in unknown ways. Conflicting information—and systems that reward attention over accuracy—can also contribute to hallucinations and poor outcomes for both people and AI models.</a:t>
            </a:r>
          </a:p>
          <a:p>
            <a:endParaRPr lang="en-US"/>
          </a:p>
          <a:p>
            <a:r>
              <a:rPr lang="en-US"/>
              <a:t>This slide really shows the various human interactions in purchasing based on customer reviews and social media. To make this work, we need a validation protocol based on studies and historical analysis using Western factual history for each social media post, enabling AI to weigh which data is most accurate. AI will influence buying. The question is: should AI also be used to influence buyers' decisions positively?</a:t>
            </a:r>
          </a:p>
          <a:p>
            <a:endParaRPr lang="en-US"/>
          </a:p>
          <a:p>
            <a:r>
              <a:rPr lang="en-US"/>
              <a:t>For example, fashion has a 30–50 year cycle. Bell-bottom pants were in style in the 1970s and are back again. In fashion, there are so many choices that fit the human form. So, can we provide context for AI to aid decision-making when buying with a simple pop-up that says: Hi, I'm your AI assistant. Retro 70s is back. Would you like to take a look, or see a newer style?</a:t>
            </a:r>
          </a:p>
          <a:p>
            <a:endParaRPr lang="en-US"/>
          </a:p>
          <a:p>
            <a:r>
              <a:rPr lang="en-US"/>
              <a:t>[Sources]</a:t>
            </a:r>
          </a:p>
          <a:p>
            <a:r>
              <a:rPr lang="en-US"/>
              <a:t>- https://wearesocial.com/wp-content/uploads/2025/02/GDR-2025-v2.pdf</a:t>
            </a:r>
          </a:p>
          <a:p>
            <a:r>
              <a:rPr lang="en-US"/>
              <a:t>- https://datareportal.com/reports/digital-2025-sub-section-brand-discovery</a:t>
            </a:r>
            <a:endParaRPr dirty="0"/>
          </a:p>
        </p:txBody>
      </p:sp>
      <p:sp>
        <p:nvSpPr>
          <p:cNvPr id="4" name="Slide Number Placeholder 3">
            <a:extLst>
              <a:ext uri="{FF2B5EF4-FFF2-40B4-BE49-F238E27FC236}">
                <a16:creationId xmlns:a16="http://schemas.microsoft.com/office/drawing/2014/main" id="{3CA14905-BD3F-EC24-FF4A-3CE708C09F9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437354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Target: 0:25</a:t>
            </a:r>
          </a:p>
          <a:p>
            <a:endParaRPr dirty="0"/>
          </a:p>
          <a:p>
            <a:r>
              <a:rPr lang="en-US"/>
              <a:t>Here are some examples—these are seven mandatory steps. These are some of the capabilities we're seeing with agentic systems, whether it's discovery, planning, comparison, multimodal search, basket building, conditional purchasing, and post-purchasing. Really, all of these require a stronger trust layer.</a:t>
            </a:r>
          </a:p>
          <a:p>
            <a:endParaRPr dirty="0"/>
          </a:p>
          <a:p>
            <a:r>
              <a:rPr dirty="0"/>
              <a:t>[Sources]</a:t>
            </a:r>
          </a:p>
          <a:p>
            <a:r>
              <a:rPr dirty="0"/>
              <a:t>- Walmart, Sparky: https://corporate.walmart.com/news/2025/06/06/walmart-the-future-of-shopping-is-agentic-meet-sparky</a:t>
            </a:r>
          </a:p>
          <a:p>
            <a:r>
              <a:rPr dirty="0"/>
              <a:t>- Albertsons AI shopping assistant: https://www.albertsonscompanies.com/newsroom/press-releases/news-details/2025/Albertsons-Companies-Accelerates-Digital-Transformation-with-the-Albertsons-AI-Shopping-Assistant-Redefining-the-Grocery-Shopping-Experience/default.aspx</a:t>
            </a:r>
          </a:p>
          <a:p>
            <a:r>
              <a:rPr dirty="0"/>
              <a:t>- Amazon Rufus: https://www.aboutamazon.com/news/retail/amazon-rufus-ai-assistant-personalized-shopping-features</a:t>
            </a:r>
          </a:p>
          <a:p>
            <a:r>
              <a:rPr dirty="0"/>
              <a:t>- Google AI Mode shopping: https://blog.google/products-and-platforms/products/shopping/google-shopping-ai-mode-virtual-try-on-update/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Target: 0:35</a:t>
            </a:r>
          </a:p>
          <a:p>
            <a:endParaRPr dirty="0"/>
          </a:p>
          <a:p>
            <a:r>
              <a:rPr lang="en-US" dirty="0"/>
              <a:t>A simple example is planning a night out for four people, with gluten-free options, for under €150. The assistant receives the key constraints: location, attendees, dietary needs, and budget. AI can identify venues, quantities, and products, and even book a reservation. The shopper remains in control of consequential choices. What is missing, however, is the social interaction that supports the decision—such as adding the guests, sending invitations, and asking for ideas.</a:t>
            </a:r>
            <a:endParaRPr dirty="0"/>
          </a:p>
          <a:p>
            <a:endParaRPr dirty="0"/>
          </a:p>
          <a:p>
            <a:r>
              <a:rPr lang="en-US" dirty="0"/>
              <a:t>While the flow without people involves less cognitive work for the customer, the agent assembling and explaining before it earns the authority to act reduces human interaction. As a result, potential AI interactions from which AI agents can learn are also reduced. So really, where are the early wins?</a:t>
            </a:r>
          </a:p>
          <a:p>
            <a:endParaRPr dirty="0"/>
          </a:p>
          <a:p>
            <a:r>
              <a:rPr dirty="0"/>
              <a:t>[Sources]</a:t>
            </a:r>
          </a:p>
          <a:p>
            <a:r>
              <a:rPr dirty="0"/>
              <a:t>- Walmart, party-planning use case: https://corporate.walmart.com/news/2025/10/31/walmart-announces-new-holiday-shopping-experiences</a:t>
            </a:r>
          </a:p>
          <a:p>
            <a:r>
              <a:rPr dirty="0"/>
              <a:t>- Wall Street Journal, Albertsons AOV discussion: https://www.wsj.com/cio-journal/albertsons-says-its-shoppers-are-buying-morethanks-to-ai-81793975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early wins are better baskets, and we see this with Albertsons, for example. The Wall Street Journal reported Albertsons had higher average order values for conversational search and larger lift for more comprehensive assistance. Amazon also reports more than 300 million customers using shopping assistance in 2025, in association with Rufus and user conversational AI.</a:t>
            </a:r>
          </a:p>
          <a:p>
            <a:endParaRPr dirty="0"/>
          </a:p>
          <a:p>
            <a:r>
              <a:rPr lang="en-US"/>
              <a:t>So reducing cognitive effort and completing a mission is probably the lowest-hanging fruit. Where less human social interaction and less marketing by companies to expand beyond their present market — in countries where customers want and need social interactions to guide their buying decisions — this may be a future evolution. People want to interact with others, and while AI can achieve these goals, interactions that ignore human social needs limit AI growth.</a:t>
            </a:r>
          </a:p>
          <a:p>
            <a:endParaRPr dirty="0"/>
          </a:p>
          <a:p>
            <a:r>
              <a:rPr dirty="0"/>
              <a:t>[Sources]</a:t>
            </a:r>
          </a:p>
          <a:p>
            <a:r>
              <a:rPr dirty="0"/>
              <a:t>- Wall Street Journal, Albertsons reported AOV lifts: https://www.wsj.com/cio-journal/albertsons-says-its-shoppers-are-buying-morethanks-to-ai-81793975</a:t>
            </a:r>
          </a:p>
          <a:p>
            <a:r>
              <a:rPr dirty="0"/>
              <a:t>- Amazon, shopping-assistant adoption and conversion association: https://www.aboutamazon.com/news/retail/amazon-agentic-ai-gen-ai-shopping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Target: 0:30</a:t>
            </a:r>
          </a:p>
          <a:p>
            <a:endParaRPr dirty="0"/>
          </a:p>
          <a:p>
            <a:r>
              <a:rPr lang="en-US"/>
              <a:t>To meet social needs, ChatGPT emphasizes discovery and merchant handoff. Google connects the shopping graph to the universal cart. Microsoft supports conversational discovery in some cases in chat. Checkout models and checkout arrangements will keep changing.</a:t>
            </a:r>
          </a:p>
          <a:p>
            <a:endParaRPr lang="en-US"/>
          </a:p>
          <a:p>
            <a:r>
              <a:rPr lang="en-US"/>
              <a:t>The durable implication is that there will be no single front door. Merchants will need to support human experiences and agent-ready endpoints, and labs will need to have interoperable product offers and authoritative data. AI labs- again, these are some of the trends.</a:t>
            </a:r>
            <a:endParaRPr dirty="0"/>
          </a:p>
          <a:p>
            <a:endParaRPr dirty="0"/>
          </a:p>
          <a:p>
            <a:r>
              <a:rPr dirty="0"/>
              <a:t>[Sources]</a:t>
            </a:r>
          </a:p>
          <a:p>
            <a:r>
              <a:rPr dirty="0"/>
              <a:t>- OpenAI, product discovery in ChatGPT: https://openai.com/index/powering-product-discovery-in-chatgpt/</a:t>
            </a:r>
          </a:p>
          <a:p>
            <a:r>
              <a:rPr dirty="0"/>
              <a:t>- Google, Universal Cart: https://blog.google/products-and-platforms/products/shopping/google-shopping-cart/</a:t>
            </a:r>
          </a:p>
          <a:p>
            <a:r>
              <a:rPr dirty="0"/>
              <a:t>- Microsoft, Copilot Checkout: https://news.microsoft.com/source/2026/01/08/microsoft-propels-retail-forward-with-agentic-ai-capabilities-that-power-intelligent-automation-for-every-retail-function/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Target: 0:55</a:t>
            </a:r>
          </a:p>
          <a:p>
            <a:endParaRPr dirty="0"/>
          </a:p>
          <a:p>
            <a:r>
              <a:rPr lang="en-US"/>
              <a:t>AI labs and general-purpose assistants own almost all the conversational pieces, and obviously the retailers and marketplaces own the customer, inventory, and fulfillment. Discovery vendors such as Resolve and others provide orchestration and product intelligence; commerce platforms and payment systems are all part of this ecosystem. And GS1 standards, W3C, and all the protocols and XAI — these are going to become the connective tissue for these layers and how they interact with AI.</a:t>
            </a:r>
          </a:p>
          <a:p>
            <a:endParaRPr dirty="0"/>
          </a:p>
          <a:p>
            <a:r>
              <a:rPr dirty="0"/>
              <a:t>[Sources]</a:t>
            </a:r>
          </a:p>
          <a:p>
            <a:r>
              <a:rPr dirty="0"/>
              <a:t>- Shopify, agentic commerce and UCP: https://www.shopify.com/news/ai-commerce-at-scale</a:t>
            </a:r>
          </a:p>
          <a:p>
            <a:r>
              <a:rPr dirty="0"/>
              <a:t>- Google Developers, guide to AI agent protocols: https://developers.googleblog.com/developers-guide-to-ai-agent-protocols/</a:t>
            </a:r>
          </a:p>
          <a:p>
            <a:r>
              <a:rPr dirty="0"/>
              <a:t>- Visa Intelligent Commerce: https://www.visa.com/en-us/solutions/intelligent-commerce</a:t>
            </a:r>
          </a:p>
          <a:p>
            <a:r>
              <a:rPr dirty="0"/>
              <a:t>- PayPal Agentic Commerce Services: https://www.paypal.com/us/business/ai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Target: 0:35</a:t>
            </a:r>
          </a:p>
          <a:p>
            <a:endParaRPr dirty="0"/>
          </a:p>
          <a:p>
            <a:r>
              <a:rPr lang="en-US"/>
              <a:t>So this is also something we need to consider: how we ensure the human element is in fact. The dividing line is not better conversation. Agency really begins with systems that preserve human intent and social interaction across these steps: understand, recommend, assemble, monitor, transact, and recover, and connect with explicit constraints.</a:t>
            </a:r>
            <a:endParaRPr dirty="0"/>
          </a:p>
          <a:p>
            <a:endParaRPr dirty="0"/>
          </a:p>
          <a:p>
            <a:r>
              <a:rPr dirty="0"/>
              <a:t>[Sources]</a:t>
            </a:r>
          </a:p>
          <a:p>
            <a:r>
              <a:rPr dirty="0"/>
              <a:t>- Mastercard, agentic-commerce explainer: https://www.mastercard.com/us/en/news-and-trends/stories/2025/agentic-commerce-explainer.html</a:t>
            </a:r>
          </a:p>
          <a:p>
            <a:r>
              <a:rPr dirty="0"/>
              <a:t>- Google agentic checkout: https://blog.google/products-and-platforms/products/shopping/google-shopping-ai-mode-virtual-try-on-update/</a:t>
            </a:r>
          </a:p>
          <a:p>
            <a:r>
              <a:rPr dirty="0"/>
              <a:t>- Amazon Rufus overview: https://www.aboutamazon.com/news/retail/amazon-rufus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0:45</a:t>
            </a:r>
          </a:p>
          <a:p>
            <a:endParaRPr/>
          </a:p>
          <a:p>
            <a:r>
              <a:rPr lang="en-US"/>
              <a:t>So the model should not be the entire ecosystem. The harness is an operating layer between probabilistic reasoning and deterministic commercial action. Each of these five control areas needs verified evidence, explicit intent and authority, merchant policy, risk check, approved commerce tools and endpoints, and audit plus recovery. This is where protocols meet verification engines.</a:t>
            </a:r>
          </a:p>
          <a:p>
            <a:endParaRPr lang="en-US"/>
          </a:p>
          <a:p>
            <a:r>
              <a:rPr lang="en-US"/>
              <a:t>The model can propose, but the harness establishes the identity. It checks freshness, provenance, applies limits, and records the outcome. Models can improve without asking every merchant or payment network to trust an unconstrained context. And not every action needs a page.</a:t>
            </a:r>
          </a:p>
          <a:p>
            <a:endParaRPr/>
          </a:p>
          <a:p>
            <a:r>
              <a:t>[Sources]</a:t>
            </a:r>
          </a:p>
          <a:p>
            <a:r>
              <a:t>- User-submitted W3C position statement and Rev 1 technical source slides 17–23.</a:t>
            </a:r>
          </a:p>
          <a:p>
            <a:r>
              <a:t>- GS1 Web Vocabulary: https://ref.gs1.org/voc/</a:t>
            </a:r>
          </a:p>
          <a:p>
            <a:r>
              <a:t>- GS1 Digital Link: https://ref.gs1.org/standards/digital-link/</a:t>
            </a:r>
          </a:p>
          <a:p>
            <a:r>
              <a:t>- OpenAI Agentic Commerce Protocol: https://developers.openai.com/commerce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will need three elements: agent tools, a decision harness, and a human interface to serve machines efficiently—and humans transparently. We need agent endpoints; decision harnesses to manage uncertainty, value, and irreversibility; and a human interface where the shopper sees the evidence and the decision before the system commits.</a:t>
            </a:r>
          </a:p>
          <a:p>
            <a:endParaRPr dirty="0"/>
          </a:p>
          <a:p>
            <a:r>
              <a:rPr dirty="0"/>
              <a:t>[Sources]</a:t>
            </a:r>
          </a:p>
          <a:p>
            <a:r>
              <a:rPr dirty="0"/>
              <a:t>- User-provided Rev 1 slides on GS1 Web Vocabulary, Digital Link and dual-surface infrastructure.</a:t>
            </a:r>
          </a:p>
          <a:p>
            <a:r>
              <a:rPr dirty="0"/>
              <a:t>- GS1 Web Vocabulary: https://ref.gs1.org/voc/</a:t>
            </a:r>
          </a:p>
          <a:p>
            <a:r>
              <a:rPr dirty="0"/>
              <a:t>- GS1 Digital Link: https://ref.gs1.org/standards/digital-link/</a:t>
            </a:r>
          </a:p>
          <a:p>
            <a:r>
              <a:rPr dirty="0"/>
              <a:t>- W3C Verifiable Credentials Data Model 2.0: https://www.w3.org/TR/vc-data-model-2.0/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GS1’s role is not to become another shopping platform. It is to provide human-reusable image and data standards that platforms and agents can share.</a:t>
            </a:r>
          </a:p>
          <a:p>
            <a:endParaRPr dirty="0"/>
          </a:p>
          <a:p>
            <a:r>
              <a:rPr lang="en-US"/>
              <a:t>GTIN and GLN identify products and trading parties. GS1 Web Vocabulary provides structured meaning. GS1 Digital Link connects identifiers on physical products to authoritative Web resources. GS1 Verified supports checks on issued identity and foundational data; downstream claims still need their own evidence.</a:t>
            </a:r>
          </a:p>
          <a:p>
            <a:endParaRPr dirty="0"/>
          </a:p>
          <a:p>
            <a:r>
              <a:rPr lang="en-US"/>
              <a:t>GS1 Canada can add two things to those global building blocks: convening and proof. GS1 Canada can be a practical proving ground for cross-merchant pilots that expose gaps in product data, intent portability, approval, and recovery—and then feed the lessons into global GS1 and W3C work.</a:t>
            </a:r>
            <a:endParaRPr dirty="0"/>
          </a:p>
          <a:p>
            <a:endParaRPr dirty="0"/>
          </a:p>
          <a:p>
            <a:r>
              <a:rPr dirty="0"/>
              <a:t>[Sources]</a:t>
            </a:r>
          </a:p>
          <a:p>
            <a:r>
              <a:rPr dirty="0"/>
              <a:t>- GS1 Web Vocabulary: https://ref.gs1.org/voc/</a:t>
            </a:r>
          </a:p>
          <a:p>
            <a:r>
              <a:rPr dirty="0"/>
              <a:t>- GS1 Digital Link: https://ref.gs1.org/standards/digital-link/</a:t>
            </a:r>
          </a:p>
          <a:p>
            <a:r>
              <a:rPr dirty="0"/>
              <a:t>- Verified by GS1: https://www.gs1.org/services/verified-by-gs1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 me close with the same three propositions, now as actions.</a:t>
            </a:r>
          </a:p>
          <a:p>
            <a:endParaRPr dirty="0"/>
          </a:p>
          <a:p>
            <a:r>
              <a:rPr lang="en-US"/>
              <a:t>First, align AI to support human buying needs, intent, social interactions, moral restrictions, context, discovery, recommendation, confidence, desire, and commitment to buy. Companies need humans in the loop. Social interaction drives buying and profit.</a:t>
            </a:r>
          </a:p>
          <a:p>
            <a:endParaRPr lang="en-US"/>
          </a:p>
          <a:p>
            <a:r>
              <a:rPr lang="en-US"/>
              <a:t>Second, sequence adoption. Agentic commerce will interweave human needs for the five reasons to buy with recommendations, basket builders, and conditional buying in today’s journeys—not by replacing the whole experience at once. B2B is the larger, underdeveloped AI opportunity. It needs standards for buyer behaviour and data: images, specifications, a trusted B2B repository.</a:t>
            </a:r>
          </a:p>
          <a:p>
            <a:endParaRPr lang="en-US"/>
          </a:p>
          <a:p>
            <a:r>
              <a:rPr lang="en-US"/>
              <a:t>Third, define the execution contract: interoperable protocols, verification engines, authenticated endpoints, human approval, receipts, and recovery.</a:t>
            </a:r>
          </a:p>
          <a:p>
            <a:endParaRPr lang="en-US"/>
          </a:p>
          <a:p>
            <a:r>
              <a:rPr lang="en-US"/>
              <a:t>As a non-profit, GS1 can partner with industry to build industry standards: shared identity and meaning.</a:t>
            </a:r>
          </a:p>
          <a:p>
            <a:endParaRPr lang="en-US"/>
          </a:p>
          <a:p>
            <a:r>
              <a:rPr lang="en-US"/>
              <a:t>My invitation is simple: define the minimum shared human contract and test one high-value journey from prompt to purchase. If we do that, agents can interact better —not merely transact faster —while allowing people to maintain choice and interact with others, duplicating the in-store experience so many want.</a:t>
            </a:r>
            <a:endParaRPr dirty="0"/>
          </a:p>
          <a:p>
            <a:endParaRPr dirty="0"/>
          </a:p>
          <a:p>
            <a:r>
              <a:rPr dirty="0"/>
              <a:t>[Sources]</a:t>
            </a:r>
          </a:p>
          <a:p>
            <a:r>
              <a:rPr dirty="0"/>
              <a:t>- User-submitted W3C position statement.</a:t>
            </a:r>
          </a:p>
          <a:p>
            <a:r>
              <a:rPr dirty="0"/>
              <a:t>- GS1 Web Vocabulary: https://ref.gs1.org/voc/</a:t>
            </a:r>
          </a:p>
          <a:p>
            <a:r>
              <a:rPr dirty="0"/>
              <a:t>- GS1 Digital Link: https://ref.gs1.org/standards/digital-link/</a:t>
            </a:r>
          </a:p>
          <a:p>
            <a:r>
              <a:rPr dirty="0"/>
              <a:t>- OpenAI Agentic Commerce Protocol: https://developers.openai.com/commerce</a:t>
            </a:r>
          </a:p>
          <a:p>
            <a:r>
              <a:rPr dirty="0"/>
              <a:t>- W3C Verifiable Credentials Data Model 2.0: https://www.w3.org/TR/vc-data-model-2.0/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Target: 0:05</a:t>
            </a:r>
          </a:p>
          <a:p>
            <a:endParaRPr dirty="0"/>
          </a:p>
          <a:p>
            <a:r>
              <a:rPr lang="en-US"/>
              <a:t>Thank you for your 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cSld name="Contact details">
    <p:spTree>
      <p:nvGrpSpPr>
        <p:cNvPr id="1" name=""/>
        <p:cNvGrpSpPr/>
        <p:nvPr/>
      </p:nvGrpSpPr>
      <p:grpSpPr>
        <a:xfrm>
          <a:off x="0" y="0"/>
          <a:ext cx="0" cy="0"/>
          <a:chOff x="0" y="0"/>
          <a:chExt cx="0" cy="0"/>
        </a:xfrm>
      </p:grpSpPr>
      <p:pic>
        <p:nvPicPr>
          <p:cNvPr id="5126" name="Picture 19"/>
          <p:cNvPicPr>
            <a:picLocks noChangeAspect="1"/>
          </p:cNvPicPr>
          <p:nvPr/>
        </p:nvPicPr>
        <p:blipFill>
          <a:blip r:embed="rId2"/>
          <a:srcRect/>
          <a:stretch>
            <a:fillRect/>
          </a:stretch>
        </p:blipFill>
        <p:spPr>
          <a:xfrm>
            <a:off x="-16933" y="-3176"/>
            <a:ext cx="12202585" cy="6864351"/>
          </a:xfrm>
          <a:prstGeom prst="rect">
            <a:avLst/>
          </a:prstGeom>
          <a:ln>
            <a:noFill/>
          </a:ln>
        </p:spPr>
      </p:pic>
      <p:sp>
        <p:nvSpPr>
          <p:cNvPr id="5" name="AutoShape 10">
            <a:extLst>
              <a:ext uri="{FF2B5EF4-FFF2-40B4-BE49-F238E27FC236}">
                <a16:creationId xmlns:a16="http://schemas.microsoft.com/office/drawing/2014/main" id="{ADCE976E-8C31-4663-9E9A-267623DC2483}"/>
              </a:ext>
            </a:extLst>
          </p:cNvPr>
          <p:cNvSpPr>
            <a:spLocks noGrp="1"/>
          </p:cNvSpPr>
          <p:nvPr/>
        </p:nvSpPr>
        <p:spPr>
          <a:xfrm>
            <a:off x="10261600" y="6324600"/>
            <a:ext cx="1625600" cy="304800"/>
          </a:xfrm>
          <a:prstGeom prst="actionButtonBlank">
            <a:avLst/>
          </a:prstGeom>
          <a:noFill/>
          <a:ln w="9525">
            <a:noFill/>
          </a:ln>
        </p:spPr>
        <p:txBody>
          <a:bodyPr wrap="none" lIns="91439" tIns="45719" rIns="91439" bIns="45719" anchor="ctr"/>
          <a:lstStyle/>
          <a:p>
            <a:pPr>
              <a:buNone/>
            </a:pPr>
            <a:endParaRPr sz="1800"/>
          </a:p>
        </p:txBody>
      </p:sp>
      <p:sp>
        <p:nvSpPr>
          <p:cNvPr id="5123" name="Rectangle 3">
            <a:extLst>
              <a:ext uri="{FF2B5EF4-FFF2-40B4-BE49-F238E27FC236}">
                <a16:creationId xmlns:a16="http://schemas.microsoft.com/office/drawing/2014/main" id="{2BF25162-D0C4-4E15-997D-F9D0CEF1702C}"/>
              </a:ext>
            </a:extLst>
          </p:cNvPr>
          <p:cNvSpPr>
            <a:spLocks noGrp="1"/>
          </p:cNvSpPr>
          <p:nvPr>
            <p:ph type="subTitle" idx="1" hasCustomPrompt="1"/>
          </p:nvPr>
        </p:nvSpPr>
        <p:spPr>
          <a:xfrm>
            <a:off x="4853614" y="1676671"/>
            <a:ext cx="6730340" cy="2384335"/>
          </a:xfrm>
          <a:prstGeom prst="rect">
            <a:avLst/>
          </a:prstGeom>
        </p:spPr>
        <p:txBody>
          <a:bodyPr/>
          <a:lstStyle>
            <a:lvl1pPr marL="0" indent="0">
              <a:buNone/>
              <a:defRPr b="0" baseline="0">
                <a:solidFill>
                  <a:srgbClr val="002C6C"/>
                </a:solidFill>
              </a:defRPr>
            </a:lvl1pPr>
          </a:lstStyle>
          <a:p>
            <a:r>
              <a:t>GS1 Global Office</a:t>
            </a:r>
            <a:br/>
            <a:r>
              <a:t>Avenue Louise 326, bte 10</a:t>
            </a:r>
            <a:br/>
            <a:r>
              <a:t>B-1050 Brussels, Belgium</a:t>
            </a:r>
          </a:p>
          <a:p>
            <a:r>
              <a:t>T +32 3 788 78 00</a:t>
            </a:r>
            <a:br/>
            <a:r>
              <a:t>W www.gs1.org</a:t>
            </a:r>
          </a:p>
        </p:txBody>
      </p:sp>
      <p:sp>
        <p:nvSpPr>
          <p:cNvPr id="2" name="Title 1">
            <a:extLst>
              <a:ext uri="{FF2B5EF4-FFF2-40B4-BE49-F238E27FC236}">
                <a16:creationId xmlns:a16="http://schemas.microsoft.com/office/drawing/2014/main" id="{C2123364-F155-4390-A6CC-D323B2ED6167}"/>
              </a:ext>
            </a:extLst>
          </p:cNvPr>
          <p:cNvSpPr>
            <a:spLocks noGrp="1"/>
          </p:cNvSpPr>
          <p:nvPr>
            <p:ph type="title" hasCustomPrompt="1"/>
          </p:nvPr>
        </p:nvSpPr>
        <p:spPr>
          <a:xfrm>
            <a:off x="4853611" y="384394"/>
            <a:ext cx="6728789" cy="935999"/>
          </a:xfrm>
        </p:spPr>
        <p:txBody>
          <a:bodyPr/>
          <a:lstStyle>
            <a:lvl1pPr>
              <a:buNone/>
              <a:defRPr/>
            </a:lvl1pPr>
          </a:lstStyle>
          <a:p>
            <a:r>
              <a:t>Contact details</a:t>
            </a:r>
          </a:p>
        </p:txBody>
      </p:sp>
      <p:pic>
        <p:nvPicPr>
          <p:cNvPr id="5130" name="Content Placeholder 1"/>
          <p:cNvPicPr>
            <a:picLocks noChangeAspect="1"/>
          </p:cNvPicPr>
          <p:nvPr/>
        </p:nvPicPr>
        <p:blipFill>
          <a:blip r:embed="rId3"/>
          <a:stretch>
            <a:fillRect/>
          </a:stretch>
        </p:blipFill>
        <p:spPr>
          <a:xfrm>
            <a:off x="507279" y="406165"/>
            <a:ext cx="1321524" cy="88276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3EA936-43D6-4CBE-8FCB-ACAFA5A33194}"/>
              </a:ext>
            </a:extLst>
          </p:cNvPr>
          <p:cNvSpPr>
            <a:spLocks noGrp="1"/>
          </p:cNvSpPr>
          <p:nvPr>
            <p:ph type="dt" idx="10"/>
          </p:nvPr>
        </p:nvSpPr>
        <p:spPr/>
        <p:txBody>
          <a:bodyPr/>
          <a:lstStyle/>
          <a:p>
            <a:fld id="{5BCAD085-E8A6-8845-BD4E-CB4CCA059FC4}" type="datetimeFigureOut">
              <a:t>9/3/2026</a:t>
            </a:fld>
            <a:endParaRPr/>
          </a:p>
        </p:txBody>
      </p:sp>
      <p:sp>
        <p:nvSpPr>
          <p:cNvPr id="3" name="Footer Placeholder 2">
            <a:extLst>
              <a:ext uri="{FF2B5EF4-FFF2-40B4-BE49-F238E27FC236}">
                <a16:creationId xmlns:a16="http://schemas.microsoft.com/office/drawing/2014/main" id="{274D864F-6A68-41E4-BBD4-1A556D20B5CA}"/>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8687B3AA-1CAD-4410-B3DF-BB5DD3E91B02}"/>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D75B4A7-F350-4FF7-A74F-6D4C1D284831}"/>
              </a:ext>
            </a:extLst>
          </p:cNvPr>
          <p:cNvSpPr>
            <a:spLocks noGrp="1"/>
          </p:cNvSpPr>
          <p:nvPr/>
        </p:nvSpPr>
        <p:spPr>
          <a:xfrm>
            <a:off x="400050" y="381000"/>
            <a:ext cx="5429250" cy="228600"/>
          </a:xfrm>
          <a:prstGeom prst="rect">
            <a:avLst/>
          </a:prstGeom>
          <a:noFill/>
          <a:ln w="0">
            <a:noFill/>
            <a:prstDash val="solid"/>
          </a:ln>
        </p:spPr>
        <p:txBody>
          <a:bodyPr anchor="t">
            <a:normAutofit fontScale="99808" lnSpcReduction="10000"/>
          </a:bodyPr>
          <a:lstStyle/>
          <a:p>
            <a:pPr algn="l">
              <a:buNone/>
              <a:defRPr sz="975" b="1" i="0">
                <a:solidFill>
                  <a:srgbClr val="3D8DFF"/>
                </a:solidFill>
                <a:latin typeface="Helvetica Neue"/>
                <a:ea typeface="Helvetica Neue"/>
                <a:cs typeface="Helvetica Neue"/>
              </a:defRPr>
            </a:pPr>
            <a:r>
              <a:rPr sz="975" b="1" i="0">
                <a:solidFill>
                  <a:srgbClr val="3D8DFF"/>
                </a:solidFill>
                <a:latin typeface="Helvetica Neue"/>
                <a:ea typeface="Helvetica Neue"/>
                <a:cs typeface="Helvetica Neue"/>
              </a:rPr>
              <a:t>W3C · E-COMMERCE FOR HUMANS AND AI AGENTS</a:t>
            </a:r>
          </a:p>
        </p:txBody>
      </p:sp>
      <p:sp>
        <p:nvSpPr>
          <p:cNvPr id="3" name="Rectangle 2">
            <a:extLst>
              <a:ext uri="{FF2B5EF4-FFF2-40B4-BE49-F238E27FC236}">
                <a16:creationId xmlns:a16="http://schemas.microsoft.com/office/drawing/2014/main" id="{3E8C60E8-6E87-40DA-924E-F16B23AACDE8}"/>
              </a:ext>
            </a:extLst>
          </p:cNvPr>
          <p:cNvSpPr>
            <a:spLocks noGrp="1"/>
          </p:cNvSpPr>
          <p:nvPr/>
        </p:nvSpPr>
        <p:spPr>
          <a:xfrm>
            <a:off x="400050" y="1800224"/>
            <a:ext cx="5238750" cy="1400176"/>
          </a:xfrm>
          <a:prstGeom prst="rect">
            <a:avLst/>
          </a:prstGeom>
          <a:noFill/>
          <a:ln w="0">
            <a:noFill/>
            <a:prstDash val="solid"/>
          </a:ln>
        </p:spPr>
        <p:txBody>
          <a:bodyPr anchor="t">
            <a:normAutofit fontScale="92500"/>
          </a:bodyPr>
          <a:lstStyle/>
          <a:p>
            <a:pPr>
              <a:defRPr sz="1875" b="0" i="0">
                <a:solidFill>
                  <a:srgbClr val="5E6973"/>
                </a:solidFill>
                <a:latin typeface="Helvetica Neue"/>
                <a:ea typeface="Helvetica Neue"/>
                <a:cs typeface="Helvetica Neue"/>
              </a:defRPr>
            </a:pPr>
            <a:r>
              <a:rPr lang="en-US" sz="2400" b="1" dirty="0"/>
              <a:t>Human Shopping Integration with AI Protocols for Models, eCommerce and Communication with AI Agents</a:t>
            </a:r>
            <a:endParaRPr sz="2400" b="0" i="0" dirty="0">
              <a:solidFill>
                <a:srgbClr val="5E6973"/>
              </a:solidFill>
              <a:latin typeface="Helvetica Neue"/>
              <a:ea typeface="Helvetica Neue"/>
              <a:cs typeface="Helvetica Neue"/>
            </a:endParaRPr>
          </a:p>
        </p:txBody>
      </p:sp>
      <p:sp>
        <p:nvSpPr>
          <p:cNvPr id="4" name="Rectangle 3">
            <a:extLst>
              <a:ext uri="{FF2B5EF4-FFF2-40B4-BE49-F238E27FC236}">
                <a16:creationId xmlns:a16="http://schemas.microsoft.com/office/drawing/2014/main" id="{EBFAF3BE-BBF9-4D76-A1A7-52C8C66BD377}"/>
              </a:ext>
            </a:extLst>
          </p:cNvPr>
          <p:cNvSpPr>
            <a:spLocks noGrp="1"/>
          </p:cNvSpPr>
          <p:nvPr/>
        </p:nvSpPr>
        <p:spPr>
          <a:xfrm>
            <a:off x="400050" y="4286250"/>
            <a:ext cx="5238750" cy="495300"/>
          </a:xfrm>
          <a:prstGeom prst="rect">
            <a:avLst/>
          </a:prstGeom>
          <a:noFill/>
          <a:ln w="0">
            <a:noFill/>
            <a:prstDash val="solid"/>
          </a:ln>
        </p:spPr>
        <p:txBody>
          <a:bodyPr anchor="t">
            <a:normAutofit/>
          </a:bodyPr>
          <a:lstStyle/>
          <a:p>
            <a:pPr algn="l">
              <a:buNone/>
              <a:defRPr sz="1350" b="1" i="0">
                <a:solidFill>
                  <a:srgbClr val="101820"/>
                </a:solidFill>
                <a:latin typeface="Helvetica Neue"/>
                <a:ea typeface="Helvetica Neue"/>
                <a:cs typeface="Helvetica Neue"/>
              </a:defRPr>
            </a:pPr>
            <a:r>
              <a:rPr sz="1350" b="1" i="0">
                <a:solidFill>
                  <a:srgbClr val="101820"/>
                </a:solidFill>
                <a:latin typeface="Helvetica Neue"/>
                <a:ea typeface="Helvetica Neue"/>
                <a:cs typeface="Helvetica Neue"/>
              </a:rPr>
              <a:t>Bob Vuppal · Director of Product, GS1 Canada</a:t>
            </a:r>
          </a:p>
        </p:txBody>
      </p:sp>
      <p:sp>
        <p:nvSpPr>
          <p:cNvPr id="5" name="Rectangle 4">
            <a:extLst>
              <a:ext uri="{FF2B5EF4-FFF2-40B4-BE49-F238E27FC236}">
                <a16:creationId xmlns:a16="http://schemas.microsoft.com/office/drawing/2014/main" id="{5EB3BC82-A701-4C45-8B98-C4C78AC05985}"/>
              </a:ext>
            </a:extLst>
          </p:cNvPr>
          <p:cNvSpPr>
            <a:spLocks noGrp="1"/>
          </p:cNvSpPr>
          <p:nvPr/>
        </p:nvSpPr>
        <p:spPr>
          <a:xfrm>
            <a:off x="400050" y="5743575"/>
            <a:ext cx="2476500" cy="266700"/>
          </a:xfrm>
          <a:prstGeom prst="rect">
            <a:avLst/>
          </a:prstGeom>
          <a:noFill/>
          <a:ln w="0">
            <a:noFill/>
            <a:prstDash val="solid"/>
          </a:ln>
        </p:spPr>
        <p:txBody>
          <a:bodyPr anchor="t">
            <a:normAutofit fontScale="95833"/>
          </a:bodyPr>
          <a:lstStyle/>
          <a:p>
            <a:pPr algn="l">
              <a:buNone/>
              <a:defRPr sz="1200" b="0" i="0">
                <a:solidFill>
                  <a:srgbClr val="5E6973"/>
                </a:solidFill>
                <a:latin typeface="Helvetica Neue"/>
                <a:ea typeface="Helvetica Neue"/>
                <a:cs typeface="Helvetica Neue"/>
              </a:defRPr>
            </a:pPr>
            <a:r>
              <a:rPr sz="1200" b="0" i="0">
                <a:solidFill>
                  <a:srgbClr val="5E6973"/>
                </a:solidFill>
                <a:latin typeface="Helvetica Neue"/>
                <a:ea typeface="Helvetica Neue"/>
                <a:cs typeface="Helvetica Neue"/>
              </a:rPr>
              <a:t>W3C Workshop · 2026</a:t>
            </a:r>
          </a:p>
        </p:txBody>
      </p:sp>
      <p:sp>
        <p:nvSpPr>
          <p:cNvPr id="6" name="Rectangle: Rounded Corners 5">
            <a:extLst>
              <a:ext uri="{FF2B5EF4-FFF2-40B4-BE49-F238E27FC236}">
                <a16:creationId xmlns:a16="http://schemas.microsoft.com/office/drawing/2014/main" id="{1B2274E1-896F-47AA-ACC9-A21562E00511}"/>
              </a:ext>
            </a:extLst>
          </p:cNvPr>
          <p:cNvSpPr>
            <a:spLocks noGrp="1"/>
          </p:cNvSpPr>
          <p:nvPr/>
        </p:nvSpPr>
        <p:spPr>
          <a:xfrm>
            <a:off x="6267450" y="400050"/>
            <a:ext cx="5534025" cy="5600700"/>
          </a:xfrm>
          <a:prstGeom prst="roundRect">
            <a:avLst>
              <a:gd name="adj" fmla="val 2065"/>
            </a:avLst>
          </a:prstGeom>
          <a:solidFill>
            <a:srgbClr val="EAF5FB"/>
          </a:solidFill>
          <a:ln w="9525">
            <a:solidFill>
              <a:srgbClr val="C9CED3"/>
            </a:solidFill>
            <a:prstDash val="solid"/>
          </a:ln>
        </p:spPr>
        <p:txBody>
          <a:bodyPr/>
          <a:lstStyle/>
          <a:p>
            <a:endParaRPr lang="en-CA"/>
          </a:p>
        </p:txBody>
      </p:sp>
      <p:pic>
        <p:nvPicPr>
          <p:cNvPr id="35" name="Picture 34" descr="Smartphone scanning everyday products using an illustrative GS1 Digital Link-style QR code, with trust and verification symbols."/>
          <p:cNvPicPr>
            <a:picLocks noChangeAspect="1"/>
          </p:cNvPicPr>
          <p:nvPr/>
        </p:nvPicPr>
        <p:blipFill>
          <a:blip r:embed="rId3"/>
          <a:srcRect l="595" r="595"/>
          <a:stretch>
            <a:fillRect/>
          </a:stretch>
        </p:blipFill>
        <p:spPr>
          <a:xfrm>
            <a:off x="6267450" y="400050"/>
            <a:ext cx="5534025" cy="5600700"/>
          </a:xfrm>
          <a:prstGeom prst="roundRect">
            <a:avLst>
              <a:gd name="adj" fmla="val 2065"/>
            </a:avLst>
          </a:prstGeom>
        </p:spPr>
      </p:pic>
      <p:cxnSp>
        <p:nvCxnSpPr>
          <p:cNvPr id="36" name="Straight Arrow Connector 35"/>
          <p:cNvCxnSpPr/>
          <p:nvPr/>
        </p:nvCxnSpPr>
        <p:spPr>
          <a:xfrm>
            <a:off x="400050" y="6286500"/>
            <a:ext cx="11391900" cy="0"/>
          </a:xfrm>
          <a:prstGeom prst="straightConnector1">
            <a:avLst/>
          </a:prstGeom>
          <a:ln w="9525">
            <a:solidFill>
              <a:srgbClr val="C9CED3"/>
            </a:solidFill>
            <a:prstDash val="solid"/>
          </a:ln>
        </p:spPr>
      </p:cxnSp>
      <p:sp>
        <p:nvSpPr>
          <p:cNvPr id="9" name="Rectangle 8">
            <a:extLst>
              <a:ext uri="{FF2B5EF4-FFF2-40B4-BE49-F238E27FC236}">
                <a16:creationId xmlns:a16="http://schemas.microsoft.com/office/drawing/2014/main" id="{EC6514E8-7606-4461-98C3-D8BC2D3CCA37}"/>
              </a:ext>
            </a:extLst>
          </p:cNvPr>
          <p:cNvSpPr>
            <a:spLocks noGrp="1"/>
          </p:cNvSpPr>
          <p:nvPr/>
        </p:nvSpPr>
        <p:spPr>
          <a:xfrm>
            <a:off x="400050" y="6391275"/>
            <a:ext cx="4000500" cy="171450"/>
          </a:xfrm>
          <a:prstGeom prst="rect">
            <a:avLst/>
          </a:prstGeom>
          <a:noFill/>
          <a:ln w="0">
            <a:noFill/>
            <a:prstDash val="solid"/>
          </a:ln>
        </p:spPr>
        <p:txBody>
          <a:bodyPr anchor="t">
            <a:normAutofit fontScale="78636" lnSpcReduction="20000"/>
          </a:bodyPr>
          <a:lstStyle/>
          <a:p>
            <a:pPr algn="l">
              <a:buNone/>
              <a:defRPr sz="825" b="1" i="0">
                <a:solidFill>
                  <a:srgbClr val="5E6973"/>
                </a:solidFill>
                <a:latin typeface="Helvetica Neue"/>
                <a:ea typeface="Helvetica Neue"/>
                <a:cs typeface="Helvetica Neue"/>
              </a:defRPr>
            </a:pPr>
            <a:r>
              <a:rPr sz="825" b="1" i="0">
                <a:solidFill>
                  <a:srgbClr val="5E6973"/>
                </a:solidFill>
                <a:latin typeface="Helvetica Neue"/>
                <a:ea typeface="Helvetica Neue"/>
                <a:cs typeface="Helvetica Neue"/>
              </a:rPr>
              <a:t>TRUSTED AGENTIC COMMERCE</a:t>
            </a:r>
          </a:p>
        </p:txBody>
      </p:sp>
      <p:sp>
        <p:nvSpPr>
          <p:cNvPr id="10" name="Rectangle 9">
            <a:extLst>
              <a:ext uri="{FF2B5EF4-FFF2-40B4-BE49-F238E27FC236}">
                <a16:creationId xmlns:a16="http://schemas.microsoft.com/office/drawing/2014/main" id="{E0BD421F-3014-495A-96E1-12DF3BA52F49}"/>
              </a:ext>
            </a:extLst>
          </p:cNvPr>
          <p:cNvSpPr>
            <a:spLocks noGrp="1"/>
          </p:cNvSpPr>
          <p:nvPr/>
        </p:nvSpPr>
        <p:spPr>
          <a:xfrm>
            <a:off x="11239500" y="6372225"/>
            <a:ext cx="552450" cy="190500"/>
          </a:xfrm>
          <a:prstGeom prst="rect">
            <a:avLst/>
          </a:prstGeom>
          <a:noFill/>
          <a:ln w="0">
            <a:noFill/>
            <a:prstDash val="solid"/>
          </a:ln>
        </p:spPr>
        <p:txBody>
          <a:bodyPr anchor="t">
            <a:normAutofit fontScale="87222" lnSpcReduction="20000"/>
          </a:bodyPr>
          <a:lstStyle/>
          <a:p>
            <a:pPr algn="r">
              <a:buNone/>
              <a:defRPr sz="900" b="1" i="0">
                <a:solidFill>
                  <a:srgbClr val="101820"/>
                </a:solidFill>
                <a:latin typeface="Helvetica Neue"/>
                <a:ea typeface="Helvetica Neue"/>
                <a:cs typeface="Helvetica Neue"/>
              </a:defRPr>
            </a:pPr>
            <a:r>
              <a:rPr sz="900" b="1" i="0">
                <a:solidFill>
                  <a:srgbClr val="101820"/>
                </a:solidFill>
                <a:latin typeface="Helvetica Neue"/>
                <a:ea typeface="Helvetica Neue"/>
                <a:cs typeface="Helvetica Neue"/>
              </a:rPr>
              <a:t>01</a:t>
            </a:r>
          </a:p>
        </p:txBody>
      </p:sp>
    </p:spTree>
    <p:extLst>
      <p:ext uri="{BB962C8B-B14F-4D97-AF65-F5344CB8AC3E}">
        <p14:creationId xmlns:p14="http://schemas.microsoft.com/office/powerpoint/2010/main" val="2072251849"/>
      </p:ext>
    </p:extLst>
  </p:cSld>
  <p:clrMapOvr>
    <a:masterClrMapping/>
  </p:clrMapOvr>
  <mc:AlternateContent xmlns:mc="http://schemas.openxmlformats.org/markup-compatibility/2006" xmlns:p14="http://schemas.microsoft.com/office/powerpoint/2010/main">
    <mc:Choice Requires="p14">
      <p:transition spd="slow" p14:dur="2000" advTm="20142"/>
    </mc:Choice>
    <mc:Fallback xmlns="">
      <p:transition spd="slow" advTm="2014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F6B407-BE62-44F8-436D-0497FA985703}"/>
              </a:ext>
            </a:extLst>
          </p:cNvPr>
          <p:cNvSpPr>
            <a:spLocks noGrp="1"/>
          </p:cNvSpPr>
          <p:nvPr>
            <p:ph type="subTitle" idx="1"/>
          </p:nvPr>
        </p:nvSpPr>
        <p:spPr>
          <a:xfrm>
            <a:off x="4853614" y="1676671"/>
            <a:ext cx="6730340" cy="2384335"/>
          </a:xfrm>
        </p:spPr>
        <p:txBody>
          <a:bodyPr>
            <a:normAutofit/>
          </a:bodyPr>
          <a:lstStyle/>
          <a:p>
            <a:r>
              <a:rPr sz="3600" dirty="0"/>
              <a:t>Will Agentic </a:t>
            </a:r>
            <a:r>
              <a:rPr lang="en-US" sz="3600" dirty="0"/>
              <a:t>s</a:t>
            </a:r>
            <a:r>
              <a:rPr sz="3600" dirty="0"/>
              <a:t>hopping </a:t>
            </a:r>
            <a:r>
              <a:rPr lang="en-US" sz="3600" dirty="0"/>
              <a:t>effectively utilize human</a:t>
            </a:r>
            <a:r>
              <a:rPr sz="3600" dirty="0"/>
              <a:t> buying patterns</a:t>
            </a:r>
            <a:r>
              <a:rPr lang="en-US" sz="3600" dirty="0"/>
              <a:t> to achieve sales growth!</a:t>
            </a:r>
            <a:endParaRPr sz="3600" dirty="0"/>
          </a:p>
        </p:txBody>
      </p:sp>
      <p:sp>
        <p:nvSpPr>
          <p:cNvPr id="2" name="Title 1">
            <a:extLst>
              <a:ext uri="{FF2B5EF4-FFF2-40B4-BE49-F238E27FC236}">
                <a16:creationId xmlns:a16="http://schemas.microsoft.com/office/drawing/2014/main" id="{82729A51-9260-FBFF-E161-486634BCA2E5}"/>
              </a:ext>
            </a:extLst>
          </p:cNvPr>
          <p:cNvSpPr>
            <a:spLocks noGrp="1"/>
          </p:cNvSpPr>
          <p:nvPr>
            <p:ph type="title"/>
          </p:nvPr>
        </p:nvSpPr>
        <p:spPr>
          <a:xfrm>
            <a:off x="4853611" y="384394"/>
            <a:ext cx="6728789" cy="935999"/>
          </a:xfrm>
        </p:spPr>
        <p:txBody>
          <a:bodyPr wrap="square" anchor="ctr">
            <a:normAutofit/>
          </a:bodyPr>
          <a:lstStyle/>
          <a:p>
            <a:r>
              <a:t>The </a:t>
            </a:r>
            <a:r>
              <a:rPr b="1"/>
              <a:t>BIG </a:t>
            </a:r>
            <a:r>
              <a:t>question: </a:t>
            </a:r>
          </a:p>
        </p:txBody>
      </p:sp>
      <p:sp>
        <p:nvSpPr>
          <p:cNvPr id="4" name="Slide Number Placeholder 3" hidden="1">
            <a:extLst>
              <a:ext uri="{FF2B5EF4-FFF2-40B4-BE49-F238E27FC236}">
                <a16:creationId xmlns:a16="http://schemas.microsoft.com/office/drawing/2014/main" id="{3892D055-77A0-E870-179F-F4D1616CCE0B}"/>
              </a:ext>
            </a:extLst>
          </p:cNvPr>
          <p:cNvSpPr>
            <a:spLocks noGrp="1"/>
          </p:cNvSpPr>
          <p:nvPr>
            <p:ph type="sldNum" idx="4294967295"/>
          </p:nvPr>
        </p:nvSpPr>
        <p:spPr>
          <a:xfrm>
            <a:off x="11142070" y="6350406"/>
            <a:ext cx="330047" cy="200260"/>
          </a:xfrm>
          <a:prstGeom prst="rect">
            <a:avLst/>
          </a:prstGeom>
        </p:spPr>
        <p:txBody>
          <a:bodyPr vert="horz" wrap="square" lIns="0" tIns="0" rIns="0" bIns="0" anchor="ctr"/>
          <a:lstStyle>
            <a:lvl1pPr marL="0" algn="r" defTabSz="914400">
              <a:buNone/>
              <a:defRPr sz="800" kern="1200">
                <a:solidFill>
                  <a:srgbClr val="454545"/>
                </a:solidFill>
                <a:latin typeface="Verdana"/>
                <a:ea typeface="Verdana"/>
                <a:cs typeface="Verdana"/>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pPr>
              <a:spcAft>
                <a:spcPct val="0"/>
              </a:spcAft>
              <a:buNone/>
            </a:pPr>
            <a:fld id="{4472AB7F-E8D0-4874-A9B8-335B68DC5F05}" type="slidenum">
              <a:rPr/>
              <a:t>2</a:t>
            </a:fld>
            <a:endParaRPr/>
          </a:p>
        </p:txBody>
      </p:sp>
    </p:spTree>
    <p:extLst>
      <p:ext uri="{BB962C8B-B14F-4D97-AF65-F5344CB8AC3E}">
        <p14:creationId xmlns:p14="http://schemas.microsoft.com/office/powerpoint/2010/main" val="1520814384"/>
      </p:ext>
    </p:extLst>
  </p:cSld>
  <p:clrMapOvr>
    <a:masterClrMapping/>
  </p:clrMapOvr>
  <mc:AlternateContent xmlns:mc="http://schemas.openxmlformats.org/markup-compatibility/2006" xmlns:p14="http://schemas.microsoft.com/office/powerpoint/2010/main">
    <mc:Choice Requires="p14">
      <p:transition spd="slow" p14:dur="2000" advTm="61391"/>
    </mc:Choice>
    <mc:Fallback xmlns="">
      <p:transition spd="slow" advTm="61391"/>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05D51-71B9-C90C-AB0B-532D332645AB}"/>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455892C5-2315-B977-34A0-0AE4FB7C599F}"/>
              </a:ext>
            </a:extLst>
          </p:cNvPr>
          <p:cNvSpPr>
            <a:spLocks noGrp="1"/>
          </p:cNvSpPr>
          <p:nvPr/>
        </p:nvSpPr>
        <p:spPr>
          <a:xfrm>
            <a:off x="400050" y="266700"/>
            <a:ext cx="4000500" cy="190500"/>
          </a:xfrm>
          <a:prstGeom prst="rect">
            <a:avLst/>
          </a:prstGeom>
          <a:noFill/>
          <a:ln w="0">
            <a:noFill/>
            <a:prstDash val="solid"/>
          </a:ln>
        </p:spPr>
        <p:txBody>
          <a:bodyPr anchor="t">
            <a:normAutofit fontScale="87222" lnSpcReduction="20000"/>
          </a:bodyPr>
          <a:lstStyle/>
          <a:p>
            <a:pPr algn="l">
              <a:buNone/>
              <a:defRPr sz="900" b="1" i="0">
                <a:solidFill>
                  <a:srgbClr val="3D8DFF"/>
                </a:solidFill>
                <a:latin typeface="Helvetica Neue"/>
                <a:ea typeface="Helvetica Neue"/>
                <a:cs typeface="Helvetica Neue"/>
              </a:defRPr>
            </a:pPr>
            <a:r>
              <a:rPr sz="900" b="1" i="0" dirty="0">
                <a:solidFill>
                  <a:srgbClr val="3D8DFF"/>
                </a:solidFill>
                <a:latin typeface="Helvetica Neue"/>
                <a:ea typeface="Helvetica Neue"/>
                <a:cs typeface="Helvetica Neue"/>
              </a:rPr>
              <a:t>MARKET CONTEXT ·</a:t>
            </a:r>
            <a:r>
              <a:rPr lang="en-CA" sz="900" b="1" i="0" dirty="0">
                <a:solidFill>
                  <a:srgbClr val="3D8DFF"/>
                </a:solidFill>
                <a:latin typeface="Helvetica Neue"/>
                <a:ea typeface="Helvetica Neue"/>
                <a:cs typeface="Helvetica Neue"/>
              </a:rPr>
              <a:t> AI COMPUTE</a:t>
            </a:r>
            <a:endParaRPr sz="900" b="1" i="0" dirty="0">
              <a:solidFill>
                <a:srgbClr val="3D8DFF"/>
              </a:solidFill>
              <a:latin typeface="Helvetica Neue"/>
              <a:ea typeface="Helvetica Neue"/>
              <a:cs typeface="Helvetica Neue"/>
            </a:endParaRPr>
          </a:p>
        </p:txBody>
      </p:sp>
      <p:cxnSp>
        <p:nvCxnSpPr>
          <p:cNvPr id="34" name="Straight Arrow Connector 33">
            <a:extLst>
              <a:ext uri="{FF2B5EF4-FFF2-40B4-BE49-F238E27FC236}">
                <a16:creationId xmlns:a16="http://schemas.microsoft.com/office/drawing/2014/main" id="{40802BB0-82B5-6A80-44D1-7299B34CCCD1}"/>
              </a:ext>
            </a:extLst>
          </p:cNvPr>
          <p:cNvCxnSpPr/>
          <p:nvPr/>
        </p:nvCxnSpPr>
        <p:spPr>
          <a:xfrm>
            <a:off x="400050" y="6286500"/>
            <a:ext cx="11391900" cy="0"/>
          </a:xfrm>
          <a:prstGeom prst="straightConnector1">
            <a:avLst/>
          </a:prstGeom>
          <a:ln w="9525">
            <a:solidFill>
              <a:srgbClr val="C9CED3"/>
            </a:solidFill>
            <a:prstDash val="solid"/>
          </a:ln>
        </p:spPr>
      </p:cxnSp>
      <p:sp>
        <p:nvSpPr>
          <p:cNvPr id="4" name="Rectangle 3">
            <a:extLst>
              <a:ext uri="{FF2B5EF4-FFF2-40B4-BE49-F238E27FC236}">
                <a16:creationId xmlns:a16="http://schemas.microsoft.com/office/drawing/2014/main" id="{FB7CA527-4C4C-12EA-A774-505DCB967218}"/>
              </a:ext>
            </a:extLst>
          </p:cNvPr>
          <p:cNvSpPr>
            <a:spLocks noGrp="1"/>
          </p:cNvSpPr>
          <p:nvPr/>
        </p:nvSpPr>
        <p:spPr>
          <a:xfrm>
            <a:off x="400050" y="6391275"/>
            <a:ext cx="4000500" cy="171450"/>
          </a:xfrm>
          <a:prstGeom prst="rect">
            <a:avLst/>
          </a:prstGeom>
          <a:noFill/>
          <a:ln w="0">
            <a:noFill/>
            <a:prstDash val="solid"/>
          </a:ln>
        </p:spPr>
        <p:txBody>
          <a:bodyPr anchor="t">
            <a:normAutofit fontScale="78636" lnSpcReduction="20000"/>
          </a:bodyPr>
          <a:lstStyle/>
          <a:p>
            <a:pPr algn="l">
              <a:buNone/>
              <a:defRPr sz="825" b="1" i="0">
                <a:solidFill>
                  <a:srgbClr val="5E6973"/>
                </a:solidFill>
                <a:latin typeface="Helvetica Neue"/>
                <a:ea typeface="Helvetica Neue"/>
                <a:cs typeface="Helvetica Neue"/>
              </a:defRPr>
            </a:pPr>
            <a:r>
              <a:rPr sz="825" b="1" i="0">
                <a:solidFill>
                  <a:srgbClr val="5E6973"/>
                </a:solidFill>
                <a:latin typeface="Helvetica Neue"/>
                <a:ea typeface="Helvetica Neue"/>
                <a:cs typeface="Helvetica Neue"/>
              </a:rPr>
              <a:t>TRUSTED AGENTIC COMMERCE</a:t>
            </a:r>
          </a:p>
        </p:txBody>
      </p:sp>
      <p:sp>
        <p:nvSpPr>
          <p:cNvPr id="5" name="Rectangle 4">
            <a:extLst>
              <a:ext uri="{FF2B5EF4-FFF2-40B4-BE49-F238E27FC236}">
                <a16:creationId xmlns:a16="http://schemas.microsoft.com/office/drawing/2014/main" id="{CCF4DB6C-AA8D-5293-0653-754DE192AD8A}"/>
              </a:ext>
            </a:extLst>
          </p:cNvPr>
          <p:cNvSpPr>
            <a:spLocks noGrp="1"/>
          </p:cNvSpPr>
          <p:nvPr/>
        </p:nvSpPr>
        <p:spPr>
          <a:xfrm>
            <a:off x="11239500" y="6372225"/>
            <a:ext cx="552450" cy="190500"/>
          </a:xfrm>
          <a:prstGeom prst="rect">
            <a:avLst/>
          </a:prstGeom>
          <a:noFill/>
          <a:ln w="0">
            <a:noFill/>
            <a:prstDash val="solid"/>
          </a:ln>
        </p:spPr>
        <p:txBody>
          <a:bodyPr anchor="t">
            <a:normAutofit fontScale="87222" lnSpcReduction="20000"/>
          </a:bodyPr>
          <a:lstStyle/>
          <a:p>
            <a:pPr algn="r">
              <a:buNone/>
              <a:defRPr sz="900" b="1" i="0">
                <a:solidFill>
                  <a:srgbClr val="101820"/>
                </a:solidFill>
                <a:latin typeface="Helvetica Neue"/>
                <a:ea typeface="Helvetica Neue"/>
                <a:cs typeface="Helvetica Neue"/>
              </a:defRPr>
            </a:pPr>
            <a:r>
              <a:rPr lang="en-CA" sz="900" b="1" i="0" dirty="0">
                <a:solidFill>
                  <a:srgbClr val="101820"/>
                </a:solidFill>
                <a:latin typeface="Helvetica Neue"/>
                <a:ea typeface="Helvetica Neue"/>
                <a:cs typeface="Helvetica Neue"/>
              </a:rPr>
              <a:t>02</a:t>
            </a:r>
            <a:endParaRPr sz="900" b="1" i="0" dirty="0">
              <a:solidFill>
                <a:srgbClr val="101820"/>
              </a:solidFill>
              <a:latin typeface="Helvetica Neue"/>
              <a:ea typeface="Helvetica Neue"/>
              <a:cs typeface="Helvetica Neue"/>
            </a:endParaRPr>
          </a:p>
        </p:txBody>
      </p:sp>
      <p:sp>
        <p:nvSpPr>
          <p:cNvPr id="9" name="protocol-utility-bracket">
            <a:extLst>
              <a:ext uri="{FF2B5EF4-FFF2-40B4-BE49-F238E27FC236}">
                <a16:creationId xmlns:a16="http://schemas.microsoft.com/office/drawing/2014/main" id="{CC5DEAA8-A590-CAAD-3083-D00FC2422B0D}"/>
              </a:ext>
            </a:extLst>
          </p:cNvPr>
          <p:cNvSpPr>
            <a:spLocks noGrp="1"/>
          </p:cNvSpPr>
          <p:nvPr/>
        </p:nvSpPr>
        <p:spPr>
          <a:xfrm>
            <a:off x="563880" y="3893820"/>
            <a:ext cx="4343400" cy="320040"/>
          </a:xfrm>
          <a:custGeom>
            <a:avLst/>
            <a:gdLst/>
            <a:ahLst/>
            <a:cxnLst/>
            <a:rect l="0" t="0" r="0" b="0"/>
            <a:pathLst>
              <a:path w="5429250" h="400050">
                <a:moveTo>
                  <a:pt x="0" y="0"/>
                </a:moveTo>
                <a:lnTo>
                  <a:pt x="0" y="133350"/>
                </a:lnTo>
                <a:lnTo>
                  <a:pt x="2505075" y="133350"/>
                </a:lnTo>
                <a:lnTo>
                  <a:pt x="2714625" y="381000"/>
                </a:lnTo>
                <a:lnTo>
                  <a:pt x="2924175" y="133350"/>
                </a:lnTo>
                <a:lnTo>
                  <a:pt x="5429250" y="133350"/>
                </a:lnTo>
                <a:lnTo>
                  <a:pt x="5429250" y="0"/>
                </a:lnTo>
              </a:path>
            </a:pathLst>
          </a:custGeom>
          <a:noFill/>
          <a:ln w="38100">
            <a:solidFill>
              <a:srgbClr val="0755B5"/>
            </a:solidFill>
            <a:prstDash val="solid"/>
          </a:ln>
        </p:spPr>
        <p:txBody>
          <a:bodyPr/>
          <a:lstStyle/>
          <a:p>
            <a:endParaRPr lang="en-CA" sz="1440"/>
          </a:p>
        </p:txBody>
      </p:sp>
      <p:sp>
        <p:nvSpPr>
          <p:cNvPr id="11" name="human-alignment-bracket">
            <a:extLst>
              <a:ext uri="{FF2B5EF4-FFF2-40B4-BE49-F238E27FC236}">
                <a16:creationId xmlns:a16="http://schemas.microsoft.com/office/drawing/2014/main" id="{52271B61-2FFF-A2DD-C832-668536354CA8}"/>
              </a:ext>
            </a:extLst>
          </p:cNvPr>
          <p:cNvSpPr>
            <a:spLocks noGrp="1"/>
          </p:cNvSpPr>
          <p:nvPr/>
        </p:nvSpPr>
        <p:spPr>
          <a:xfrm>
            <a:off x="5242560" y="3893820"/>
            <a:ext cx="6324600" cy="320040"/>
          </a:xfrm>
          <a:custGeom>
            <a:avLst/>
            <a:gdLst/>
            <a:ahLst/>
            <a:cxnLst/>
            <a:rect l="0" t="0" r="0" b="0"/>
            <a:pathLst>
              <a:path w="7905750" h="400050">
                <a:moveTo>
                  <a:pt x="0" y="0"/>
                </a:moveTo>
                <a:lnTo>
                  <a:pt x="0" y="133350"/>
                </a:lnTo>
                <a:lnTo>
                  <a:pt x="3743325" y="133350"/>
                </a:lnTo>
                <a:lnTo>
                  <a:pt x="3952875" y="381000"/>
                </a:lnTo>
                <a:lnTo>
                  <a:pt x="4162425" y="133350"/>
                </a:lnTo>
                <a:lnTo>
                  <a:pt x="7905750" y="133350"/>
                </a:lnTo>
                <a:lnTo>
                  <a:pt x="7905750" y="0"/>
                </a:lnTo>
              </a:path>
            </a:pathLst>
          </a:custGeom>
          <a:noFill/>
          <a:ln w="38100">
            <a:solidFill>
              <a:srgbClr val="F4510B"/>
            </a:solidFill>
            <a:prstDash val="solid"/>
          </a:ln>
        </p:spPr>
        <p:txBody>
          <a:bodyPr/>
          <a:lstStyle/>
          <a:p>
            <a:endParaRPr lang="en-CA" sz="1440"/>
          </a:p>
        </p:txBody>
      </p:sp>
      <p:sp>
        <p:nvSpPr>
          <p:cNvPr id="13" name="slide-title">
            <a:extLst>
              <a:ext uri="{FF2B5EF4-FFF2-40B4-BE49-F238E27FC236}">
                <a16:creationId xmlns:a16="http://schemas.microsoft.com/office/drawing/2014/main" id="{C38F527D-008D-B354-5EF8-1D7EA2B3EE06}"/>
              </a:ext>
            </a:extLst>
          </p:cNvPr>
          <p:cNvSpPr>
            <a:spLocks noGrp="1"/>
          </p:cNvSpPr>
          <p:nvPr/>
        </p:nvSpPr>
        <p:spPr>
          <a:xfrm>
            <a:off x="1981200" y="295275"/>
            <a:ext cx="8229600" cy="800100"/>
          </a:xfrm>
          <a:prstGeom prst="rect">
            <a:avLst/>
          </a:prstGeom>
          <a:noFill/>
          <a:ln w="0">
            <a:noFill/>
            <a:prstDash val="solid"/>
          </a:ln>
        </p:spPr>
        <p:txBody>
          <a:bodyPr lIns="0" tIns="0" rIns="0" bIns="0" anchor="ctr">
            <a:normAutofit/>
          </a:bodyPr>
          <a:lstStyle/>
          <a:p>
            <a:pPr algn="ctr">
              <a:defRPr sz="5700" b="1">
                <a:solidFill>
                  <a:srgbClr val="061A4A"/>
                </a:solidFill>
                <a:latin typeface="Arial"/>
                <a:ea typeface="Arial"/>
                <a:cs typeface="Arial"/>
              </a:defRPr>
            </a:pPr>
            <a:r>
              <a:rPr sz="4560" b="1" dirty="0">
                <a:solidFill>
                  <a:srgbClr val="061A4A"/>
                </a:solidFill>
                <a:latin typeface="Arial"/>
                <a:ea typeface="Arial"/>
                <a:cs typeface="Arial"/>
              </a:rPr>
              <a:t>Why do humans buy?</a:t>
            </a:r>
          </a:p>
        </p:txBody>
      </p:sp>
      <p:sp>
        <p:nvSpPr>
          <p:cNvPr id="15" name="subtitle">
            <a:extLst>
              <a:ext uri="{FF2B5EF4-FFF2-40B4-BE49-F238E27FC236}">
                <a16:creationId xmlns:a16="http://schemas.microsoft.com/office/drawing/2014/main" id="{044E4EC3-5C05-D809-14CD-43576A19F788}"/>
              </a:ext>
            </a:extLst>
          </p:cNvPr>
          <p:cNvSpPr>
            <a:spLocks noGrp="1"/>
          </p:cNvSpPr>
          <p:nvPr/>
        </p:nvSpPr>
        <p:spPr>
          <a:xfrm>
            <a:off x="1447800" y="5641577"/>
            <a:ext cx="9296400" cy="426720"/>
          </a:xfrm>
          <a:prstGeom prst="rect">
            <a:avLst/>
          </a:prstGeom>
          <a:noFill/>
          <a:ln w="0">
            <a:noFill/>
            <a:prstDash val="solid"/>
          </a:ln>
        </p:spPr>
        <p:txBody>
          <a:bodyPr lIns="0" tIns="0" rIns="0" bIns="0" anchor="ctr">
            <a:normAutofit/>
          </a:bodyPr>
          <a:lstStyle/>
          <a:p>
            <a:pPr algn="ctr">
              <a:defRPr sz="2550" b="0">
                <a:solidFill>
                  <a:srgbClr val="061A4A"/>
                </a:solidFill>
                <a:latin typeface="Arial"/>
                <a:ea typeface="Arial"/>
                <a:cs typeface="Arial"/>
              </a:defRPr>
            </a:pPr>
            <a:r>
              <a:rPr sz="2040" b="1" dirty="0">
                <a:solidFill>
                  <a:srgbClr val="061A4A"/>
                </a:solidFill>
                <a:latin typeface="Arial"/>
                <a:ea typeface="Arial"/>
                <a:cs typeface="Arial"/>
              </a:rPr>
              <a:t>Protocols enable transactions. Human alignment creates demand.</a:t>
            </a:r>
          </a:p>
        </p:txBody>
      </p:sp>
      <p:pic>
        <p:nvPicPr>
          <p:cNvPr id="18" name="Picture 17">
            <a:extLst>
              <a:ext uri="{FF2B5EF4-FFF2-40B4-BE49-F238E27FC236}">
                <a16:creationId xmlns:a16="http://schemas.microsoft.com/office/drawing/2014/main" id="{F0C13D74-56FD-9DC0-4BE3-C4D9AD2FBB4C}"/>
              </a:ext>
            </a:extLst>
          </p:cNvPr>
          <p:cNvPicPr>
            <a:picLocks noChangeAspect="1"/>
          </p:cNvPicPr>
          <p:nvPr/>
        </p:nvPicPr>
        <p:blipFill>
          <a:blip r:embed="rId3"/>
          <a:stretch/>
        </p:blipFill>
        <p:spPr>
          <a:xfrm>
            <a:off x="784860" y="1630680"/>
            <a:ext cx="1447800" cy="1447800"/>
          </a:xfrm>
          <a:prstGeom prst="rect">
            <a:avLst/>
          </a:prstGeom>
        </p:spPr>
      </p:pic>
      <p:sp>
        <p:nvSpPr>
          <p:cNvPr id="20" name="time-label">
            <a:extLst>
              <a:ext uri="{FF2B5EF4-FFF2-40B4-BE49-F238E27FC236}">
                <a16:creationId xmlns:a16="http://schemas.microsoft.com/office/drawing/2014/main" id="{BB773976-0CB2-88B3-C898-DA516F13ABFB}"/>
              </a:ext>
            </a:extLst>
          </p:cNvPr>
          <p:cNvSpPr>
            <a:spLocks noGrp="1"/>
          </p:cNvSpPr>
          <p:nvPr/>
        </p:nvSpPr>
        <p:spPr>
          <a:xfrm>
            <a:off x="403860" y="3268980"/>
            <a:ext cx="2286000" cy="365760"/>
          </a:xfrm>
          <a:prstGeom prst="rect">
            <a:avLst/>
          </a:prstGeom>
          <a:noFill/>
          <a:ln w="0">
            <a:noFill/>
            <a:prstDash val="solid"/>
          </a:ln>
        </p:spPr>
        <p:txBody>
          <a:bodyPr lIns="0" tIns="0" rIns="0" bIns="0" anchor="ctr">
            <a:normAutofit/>
          </a:bodyPr>
          <a:lstStyle/>
          <a:p>
            <a:pPr algn="ctr">
              <a:defRPr sz="1950" b="1">
                <a:solidFill>
                  <a:srgbClr val="061A4A"/>
                </a:solidFill>
                <a:latin typeface="Arial"/>
                <a:ea typeface="Arial"/>
                <a:cs typeface="Arial"/>
              </a:defRPr>
            </a:pPr>
            <a:r>
              <a:rPr sz="1560" b="1">
                <a:solidFill>
                  <a:srgbClr val="061A4A"/>
                </a:solidFill>
                <a:latin typeface="Arial"/>
                <a:ea typeface="Arial"/>
                <a:cs typeface="Arial"/>
              </a:rPr>
              <a:t>Save time</a:t>
            </a:r>
          </a:p>
        </p:txBody>
      </p:sp>
      <p:pic>
        <p:nvPicPr>
          <p:cNvPr id="22" name="Picture 21">
            <a:extLst>
              <a:ext uri="{FF2B5EF4-FFF2-40B4-BE49-F238E27FC236}">
                <a16:creationId xmlns:a16="http://schemas.microsoft.com/office/drawing/2014/main" id="{B0E03FA1-0CED-C629-44BF-F1CDB02945B8}"/>
              </a:ext>
            </a:extLst>
          </p:cNvPr>
          <p:cNvPicPr>
            <a:picLocks noChangeAspect="1"/>
          </p:cNvPicPr>
          <p:nvPr/>
        </p:nvPicPr>
        <p:blipFill>
          <a:blip r:embed="rId4"/>
          <a:stretch/>
        </p:blipFill>
        <p:spPr>
          <a:xfrm>
            <a:off x="3108960" y="1630680"/>
            <a:ext cx="1447800" cy="1447800"/>
          </a:xfrm>
          <a:prstGeom prst="rect">
            <a:avLst/>
          </a:prstGeom>
        </p:spPr>
      </p:pic>
      <p:sp>
        <p:nvSpPr>
          <p:cNvPr id="24" name="problem-label">
            <a:extLst>
              <a:ext uri="{FF2B5EF4-FFF2-40B4-BE49-F238E27FC236}">
                <a16:creationId xmlns:a16="http://schemas.microsoft.com/office/drawing/2014/main" id="{D3E42A0F-303D-2872-261E-82E3DD8B7F30}"/>
              </a:ext>
            </a:extLst>
          </p:cNvPr>
          <p:cNvSpPr>
            <a:spLocks noGrp="1"/>
          </p:cNvSpPr>
          <p:nvPr/>
        </p:nvSpPr>
        <p:spPr>
          <a:xfrm>
            <a:off x="2651760" y="3268980"/>
            <a:ext cx="2438400" cy="365760"/>
          </a:xfrm>
          <a:prstGeom prst="rect">
            <a:avLst/>
          </a:prstGeom>
          <a:noFill/>
          <a:ln w="0">
            <a:noFill/>
            <a:prstDash val="solid"/>
          </a:ln>
        </p:spPr>
        <p:txBody>
          <a:bodyPr lIns="0" tIns="0" rIns="0" bIns="0" anchor="ctr">
            <a:normAutofit/>
          </a:bodyPr>
          <a:lstStyle/>
          <a:p>
            <a:pPr algn="ctr">
              <a:defRPr sz="1950" b="1">
                <a:solidFill>
                  <a:srgbClr val="061A4A"/>
                </a:solidFill>
                <a:latin typeface="Arial"/>
                <a:ea typeface="Arial"/>
                <a:cs typeface="Arial"/>
              </a:defRPr>
            </a:pPr>
            <a:r>
              <a:rPr sz="1560" b="1">
                <a:solidFill>
                  <a:srgbClr val="061A4A"/>
                </a:solidFill>
                <a:latin typeface="Arial"/>
                <a:ea typeface="Arial"/>
                <a:cs typeface="Arial"/>
              </a:rPr>
              <a:t>Solve a problem</a:t>
            </a:r>
          </a:p>
        </p:txBody>
      </p:sp>
      <p:pic>
        <p:nvPicPr>
          <p:cNvPr id="26" name="Picture 25">
            <a:extLst>
              <a:ext uri="{FF2B5EF4-FFF2-40B4-BE49-F238E27FC236}">
                <a16:creationId xmlns:a16="http://schemas.microsoft.com/office/drawing/2014/main" id="{C5372198-8E9E-5A40-3AF5-77C26F7BEA95}"/>
              </a:ext>
            </a:extLst>
          </p:cNvPr>
          <p:cNvPicPr>
            <a:picLocks noChangeAspect="1"/>
          </p:cNvPicPr>
          <p:nvPr/>
        </p:nvPicPr>
        <p:blipFill>
          <a:blip r:embed="rId5"/>
          <a:stretch/>
        </p:blipFill>
        <p:spPr>
          <a:xfrm>
            <a:off x="5372100" y="1630680"/>
            <a:ext cx="1447800" cy="1447800"/>
          </a:xfrm>
          <a:prstGeom prst="rect">
            <a:avLst/>
          </a:prstGeom>
        </p:spPr>
      </p:pic>
      <p:sp>
        <p:nvSpPr>
          <p:cNvPr id="28" name="noticed-label">
            <a:extLst>
              <a:ext uri="{FF2B5EF4-FFF2-40B4-BE49-F238E27FC236}">
                <a16:creationId xmlns:a16="http://schemas.microsoft.com/office/drawing/2014/main" id="{C5B6F944-D208-735B-DB20-7824AB26312D}"/>
              </a:ext>
            </a:extLst>
          </p:cNvPr>
          <p:cNvSpPr>
            <a:spLocks noGrp="1"/>
          </p:cNvSpPr>
          <p:nvPr/>
        </p:nvSpPr>
        <p:spPr>
          <a:xfrm>
            <a:off x="5013960" y="3268980"/>
            <a:ext cx="2209800" cy="365760"/>
          </a:xfrm>
          <a:prstGeom prst="rect">
            <a:avLst/>
          </a:prstGeom>
          <a:noFill/>
          <a:ln w="0">
            <a:noFill/>
            <a:prstDash val="solid"/>
          </a:ln>
        </p:spPr>
        <p:txBody>
          <a:bodyPr lIns="0" tIns="0" rIns="0" bIns="0" anchor="ctr">
            <a:normAutofit/>
          </a:bodyPr>
          <a:lstStyle/>
          <a:p>
            <a:pPr algn="ctr">
              <a:defRPr sz="1950" b="1">
                <a:solidFill>
                  <a:srgbClr val="061A4A"/>
                </a:solidFill>
                <a:latin typeface="Arial"/>
                <a:ea typeface="Arial"/>
                <a:cs typeface="Arial"/>
              </a:defRPr>
            </a:pPr>
            <a:r>
              <a:rPr sz="1560" b="1">
                <a:solidFill>
                  <a:srgbClr val="061A4A"/>
                </a:solidFill>
                <a:latin typeface="Arial"/>
                <a:ea typeface="Arial"/>
                <a:cs typeface="Arial"/>
              </a:rPr>
              <a:t>Be noticed</a:t>
            </a:r>
          </a:p>
        </p:txBody>
      </p:sp>
      <p:pic>
        <p:nvPicPr>
          <p:cNvPr id="30" name="Picture 29">
            <a:extLst>
              <a:ext uri="{FF2B5EF4-FFF2-40B4-BE49-F238E27FC236}">
                <a16:creationId xmlns:a16="http://schemas.microsoft.com/office/drawing/2014/main" id="{4959137E-5E33-155C-0CCB-B685CBC67583}"/>
              </a:ext>
            </a:extLst>
          </p:cNvPr>
          <p:cNvPicPr>
            <a:picLocks noChangeAspect="1"/>
          </p:cNvPicPr>
          <p:nvPr/>
        </p:nvPicPr>
        <p:blipFill>
          <a:blip r:embed="rId6"/>
          <a:stretch/>
        </p:blipFill>
        <p:spPr>
          <a:xfrm>
            <a:off x="7719060" y="1630680"/>
            <a:ext cx="1447800" cy="1447800"/>
          </a:xfrm>
          <a:prstGeom prst="rect">
            <a:avLst/>
          </a:prstGeom>
        </p:spPr>
      </p:pic>
      <p:sp>
        <p:nvSpPr>
          <p:cNvPr id="32" name="connect-label">
            <a:extLst>
              <a:ext uri="{FF2B5EF4-FFF2-40B4-BE49-F238E27FC236}">
                <a16:creationId xmlns:a16="http://schemas.microsoft.com/office/drawing/2014/main" id="{BE91F00A-7CA8-E78C-FF04-A0A7E4BF4466}"/>
              </a:ext>
            </a:extLst>
          </p:cNvPr>
          <p:cNvSpPr>
            <a:spLocks noGrp="1"/>
          </p:cNvSpPr>
          <p:nvPr/>
        </p:nvSpPr>
        <p:spPr>
          <a:xfrm>
            <a:off x="7261860" y="3268980"/>
            <a:ext cx="2438400" cy="365760"/>
          </a:xfrm>
          <a:prstGeom prst="rect">
            <a:avLst/>
          </a:prstGeom>
          <a:noFill/>
          <a:ln w="0">
            <a:noFill/>
            <a:prstDash val="solid"/>
          </a:ln>
        </p:spPr>
        <p:txBody>
          <a:bodyPr lIns="0" tIns="0" rIns="0" bIns="0" anchor="ctr">
            <a:normAutofit/>
          </a:bodyPr>
          <a:lstStyle/>
          <a:p>
            <a:pPr algn="ctr">
              <a:defRPr sz="1950" b="1">
                <a:solidFill>
                  <a:srgbClr val="061A4A"/>
                </a:solidFill>
                <a:latin typeface="Arial"/>
                <a:ea typeface="Arial"/>
                <a:cs typeface="Arial"/>
              </a:defRPr>
            </a:pPr>
            <a:r>
              <a:rPr sz="1560" b="1">
                <a:solidFill>
                  <a:srgbClr val="061A4A"/>
                </a:solidFill>
                <a:latin typeface="Arial"/>
                <a:ea typeface="Arial"/>
                <a:cs typeface="Arial"/>
              </a:rPr>
              <a:t>Feel &amp; connect</a:t>
            </a:r>
          </a:p>
        </p:txBody>
      </p:sp>
      <p:pic>
        <p:nvPicPr>
          <p:cNvPr id="35" name="Picture 34">
            <a:extLst>
              <a:ext uri="{FF2B5EF4-FFF2-40B4-BE49-F238E27FC236}">
                <a16:creationId xmlns:a16="http://schemas.microsoft.com/office/drawing/2014/main" id="{FB3870EC-4292-B2B4-BA3C-D771694CB58A}"/>
              </a:ext>
            </a:extLst>
          </p:cNvPr>
          <p:cNvPicPr>
            <a:picLocks noChangeAspect="1"/>
          </p:cNvPicPr>
          <p:nvPr/>
        </p:nvPicPr>
        <p:blipFill>
          <a:blip r:embed="rId7"/>
          <a:stretch/>
        </p:blipFill>
        <p:spPr>
          <a:xfrm>
            <a:off x="9982200" y="1630680"/>
            <a:ext cx="1447800" cy="1447800"/>
          </a:xfrm>
          <a:prstGeom prst="rect">
            <a:avLst/>
          </a:prstGeom>
        </p:spPr>
      </p:pic>
      <p:sp>
        <p:nvSpPr>
          <p:cNvPr id="37" name="wellbeing-label">
            <a:extLst>
              <a:ext uri="{FF2B5EF4-FFF2-40B4-BE49-F238E27FC236}">
                <a16:creationId xmlns:a16="http://schemas.microsoft.com/office/drawing/2014/main" id="{6B0A7433-10AE-AC8A-E748-4EE169DFE00A}"/>
              </a:ext>
            </a:extLst>
          </p:cNvPr>
          <p:cNvSpPr>
            <a:spLocks noGrp="1"/>
          </p:cNvSpPr>
          <p:nvPr/>
        </p:nvSpPr>
        <p:spPr>
          <a:xfrm>
            <a:off x="9357360" y="3268980"/>
            <a:ext cx="2667000" cy="365760"/>
          </a:xfrm>
          <a:prstGeom prst="rect">
            <a:avLst/>
          </a:prstGeom>
          <a:noFill/>
          <a:ln w="0">
            <a:noFill/>
            <a:prstDash val="solid"/>
          </a:ln>
        </p:spPr>
        <p:txBody>
          <a:bodyPr lIns="0" tIns="0" rIns="0" bIns="0" anchor="ctr">
            <a:normAutofit/>
          </a:bodyPr>
          <a:lstStyle/>
          <a:p>
            <a:pPr algn="ctr">
              <a:defRPr sz="1950" b="1">
                <a:solidFill>
                  <a:srgbClr val="061A4A"/>
                </a:solidFill>
                <a:latin typeface="Arial"/>
                <a:ea typeface="Arial"/>
                <a:cs typeface="Arial"/>
              </a:defRPr>
            </a:pPr>
            <a:r>
              <a:rPr sz="1560" b="1">
                <a:solidFill>
                  <a:srgbClr val="061A4A"/>
                </a:solidFill>
                <a:latin typeface="Arial"/>
                <a:ea typeface="Arial"/>
                <a:cs typeface="Arial"/>
              </a:rPr>
              <a:t>Improve well-being</a:t>
            </a:r>
          </a:p>
        </p:txBody>
      </p:sp>
      <p:sp>
        <p:nvSpPr>
          <p:cNvPr id="39" name="protocol-label">
            <a:extLst>
              <a:ext uri="{FF2B5EF4-FFF2-40B4-BE49-F238E27FC236}">
                <a16:creationId xmlns:a16="http://schemas.microsoft.com/office/drawing/2014/main" id="{B42FEFB5-BB26-82B8-CB44-E7C978850C1F}"/>
              </a:ext>
            </a:extLst>
          </p:cNvPr>
          <p:cNvSpPr>
            <a:spLocks noGrp="1"/>
          </p:cNvSpPr>
          <p:nvPr/>
        </p:nvSpPr>
        <p:spPr>
          <a:xfrm>
            <a:off x="899160" y="4381500"/>
            <a:ext cx="3657600" cy="411480"/>
          </a:xfrm>
          <a:prstGeom prst="rect">
            <a:avLst/>
          </a:prstGeom>
          <a:noFill/>
          <a:ln w="0">
            <a:noFill/>
            <a:prstDash val="solid"/>
          </a:ln>
        </p:spPr>
        <p:txBody>
          <a:bodyPr lIns="0" tIns="0" rIns="0" bIns="0" anchor="ctr">
            <a:normAutofit/>
          </a:bodyPr>
          <a:lstStyle/>
          <a:p>
            <a:pPr algn="ctr">
              <a:defRPr sz="2250" b="1">
                <a:solidFill>
                  <a:srgbClr val="0755B5"/>
                </a:solidFill>
                <a:latin typeface="Arial"/>
                <a:ea typeface="Arial"/>
                <a:cs typeface="Arial"/>
              </a:defRPr>
            </a:pPr>
            <a:r>
              <a:rPr b="1">
                <a:solidFill>
                  <a:srgbClr val="0755B5"/>
                </a:solidFill>
                <a:latin typeface="Arial"/>
                <a:ea typeface="Arial"/>
                <a:cs typeface="Arial"/>
              </a:rPr>
              <a:t>MCP · UCP · ACP</a:t>
            </a:r>
          </a:p>
        </p:txBody>
      </p:sp>
      <p:sp>
        <p:nvSpPr>
          <p:cNvPr id="41" name="alignment-label">
            <a:extLst>
              <a:ext uri="{FF2B5EF4-FFF2-40B4-BE49-F238E27FC236}">
                <a16:creationId xmlns:a16="http://schemas.microsoft.com/office/drawing/2014/main" id="{5157715A-C34B-B773-6508-20F57875ACA1}"/>
              </a:ext>
            </a:extLst>
          </p:cNvPr>
          <p:cNvSpPr>
            <a:spLocks noGrp="1"/>
          </p:cNvSpPr>
          <p:nvPr/>
        </p:nvSpPr>
        <p:spPr>
          <a:xfrm>
            <a:off x="5433060" y="4381500"/>
            <a:ext cx="5981700" cy="411480"/>
          </a:xfrm>
          <a:prstGeom prst="rect">
            <a:avLst/>
          </a:prstGeom>
          <a:noFill/>
          <a:ln w="0">
            <a:noFill/>
            <a:prstDash val="solid"/>
          </a:ln>
        </p:spPr>
        <p:txBody>
          <a:bodyPr lIns="0" tIns="0" rIns="0" bIns="0" anchor="ctr">
            <a:normAutofit/>
          </a:bodyPr>
          <a:lstStyle/>
          <a:p>
            <a:pPr algn="ctr">
              <a:defRPr sz="2175" b="1">
                <a:solidFill>
                  <a:srgbClr val="F4510B"/>
                </a:solidFill>
                <a:latin typeface="Arial"/>
                <a:ea typeface="Arial"/>
                <a:cs typeface="Arial"/>
              </a:defRPr>
            </a:pPr>
            <a:r>
              <a:rPr sz="1740" b="1" dirty="0">
                <a:solidFill>
                  <a:srgbClr val="F4510B"/>
                </a:solidFill>
                <a:latin typeface="Arial"/>
                <a:ea typeface="Arial"/>
                <a:cs typeface="Arial"/>
              </a:rPr>
              <a:t>SHOPPING GRAPH + HUMAN ALIGNMENT</a:t>
            </a:r>
          </a:p>
        </p:txBody>
      </p:sp>
      <p:sp>
        <p:nvSpPr>
          <p:cNvPr id="43" name="closing-message">
            <a:extLst>
              <a:ext uri="{FF2B5EF4-FFF2-40B4-BE49-F238E27FC236}">
                <a16:creationId xmlns:a16="http://schemas.microsoft.com/office/drawing/2014/main" id="{967027FA-5AF3-A603-B7E8-DCAD30A4038E}"/>
              </a:ext>
            </a:extLst>
          </p:cNvPr>
          <p:cNvSpPr>
            <a:spLocks noGrp="1"/>
          </p:cNvSpPr>
          <p:nvPr/>
        </p:nvSpPr>
        <p:spPr>
          <a:xfrm>
            <a:off x="1905000" y="4981575"/>
            <a:ext cx="8382000" cy="381000"/>
          </a:xfrm>
          <a:prstGeom prst="rect">
            <a:avLst/>
          </a:prstGeom>
          <a:noFill/>
          <a:ln w="0">
            <a:noFill/>
            <a:prstDash val="solid"/>
          </a:ln>
        </p:spPr>
        <p:txBody>
          <a:bodyPr lIns="0" tIns="0" rIns="0" bIns="0" anchor="ctr">
            <a:normAutofit/>
          </a:bodyPr>
          <a:lstStyle/>
          <a:p>
            <a:pPr algn="ctr">
              <a:defRPr sz="2175" b="0">
                <a:solidFill>
                  <a:srgbClr val="061A4A"/>
                </a:solidFill>
                <a:latin typeface="Arial"/>
                <a:ea typeface="Arial"/>
                <a:cs typeface="Arial"/>
              </a:defRPr>
            </a:pPr>
            <a:r>
              <a:rPr sz="1740" dirty="0">
                <a:solidFill>
                  <a:srgbClr val="061A4A"/>
                </a:solidFill>
                <a:latin typeface="Arial"/>
                <a:ea typeface="Arial"/>
                <a:cs typeface="Arial"/>
              </a:rPr>
              <a:t>AI MARKETING + MARCOM connects utility to human demand</a:t>
            </a:r>
          </a:p>
        </p:txBody>
      </p:sp>
    </p:spTree>
    <p:extLst>
      <p:ext uri="{BB962C8B-B14F-4D97-AF65-F5344CB8AC3E}">
        <p14:creationId xmlns:p14="http://schemas.microsoft.com/office/powerpoint/2010/main" val="386043874"/>
      </p:ext>
    </p:extLst>
  </p:cSld>
  <p:clrMapOvr>
    <a:masterClrMapping/>
  </p:clrMapOvr>
  <mc:AlternateContent xmlns:mc="http://schemas.openxmlformats.org/markup-compatibility/2006" xmlns:p14="http://schemas.microsoft.com/office/powerpoint/2010/main">
    <mc:Choice Requires="p14">
      <p:transition spd="slow" p14:dur="2000" advTm="290634"/>
    </mc:Choice>
    <mc:Fallback xmlns="">
      <p:transition spd="slow" advTm="290634"/>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EFF8C17-59BE-4660-A3B2-FC4B6800DBFF}"/>
              </a:ext>
            </a:extLst>
          </p:cNvPr>
          <p:cNvSpPr>
            <a:spLocks noGrp="1"/>
          </p:cNvSpPr>
          <p:nvPr/>
        </p:nvSpPr>
        <p:spPr>
          <a:xfrm>
            <a:off x="400050" y="266700"/>
            <a:ext cx="4000500" cy="190500"/>
          </a:xfrm>
          <a:prstGeom prst="rect">
            <a:avLst/>
          </a:prstGeom>
          <a:noFill/>
          <a:ln w="0">
            <a:noFill/>
            <a:prstDash val="solid"/>
          </a:ln>
        </p:spPr>
        <p:txBody>
          <a:bodyPr anchor="t">
            <a:normAutofit fontScale="87222" lnSpcReduction="20000"/>
          </a:bodyPr>
          <a:lstStyle/>
          <a:p>
            <a:pPr algn="l">
              <a:buNone/>
              <a:defRPr sz="900" b="1" i="0">
                <a:solidFill>
                  <a:srgbClr val="3D8DFF"/>
                </a:solidFill>
                <a:latin typeface="Helvetica Neue"/>
                <a:ea typeface="Helvetica Neue"/>
                <a:cs typeface="Helvetica Neue"/>
              </a:defRPr>
            </a:pPr>
            <a:r>
              <a:rPr sz="900" b="1" i="0" dirty="0">
                <a:solidFill>
                  <a:srgbClr val="3D8DFF"/>
                </a:solidFill>
                <a:latin typeface="Helvetica Neue"/>
                <a:ea typeface="Helvetica Neue"/>
                <a:cs typeface="Helvetica Neue"/>
              </a:rPr>
              <a:t>MARKET CONTEXT · ONLINE RETAIL</a:t>
            </a:r>
          </a:p>
        </p:txBody>
      </p:sp>
      <p:sp>
        <p:nvSpPr>
          <p:cNvPr id="2" name="Rectangle 1">
            <a:extLst>
              <a:ext uri="{FF2B5EF4-FFF2-40B4-BE49-F238E27FC236}">
                <a16:creationId xmlns:a16="http://schemas.microsoft.com/office/drawing/2014/main" id="{0A407783-9FB2-458F-A134-1515D119F616}"/>
              </a:ext>
            </a:extLst>
          </p:cNvPr>
          <p:cNvSpPr>
            <a:spLocks noGrp="1"/>
          </p:cNvSpPr>
          <p:nvPr/>
        </p:nvSpPr>
        <p:spPr>
          <a:xfrm>
            <a:off x="400050" y="514350"/>
            <a:ext cx="11391900" cy="704850"/>
          </a:xfrm>
          <a:prstGeom prst="rect">
            <a:avLst/>
          </a:prstGeom>
          <a:noFill/>
          <a:ln w="0">
            <a:noFill/>
            <a:prstDash val="solid"/>
          </a:ln>
        </p:spPr>
        <p:txBody>
          <a:bodyPr anchor="t">
            <a:normAutofit fontScale="77500" lnSpcReduction="20000"/>
          </a:bodyPr>
          <a:lstStyle/>
          <a:p>
            <a:pPr algn="l">
              <a:buNone/>
              <a:defRPr sz="3000" b="1" i="0">
                <a:solidFill>
                  <a:srgbClr val="101820"/>
                </a:solidFill>
                <a:latin typeface="Helvetica Neue"/>
                <a:ea typeface="Helvetica Neue"/>
                <a:cs typeface="Helvetica Neue"/>
              </a:defRPr>
            </a:pPr>
            <a:r>
              <a:rPr lang="en-US" sz="3000" b="1" i="0" dirty="0">
                <a:solidFill>
                  <a:srgbClr val="101820"/>
                </a:solidFill>
                <a:latin typeface="Helvetica Neue"/>
                <a:ea typeface="Helvetica Neue"/>
                <a:cs typeface="Helvetica Neue"/>
              </a:rPr>
              <a:t>In Retail E-commerce maturity varies across major retail markets</a:t>
            </a:r>
          </a:p>
          <a:p>
            <a:pPr algn="l">
              <a:buNone/>
              <a:defRPr sz="3000" b="1" i="0">
                <a:solidFill>
                  <a:srgbClr val="101820"/>
                </a:solidFill>
                <a:latin typeface="Helvetica Neue"/>
                <a:ea typeface="Helvetica Neue"/>
                <a:cs typeface="Helvetica Neue"/>
              </a:defRPr>
            </a:pPr>
            <a:r>
              <a:rPr sz="3000" b="1" i="0" dirty="0">
                <a:solidFill>
                  <a:srgbClr val="101820"/>
                </a:solidFill>
                <a:latin typeface="Helvetica Neue"/>
                <a:ea typeface="Helvetica Neue"/>
                <a:cs typeface="Helvetica Neue"/>
              </a:rPr>
              <a:t> </a:t>
            </a:r>
          </a:p>
        </p:txBody>
      </p:sp>
      <p:cxnSp>
        <p:nvCxnSpPr>
          <p:cNvPr id="34" name="Straight Arrow Connector 33"/>
          <p:cNvCxnSpPr/>
          <p:nvPr/>
        </p:nvCxnSpPr>
        <p:spPr>
          <a:xfrm>
            <a:off x="400050" y="6286500"/>
            <a:ext cx="11391900" cy="0"/>
          </a:xfrm>
          <a:prstGeom prst="straightConnector1">
            <a:avLst/>
          </a:prstGeom>
          <a:ln w="9525">
            <a:solidFill>
              <a:srgbClr val="C9CED3"/>
            </a:solidFill>
            <a:prstDash val="solid"/>
          </a:ln>
        </p:spPr>
      </p:cxnSp>
      <p:sp>
        <p:nvSpPr>
          <p:cNvPr id="4" name="Rectangle 3">
            <a:extLst>
              <a:ext uri="{FF2B5EF4-FFF2-40B4-BE49-F238E27FC236}">
                <a16:creationId xmlns:a16="http://schemas.microsoft.com/office/drawing/2014/main" id="{45A39E1F-03EF-4DD0-BCBB-5CDDD69B9A9E}"/>
              </a:ext>
            </a:extLst>
          </p:cNvPr>
          <p:cNvSpPr>
            <a:spLocks noGrp="1"/>
          </p:cNvSpPr>
          <p:nvPr/>
        </p:nvSpPr>
        <p:spPr>
          <a:xfrm>
            <a:off x="400050" y="6391275"/>
            <a:ext cx="4000500" cy="171450"/>
          </a:xfrm>
          <a:prstGeom prst="rect">
            <a:avLst/>
          </a:prstGeom>
          <a:noFill/>
          <a:ln w="0">
            <a:noFill/>
            <a:prstDash val="solid"/>
          </a:ln>
        </p:spPr>
        <p:txBody>
          <a:bodyPr anchor="t">
            <a:normAutofit fontScale="78636" lnSpcReduction="20000"/>
          </a:bodyPr>
          <a:lstStyle/>
          <a:p>
            <a:pPr algn="l">
              <a:buNone/>
              <a:defRPr sz="825" b="1" i="0">
                <a:solidFill>
                  <a:srgbClr val="5E6973"/>
                </a:solidFill>
                <a:latin typeface="Helvetica Neue"/>
                <a:ea typeface="Helvetica Neue"/>
                <a:cs typeface="Helvetica Neue"/>
              </a:defRPr>
            </a:pPr>
            <a:r>
              <a:rPr sz="825" b="1" i="0">
                <a:solidFill>
                  <a:srgbClr val="5E6973"/>
                </a:solidFill>
                <a:latin typeface="Helvetica Neue"/>
                <a:ea typeface="Helvetica Neue"/>
                <a:cs typeface="Helvetica Neue"/>
              </a:rPr>
              <a:t>TRUSTED AGENTIC COMMERCE</a:t>
            </a:r>
          </a:p>
        </p:txBody>
      </p:sp>
      <p:sp>
        <p:nvSpPr>
          <p:cNvPr id="5" name="Rectangle 4">
            <a:extLst>
              <a:ext uri="{FF2B5EF4-FFF2-40B4-BE49-F238E27FC236}">
                <a16:creationId xmlns:a16="http://schemas.microsoft.com/office/drawing/2014/main" id="{3E68ACEE-DB01-4C8B-9AF1-A798FE08398A}"/>
              </a:ext>
            </a:extLst>
          </p:cNvPr>
          <p:cNvSpPr>
            <a:spLocks noGrp="1"/>
          </p:cNvSpPr>
          <p:nvPr/>
        </p:nvSpPr>
        <p:spPr>
          <a:xfrm>
            <a:off x="11239500" y="6372225"/>
            <a:ext cx="552450" cy="190500"/>
          </a:xfrm>
          <a:prstGeom prst="rect">
            <a:avLst/>
          </a:prstGeom>
          <a:noFill/>
          <a:ln w="0">
            <a:noFill/>
            <a:prstDash val="solid"/>
          </a:ln>
        </p:spPr>
        <p:txBody>
          <a:bodyPr anchor="t">
            <a:normAutofit fontScale="87222" lnSpcReduction="20000"/>
          </a:bodyPr>
          <a:lstStyle/>
          <a:p>
            <a:pPr algn="r">
              <a:buNone/>
              <a:defRPr sz="900" b="1" i="0">
                <a:solidFill>
                  <a:srgbClr val="101820"/>
                </a:solidFill>
                <a:latin typeface="Helvetica Neue"/>
                <a:ea typeface="Helvetica Neue"/>
                <a:cs typeface="Helvetica Neue"/>
              </a:defRPr>
            </a:pPr>
            <a:r>
              <a:rPr sz="900" b="1" i="0">
                <a:solidFill>
                  <a:srgbClr val="101820"/>
                </a:solidFill>
                <a:latin typeface="Helvetica Neue"/>
                <a:ea typeface="Helvetica Neue"/>
                <a:cs typeface="Helvetica Neue"/>
              </a:rPr>
              <a:t>03</a:t>
            </a:r>
          </a:p>
        </p:txBody>
      </p:sp>
      <p:sp>
        <p:nvSpPr>
          <p:cNvPr id="6" name="Rectangle 5">
            <a:extLst>
              <a:ext uri="{FF2B5EF4-FFF2-40B4-BE49-F238E27FC236}">
                <a16:creationId xmlns:a16="http://schemas.microsoft.com/office/drawing/2014/main" id="{0941CF0B-2287-4248-8AB5-267348248D90}"/>
              </a:ext>
            </a:extLst>
          </p:cNvPr>
          <p:cNvSpPr>
            <a:spLocks noGrp="1"/>
          </p:cNvSpPr>
          <p:nvPr/>
        </p:nvSpPr>
        <p:spPr>
          <a:xfrm>
            <a:off x="400050" y="1419225"/>
            <a:ext cx="5619750" cy="285750"/>
          </a:xfrm>
          <a:prstGeom prst="rect">
            <a:avLst/>
          </a:prstGeom>
          <a:noFill/>
          <a:ln w="0">
            <a:noFill/>
            <a:prstDash val="solid"/>
          </a:ln>
        </p:spPr>
        <p:txBody>
          <a:bodyPr anchor="t">
            <a:normAutofit fontScale="92273" lnSpcReduction="20000"/>
          </a:bodyPr>
          <a:lstStyle/>
          <a:p>
            <a:pPr algn="l">
              <a:buNone/>
              <a:defRPr sz="1650" b="1" i="0">
                <a:solidFill>
                  <a:srgbClr val="101820"/>
                </a:solidFill>
                <a:latin typeface="Helvetica Neue"/>
                <a:ea typeface="Helvetica Neue"/>
                <a:cs typeface="Helvetica Neue"/>
              </a:defRPr>
            </a:pPr>
            <a:r>
              <a:rPr sz="1650" b="1" i="0" dirty="0">
                <a:solidFill>
                  <a:srgbClr val="101820"/>
                </a:solidFill>
                <a:latin typeface="Helvetica Neue"/>
                <a:ea typeface="Helvetica Neue"/>
                <a:cs typeface="Helvetica Neue"/>
              </a:rPr>
              <a:t>2025 online share of total retail sales</a:t>
            </a:r>
          </a:p>
        </p:txBody>
      </p:sp>
      <p:sp>
        <p:nvSpPr>
          <p:cNvPr id="7" name="Rectangle 6">
            <a:extLst>
              <a:ext uri="{FF2B5EF4-FFF2-40B4-BE49-F238E27FC236}">
                <a16:creationId xmlns:a16="http://schemas.microsoft.com/office/drawing/2014/main" id="{3C86AC27-3430-4CDC-A12C-8E632FCD1A4A}"/>
              </a:ext>
            </a:extLst>
          </p:cNvPr>
          <p:cNvSpPr>
            <a:spLocks noGrp="1"/>
          </p:cNvSpPr>
          <p:nvPr/>
        </p:nvSpPr>
        <p:spPr>
          <a:xfrm>
            <a:off x="400050" y="1733550"/>
            <a:ext cx="5619750" cy="219075"/>
          </a:xfrm>
          <a:prstGeom prst="rect">
            <a:avLst/>
          </a:prstGeom>
          <a:noFill/>
          <a:ln w="0">
            <a:noFill/>
            <a:prstDash val="solid"/>
          </a:ln>
        </p:spPr>
        <p:txBody>
          <a:bodyPr anchor="t">
            <a:normAutofit fontScale="87262" lnSpcReduction="10000"/>
          </a:bodyPr>
          <a:lstStyle/>
          <a:p>
            <a:pPr algn="l">
              <a:buNone/>
              <a:defRPr sz="1050" b="0" i="0">
                <a:solidFill>
                  <a:srgbClr val="5E6973"/>
                </a:solidFill>
                <a:latin typeface="Helvetica Neue"/>
                <a:ea typeface="Helvetica Neue"/>
                <a:cs typeface="Helvetica Neue"/>
              </a:defRPr>
            </a:pPr>
            <a:r>
              <a:rPr sz="1050" b="0" i="0">
                <a:solidFill>
                  <a:srgbClr val="5E6973"/>
                </a:solidFill>
                <a:latin typeface="Helvetica Neue"/>
                <a:ea typeface="Helvetica Neue"/>
                <a:cs typeface="Helvetica Neue"/>
              </a:rPr>
              <a:t>Selected markets · percent of total retail</a:t>
            </a:r>
          </a:p>
        </p:txBody>
      </p:sp>
      <p:graphicFrame>
        <p:nvGraphicFramePr>
          <p:cNvPr id="8" name="Chart">
            <a:extLst>
              <a:ext uri="{FF2B5EF4-FFF2-40B4-BE49-F238E27FC236}">
                <a16:creationId xmlns:a16="http://schemas.microsoft.com/office/drawing/2014/main" id="{79393D96-DF9C-0D5C-0BD8-D16E82293703}"/>
              </a:ext>
            </a:extLst>
          </p:cNvPr>
          <p:cNvGraphicFramePr/>
          <p:nvPr>
            <p:extLst>
              <p:ext uri="{D42A27DB-BD31-4B8C-83A1-F6EECF244321}">
                <p14:modId xmlns:p14="http://schemas.microsoft.com/office/powerpoint/2010/main" val="3765976781"/>
              </p:ext>
            </p:extLst>
          </p:nvPr>
        </p:nvGraphicFramePr>
        <p:xfrm>
          <a:off x="434975" y="2076450"/>
          <a:ext cx="6565900" cy="3676650"/>
        </p:xfrm>
        <a:graphic>
          <a:graphicData uri="http://schemas.openxmlformats.org/drawingml/2006/chart">
            <c:chart xmlns:c="http://schemas.openxmlformats.org/drawingml/2006/chart" xmlns:r="http://schemas.openxmlformats.org/officeDocument/2006/relationships" r:id="rId3"/>
          </a:graphicData>
        </a:graphic>
      </p:graphicFrame>
      <p:sp>
        <p:nvSpPr>
          <p:cNvPr id="18" name="interpretation-rail">
            <a:extLst>
              <a:ext uri="{FF2B5EF4-FFF2-40B4-BE49-F238E27FC236}">
                <a16:creationId xmlns:a16="http://schemas.microsoft.com/office/drawing/2014/main" id="{DF5864D3-4540-6791-EB35-5E094C31AC0C}"/>
              </a:ext>
            </a:extLst>
          </p:cNvPr>
          <p:cNvSpPr>
            <a:spLocks noGrp="1"/>
          </p:cNvSpPr>
          <p:nvPr/>
        </p:nvSpPr>
        <p:spPr>
          <a:xfrm>
            <a:off x="7026458" y="1495426"/>
            <a:ext cx="4882783" cy="3743323"/>
          </a:xfrm>
          <a:prstGeom prst="rect">
            <a:avLst/>
          </a:prstGeom>
          <a:solidFill>
            <a:srgbClr val="F1F5F9"/>
          </a:solidFill>
          <a:ln w="9525">
            <a:solidFill>
              <a:srgbClr val="D9E1EA"/>
            </a:solidFill>
            <a:prstDash val="solid"/>
          </a:ln>
        </p:spPr>
        <p:txBody>
          <a:bodyPr/>
          <a:lstStyle/>
          <a:p>
            <a:endParaRPr lang="en-CA"/>
          </a:p>
        </p:txBody>
      </p:sp>
      <p:sp>
        <p:nvSpPr>
          <p:cNvPr id="20" name="rail-heading">
            <a:extLst>
              <a:ext uri="{FF2B5EF4-FFF2-40B4-BE49-F238E27FC236}">
                <a16:creationId xmlns:a16="http://schemas.microsoft.com/office/drawing/2014/main" id="{6227F219-AF04-B5E0-6DBE-3B2F04DA6746}"/>
              </a:ext>
            </a:extLst>
          </p:cNvPr>
          <p:cNvSpPr>
            <a:spLocks noGrp="1"/>
          </p:cNvSpPr>
          <p:nvPr/>
        </p:nvSpPr>
        <p:spPr>
          <a:xfrm>
            <a:off x="7655287" y="1724025"/>
            <a:ext cx="3965213" cy="314706"/>
          </a:xfrm>
          <a:prstGeom prst="rect">
            <a:avLst/>
          </a:prstGeom>
          <a:noFill/>
          <a:ln w="0">
            <a:noFill/>
            <a:prstDash val="solid"/>
          </a:ln>
        </p:spPr>
        <p:txBody>
          <a:bodyPr/>
          <a:lstStyle/>
          <a:p>
            <a:pPr>
              <a:defRPr sz="1800" b="1">
                <a:solidFill>
                  <a:srgbClr val="0B1220"/>
                </a:solidFill>
                <a:latin typeface="Arial"/>
                <a:ea typeface="Arial"/>
                <a:cs typeface="Arial"/>
              </a:defRPr>
            </a:pPr>
            <a:r>
              <a:rPr sz="1800" b="1">
                <a:solidFill>
                  <a:srgbClr val="0B1220"/>
                </a:solidFill>
                <a:latin typeface="Arial"/>
                <a:ea typeface="Arial"/>
                <a:cs typeface="Arial"/>
              </a:rPr>
              <a:t>What the gap means</a:t>
            </a:r>
          </a:p>
        </p:txBody>
      </p:sp>
      <p:sp>
        <p:nvSpPr>
          <p:cNvPr id="22" name="china-stat">
            <a:extLst>
              <a:ext uri="{FF2B5EF4-FFF2-40B4-BE49-F238E27FC236}">
                <a16:creationId xmlns:a16="http://schemas.microsoft.com/office/drawing/2014/main" id="{4E8D904E-B221-D824-13D8-C61E0873A5DB}"/>
              </a:ext>
            </a:extLst>
          </p:cNvPr>
          <p:cNvSpPr>
            <a:spLocks noGrp="1"/>
          </p:cNvSpPr>
          <p:nvPr/>
        </p:nvSpPr>
        <p:spPr>
          <a:xfrm>
            <a:off x="7485242" y="2314957"/>
            <a:ext cx="3965213" cy="645975"/>
          </a:xfrm>
          <a:prstGeom prst="rect">
            <a:avLst/>
          </a:prstGeom>
          <a:noFill/>
          <a:ln w="0">
            <a:noFill/>
            <a:prstDash val="solid"/>
          </a:ln>
        </p:spPr>
        <p:txBody>
          <a:bodyPr/>
          <a:lstStyle/>
          <a:p>
            <a:pPr>
              <a:defRPr sz="3525" b="1">
                <a:solidFill>
                  <a:srgbClr val="2474FF"/>
                </a:solidFill>
                <a:latin typeface="Arial"/>
                <a:ea typeface="Arial"/>
                <a:cs typeface="Arial"/>
              </a:defRPr>
            </a:pPr>
            <a:r>
              <a:rPr sz="2800" b="1" dirty="0">
                <a:solidFill>
                  <a:srgbClr val="2474FF"/>
                </a:solidFill>
                <a:latin typeface="Arial"/>
                <a:ea typeface="Arial"/>
                <a:cs typeface="Arial"/>
              </a:rPr>
              <a:t>3</a:t>
            </a:r>
            <a:r>
              <a:rPr lang="en-CA" sz="2800" b="1" dirty="0">
                <a:solidFill>
                  <a:srgbClr val="2474FF"/>
                </a:solidFill>
                <a:latin typeface="Arial"/>
                <a:ea typeface="Arial"/>
                <a:cs typeface="Arial"/>
              </a:rPr>
              <a:t> Markets</a:t>
            </a:r>
            <a:r>
              <a:rPr sz="2800" b="1" dirty="0">
                <a:solidFill>
                  <a:srgbClr val="2474FF"/>
                </a:solidFill>
                <a:latin typeface="Arial"/>
                <a:ea typeface="Arial"/>
                <a:cs typeface="Arial"/>
              </a:rPr>
              <a:t> </a:t>
            </a:r>
            <a:r>
              <a:rPr lang="en-CA" sz="2800" b="1" dirty="0">
                <a:solidFill>
                  <a:srgbClr val="2474FF"/>
                </a:solidFill>
                <a:latin typeface="Arial"/>
                <a:ea typeface="Arial"/>
                <a:cs typeface="Arial"/>
              </a:rPr>
              <a:t>&lt; Covid Era </a:t>
            </a:r>
            <a:endParaRPr sz="2800" b="1" dirty="0">
              <a:solidFill>
                <a:srgbClr val="2474FF"/>
              </a:solidFill>
              <a:latin typeface="Arial"/>
              <a:ea typeface="Arial"/>
              <a:cs typeface="Arial"/>
            </a:endParaRPr>
          </a:p>
        </p:txBody>
      </p:sp>
      <p:sp>
        <p:nvSpPr>
          <p:cNvPr id="24" name="implication-copy">
            <a:extLst>
              <a:ext uri="{FF2B5EF4-FFF2-40B4-BE49-F238E27FC236}">
                <a16:creationId xmlns:a16="http://schemas.microsoft.com/office/drawing/2014/main" id="{41121AA9-ED3A-40A7-B170-ECC90AC0DC5F}"/>
              </a:ext>
            </a:extLst>
          </p:cNvPr>
          <p:cNvSpPr>
            <a:spLocks noGrp="1"/>
          </p:cNvSpPr>
          <p:nvPr/>
        </p:nvSpPr>
        <p:spPr>
          <a:xfrm>
            <a:off x="7333028" y="3046656"/>
            <a:ext cx="4423997" cy="1573530"/>
          </a:xfrm>
          <a:prstGeom prst="rect">
            <a:avLst/>
          </a:prstGeom>
          <a:noFill/>
          <a:ln w="0">
            <a:noFill/>
            <a:prstDash val="solid"/>
          </a:ln>
        </p:spPr>
        <p:txBody>
          <a:bodyPr/>
          <a:lstStyle/>
          <a:p>
            <a:pPr>
              <a:defRPr sz="1125">
                <a:solidFill>
                  <a:srgbClr val="334155"/>
                </a:solidFill>
                <a:latin typeface="Arial"/>
                <a:ea typeface="Arial"/>
                <a:cs typeface="Arial"/>
              </a:defRPr>
            </a:pPr>
            <a:r>
              <a:rPr sz="1400" dirty="0">
                <a:solidFill>
                  <a:srgbClr val="334155"/>
                </a:solidFill>
                <a:latin typeface="Arial"/>
                <a:ea typeface="Arial"/>
                <a:cs typeface="Arial"/>
              </a:rPr>
              <a:t>China, the UK and South Korea set the hardest benchmark: even sustained growth may only recover their pandemic high.</a:t>
            </a:r>
          </a:p>
          <a:p>
            <a:endParaRPr sz="1400" dirty="0">
              <a:solidFill>
                <a:srgbClr val="334155"/>
              </a:solidFill>
              <a:latin typeface="Arial"/>
              <a:ea typeface="Arial"/>
              <a:cs typeface="Arial"/>
            </a:endParaRPr>
          </a:p>
          <a:p>
            <a:pPr>
              <a:defRPr sz="1125">
                <a:solidFill>
                  <a:srgbClr val="334155"/>
                </a:solidFill>
                <a:latin typeface="Arial"/>
                <a:ea typeface="Arial"/>
                <a:cs typeface="Arial"/>
              </a:defRPr>
            </a:pPr>
            <a:r>
              <a:rPr sz="1400" dirty="0">
                <a:solidFill>
                  <a:srgbClr val="334155"/>
                </a:solidFill>
                <a:latin typeface="Arial"/>
                <a:ea typeface="Arial"/>
                <a:cs typeface="Arial"/>
              </a:rPr>
              <a:t>North America and the rest of the world remain predominantly store-led—leaving more share for agentic commerce to unlock.</a:t>
            </a:r>
          </a:p>
        </p:txBody>
      </p:sp>
    </p:spTree>
    <p:extLst>
      <p:ext uri="{BB962C8B-B14F-4D97-AF65-F5344CB8AC3E}">
        <p14:creationId xmlns:p14="http://schemas.microsoft.com/office/powerpoint/2010/main" val="52818276"/>
      </p:ext>
    </p:extLst>
  </p:cSld>
  <p:clrMapOvr>
    <a:masterClrMapping/>
  </p:clrMapOvr>
  <mc:AlternateContent xmlns:mc="http://schemas.openxmlformats.org/markup-compatibility/2006" xmlns:p14="http://schemas.microsoft.com/office/powerpoint/2010/main">
    <mc:Choice Requires="p14">
      <p:transition spd="slow" p14:dur="2000" advTm="107099"/>
    </mc:Choice>
    <mc:Fallback xmlns="">
      <p:transition spd="slow" advTm="107099"/>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value-title">
            <a:extLst>
              <a:ext uri="{FF2B5EF4-FFF2-40B4-BE49-F238E27FC236}">
                <a16:creationId xmlns:a16="http://schemas.microsoft.com/office/drawing/2014/main" id="{8DAC9E43-EB40-43F1-B518-2A4F6A644061}"/>
              </a:ext>
            </a:extLst>
          </p:cNvPr>
          <p:cNvSpPr>
            <a:spLocks noGrp="1"/>
          </p:cNvSpPr>
          <p:nvPr/>
        </p:nvSpPr>
        <p:spPr>
          <a:xfrm>
            <a:off x="400050" y="412750"/>
            <a:ext cx="11201400" cy="781050"/>
          </a:xfrm>
          <a:prstGeom prst="rect">
            <a:avLst/>
          </a:prstGeom>
          <a:noFill/>
          <a:ln w="0">
            <a:noFill/>
            <a:prstDash val="solid"/>
          </a:ln>
        </p:spPr>
        <p:txBody>
          <a:bodyPr/>
          <a:lstStyle/>
          <a:p>
            <a:pPr>
              <a:buNone/>
              <a:defRPr sz="2925" b="1">
                <a:solidFill>
                  <a:srgbClr val="0B1220"/>
                </a:solidFill>
                <a:latin typeface="Arial"/>
                <a:ea typeface="Arial"/>
                <a:cs typeface="Arial"/>
              </a:defRPr>
            </a:pPr>
            <a:r>
              <a:rPr sz="2925" b="1" dirty="0">
                <a:solidFill>
                  <a:srgbClr val="0B1220"/>
                </a:solidFill>
                <a:latin typeface="Arial"/>
                <a:ea typeface="Arial"/>
                <a:cs typeface="Arial"/>
              </a:rPr>
              <a:t>B2B e-commerce could top $100T by 2033</a:t>
            </a:r>
          </a:p>
        </p:txBody>
      </p:sp>
      <p:sp>
        <p:nvSpPr>
          <p:cNvPr id="2" name="value-subtitle">
            <a:extLst>
              <a:ext uri="{FF2B5EF4-FFF2-40B4-BE49-F238E27FC236}">
                <a16:creationId xmlns:a16="http://schemas.microsoft.com/office/drawing/2014/main" id="{FD772939-D4CE-46F7-8ED4-BF145DB8720C}"/>
              </a:ext>
            </a:extLst>
          </p:cNvPr>
          <p:cNvSpPr>
            <a:spLocks noGrp="1"/>
          </p:cNvSpPr>
          <p:nvPr/>
        </p:nvSpPr>
        <p:spPr>
          <a:xfrm>
            <a:off x="533400" y="1339850"/>
            <a:ext cx="10001250" cy="342900"/>
          </a:xfrm>
          <a:prstGeom prst="rect">
            <a:avLst/>
          </a:prstGeom>
          <a:noFill/>
          <a:ln w="0">
            <a:noFill/>
            <a:prstDash val="solid"/>
          </a:ln>
        </p:spPr>
        <p:txBody>
          <a:bodyPr/>
          <a:lstStyle/>
          <a:p>
            <a:pPr>
              <a:buNone/>
              <a:defRPr sz="1350">
                <a:solidFill>
                  <a:srgbClr val="536070"/>
                </a:solidFill>
                <a:latin typeface="Arial"/>
                <a:ea typeface="Arial"/>
                <a:cs typeface="Arial"/>
              </a:defRPr>
            </a:pPr>
            <a:r>
              <a:rPr sz="1350">
                <a:solidFill>
                  <a:srgbClr val="536070"/>
                </a:solidFill>
                <a:latin typeface="Arial"/>
                <a:ea typeface="Arial"/>
                <a:cs typeface="Arial"/>
              </a:rPr>
              <a:t>Market estimate rises from $24.1T in 2025 to $105.9T in 2033</a:t>
            </a:r>
          </a:p>
        </p:txBody>
      </p:sp>
      <p:sp>
        <p:nvSpPr>
          <p:cNvPr id="3" name="value-unit-label">
            <a:extLst>
              <a:ext uri="{FF2B5EF4-FFF2-40B4-BE49-F238E27FC236}">
                <a16:creationId xmlns:a16="http://schemas.microsoft.com/office/drawing/2014/main" id="{60F18C72-84B6-44FD-899A-EFD844D3EBD4}"/>
              </a:ext>
            </a:extLst>
          </p:cNvPr>
          <p:cNvSpPr>
            <a:spLocks noGrp="1"/>
          </p:cNvSpPr>
          <p:nvPr/>
        </p:nvSpPr>
        <p:spPr>
          <a:xfrm>
            <a:off x="533400" y="1768475"/>
            <a:ext cx="3048000" cy="247650"/>
          </a:xfrm>
          <a:prstGeom prst="rect">
            <a:avLst/>
          </a:prstGeom>
          <a:noFill/>
          <a:ln w="0">
            <a:noFill/>
            <a:prstDash val="solid"/>
          </a:ln>
        </p:spPr>
        <p:txBody>
          <a:bodyPr/>
          <a:lstStyle/>
          <a:p>
            <a:pPr>
              <a:buNone/>
              <a:defRPr sz="1125" b="1">
                <a:solidFill>
                  <a:srgbClr val="536070"/>
                </a:solidFill>
                <a:latin typeface="Arial"/>
                <a:ea typeface="Arial"/>
                <a:cs typeface="Arial"/>
              </a:defRPr>
            </a:pPr>
            <a:r>
              <a:rPr sz="1125" b="1">
                <a:solidFill>
                  <a:srgbClr val="536070"/>
                </a:solidFill>
                <a:latin typeface="Arial"/>
                <a:ea typeface="Arial"/>
                <a:cs typeface="Arial"/>
              </a:rPr>
              <a:t>USD trillions</a:t>
            </a:r>
          </a:p>
        </p:txBody>
      </p:sp>
      <p:graphicFrame>
        <p:nvGraphicFramePr>
          <p:cNvPr id="11" name="Chart"/>
          <p:cNvGraphicFramePr/>
          <p:nvPr>
            <p:extLst>
              <p:ext uri="{D42A27DB-BD31-4B8C-83A1-F6EECF244321}">
                <p14:modId xmlns:p14="http://schemas.microsoft.com/office/powerpoint/2010/main" val="142982232"/>
              </p:ext>
            </p:extLst>
          </p:nvPr>
        </p:nvGraphicFramePr>
        <p:xfrm>
          <a:off x="476250" y="2082800"/>
          <a:ext cx="11239500" cy="3857625"/>
        </p:xfrm>
        <a:graphic>
          <a:graphicData uri="http://schemas.openxmlformats.org/drawingml/2006/chart">
            <c:chart xmlns:c="http://schemas.openxmlformats.org/drawingml/2006/chart" xmlns:r="http://schemas.openxmlformats.org/officeDocument/2006/relationships" r:id="rId3"/>
          </a:graphicData>
        </a:graphic>
      </p:graphicFrame>
      <p:sp>
        <p:nvSpPr>
          <p:cNvPr id="5" name="value-footnote">
            <a:extLst>
              <a:ext uri="{FF2B5EF4-FFF2-40B4-BE49-F238E27FC236}">
                <a16:creationId xmlns:a16="http://schemas.microsoft.com/office/drawing/2014/main" id="{5AF3159C-9CC2-43C9-9FB8-1344CA47A883}"/>
              </a:ext>
            </a:extLst>
          </p:cNvPr>
          <p:cNvSpPr>
            <a:spLocks noGrp="1"/>
          </p:cNvSpPr>
          <p:nvPr/>
        </p:nvSpPr>
        <p:spPr>
          <a:xfrm>
            <a:off x="533400" y="6092825"/>
            <a:ext cx="11049000" cy="704850"/>
          </a:xfrm>
          <a:prstGeom prst="rect">
            <a:avLst/>
          </a:prstGeom>
          <a:noFill/>
          <a:ln w="0">
            <a:noFill/>
            <a:prstDash val="solid"/>
          </a:ln>
        </p:spPr>
        <p:txBody>
          <a:bodyPr/>
          <a:lstStyle/>
          <a:p>
            <a:pPr>
              <a:buNone/>
              <a:defRPr sz="900">
                <a:solidFill>
                  <a:srgbClr val="697586"/>
                </a:solidFill>
                <a:latin typeface="Arial"/>
                <a:ea typeface="Arial"/>
                <a:cs typeface="Arial"/>
              </a:defRPr>
            </a:pPr>
            <a:r>
              <a:rPr sz="900">
                <a:solidFill>
                  <a:srgbClr val="697586"/>
                </a:solidFill>
                <a:latin typeface="Arial"/>
                <a:ea typeface="Arial"/>
                <a:cs typeface="Arial"/>
              </a:rPr>
              <a:t>2025 and 2033 are Grand View Research estimates; 2029 is calculated from the stated 20.9% CAGR. Market definitions vary by provider.</a:t>
            </a:r>
          </a:p>
        </p:txBody>
      </p:sp>
      <p:sp>
        <p:nvSpPr>
          <p:cNvPr id="7" name="Rectangle 6">
            <a:extLst>
              <a:ext uri="{FF2B5EF4-FFF2-40B4-BE49-F238E27FC236}">
                <a16:creationId xmlns:a16="http://schemas.microsoft.com/office/drawing/2014/main" id="{3EE2FCEC-7772-7A96-8C22-B396C3CC7464}"/>
              </a:ext>
            </a:extLst>
          </p:cNvPr>
          <p:cNvSpPr>
            <a:spLocks noGrp="1"/>
          </p:cNvSpPr>
          <p:nvPr/>
        </p:nvSpPr>
        <p:spPr>
          <a:xfrm>
            <a:off x="400050" y="266700"/>
            <a:ext cx="4000500" cy="190500"/>
          </a:xfrm>
          <a:prstGeom prst="rect">
            <a:avLst/>
          </a:prstGeom>
          <a:noFill/>
          <a:ln w="0">
            <a:noFill/>
            <a:prstDash val="solid"/>
          </a:ln>
        </p:spPr>
        <p:txBody>
          <a:bodyPr anchor="t">
            <a:normAutofit fontScale="87222" lnSpcReduction="20000"/>
          </a:bodyPr>
          <a:lstStyle/>
          <a:p>
            <a:pPr>
              <a:defRPr sz="900" b="1" i="0">
                <a:solidFill>
                  <a:srgbClr val="3D8DFF"/>
                </a:solidFill>
                <a:latin typeface="Helvetica Neue"/>
                <a:ea typeface="Helvetica Neue"/>
                <a:cs typeface="Helvetica Neue"/>
              </a:defRPr>
            </a:pPr>
            <a:r>
              <a:rPr lang="en-CA" sz="900" b="1" dirty="0">
                <a:solidFill>
                  <a:srgbClr val="3D8DFF"/>
                </a:solidFill>
                <a:latin typeface="Helvetica Neue"/>
                <a:ea typeface="Helvetica Neue"/>
                <a:cs typeface="Helvetica Neue"/>
              </a:rPr>
              <a:t>MARKET CONTEXT · B2B eCommerce</a:t>
            </a:r>
          </a:p>
        </p:txBody>
      </p:sp>
    </p:spTree>
    <p:extLst>
      <p:ext uri="{BB962C8B-B14F-4D97-AF65-F5344CB8AC3E}">
        <p14:creationId xmlns:p14="http://schemas.microsoft.com/office/powerpoint/2010/main" val="13863673"/>
      </p:ext>
    </p:extLst>
  </p:cSld>
  <p:clrMapOvr>
    <a:masterClrMapping/>
  </p:clrMapOvr>
  <mc:AlternateContent xmlns:mc="http://schemas.openxmlformats.org/markup-compatibility/2006" xmlns:p14="http://schemas.microsoft.com/office/powerpoint/2010/main">
    <mc:Choice Requires="p14">
      <p:transition spd="slow" p14:dur="2000" advTm="185822"/>
    </mc:Choice>
    <mc:Fallback xmlns="">
      <p:transition spd="slow" advTm="18582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5B19D-74BA-FF9E-9386-32ABA6D9F1D0}"/>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BE3E0815-D321-C50D-5D0F-0A01525B7EEC}"/>
              </a:ext>
            </a:extLst>
          </p:cNvPr>
          <p:cNvSpPr>
            <a:spLocks noGrp="1"/>
          </p:cNvSpPr>
          <p:nvPr/>
        </p:nvSpPr>
        <p:spPr>
          <a:xfrm>
            <a:off x="400050" y="266700"/>
            <a:ext cx="4000500" cy="190500"/>
          </a:xfrm>
          <a:prstGeom prst="rect">
            <a:avLst/>
          </a:prstGeom>
          <a:noFill/>
          <a:ln w="0">
            <a:noFill/>
            <a:prstDash val="solid"/>
          </a:ln>
        </p:spPr>
        <p:txBody>
          <a:bodyPr anchor="t">
            <a:normAutofit fontScale="87222" lnSpcReduction="20000"/>
          </a:bodyPr>
          <a:lstStyle/>
          <a:p>
            <a:pPr>
              <a:defRPr sz="900" b="1" i="0">
                <a:solidFill>
                  <a:srgbClr val="3D8DFF"/>
                </a:solidFill>
                <a:latin typeface="Helvetica Neue"/>
                <a:ea typeface="Helvetica Neue"/>
                <a:cs typeface="Helvetica Neue"/>
              </a:defRPr>
            </a:pPr>
            <a:r>
              <a:rPr lang="en-CA" sz="900" b="1" dirty="0">
                <a:solidFill>
                  <a:srgbClr val="3D8DFF"/>
                </a:solidFill>
                <a:latin typeface="Helvetica Neue"/>
                <a:ea typeface="Helvetica Neue"/>
                <a:cs typeface="Helvetica Neue"/>
              </a:rPr>
              <a:t>MARKET CONTEXT · ONLINE RETAIL</a:t>
            </a:r>
          </a:p>
        </p:txBody>
      </p:sp>
      <p:sp>
        <p:nvSpPr>
          <p:cNvPr id="2" name="Rectangle 1">
            <a:extLst>
              <a:ext uri="{FF2B5EF4-FFF2-40B4-BE49-F238E27FC236}">
                <a16:creationId xmlns:a16="http://schemas.microsoft.com/office/drawing/2014/main" id="{01312B77-61CF-B550-FADD-A3595537653B}"/>
              </a:ext>
            </a:extLst>
          </p:cNvPr>
          <p:cNvSpPr>
            <a:spLocks noGrp="1"/>
          </p:cNvSpPr>
          <p:nvPr/>
        </p:nvSpPr>
        <p:spPr>
          <a:xfrm>
            <a:off x="400050" y="514350"/>
            <a:ext cx="11391900" cy="704850"/>
          </a:xfrm>
          <a:prstGeom prst="rect">
            <a:avLst/>
          </a:prstGeom>
          <a:noFill/>
          <a:ln w="0">
            <a:noFill/>
            <a:prstDash val="solid"/>
          </a:ln>
        </p:spPr>
        <p:txBody>
          <a:bodyPr anchor="t">
            <a:normAutofit/>
          </a:bodyPr>
          <a:lstStyle/>
          <a:p>
            <a:pPr>
              <a:defRPr sz="2775" b="1">
                <a:solidFill>
                  <a:srgbClr val="0B1220"/>
                </a:solidFill>
                <a:latin typeface="Arial"/>
                <a:ea typeface="Arial"/>
                <a:cs typeface="Arial"/>
              </a:defRPr>
            </a:pPr>
            <a:r>
              <a:rPr lang="en-US" sz="3200" b="1" dirty="0">
                <a:solidFill>
                  <a:srgbClr val="0B1220"/>
                </a:solidFill>
                <a:latin typeface="Arial"/>
                <a:ea typeface="Arial"/>
                <a:cs typeface="Arial"/>
              </a:rPr>
              <a:t>Shopping attention spans several research channels</a:t>
            </a:r>
          </a:p>
        </p:txBody>
      </p:sp>
      <p:sp>
        <p:nvSpPr>
          <p:cNvPr id="4" name="Rectangle 3">
            <a:extLst>
              <a:ext uri="{FF2B5EF4-FFF2-40B4-BE49-F238E27FC236}">
                <a16:creationId xmlns:a16="http://schemas.microsoft.com/office/drawing/2014/main" id="{E2D70495-0FEF-F7C1-2A27-0EDD3BA74BEA}"/>
              </a:ext>
            </a:extLst>
          </p:cNvPr>
          <p:cNvSpPr>
            <a:spLocks noGrp="1"/>
          </p:cNvSpPr>
          <p:nvPr/>
        </p:nvSpPr>
        <p:spPr>
          <a:xfrm>
            <a:off x="400050" y="6391275"/>
            <a:ext cx="4000500" cy="171450"/>
          </a:xfrm>
          <a:prstGeom prst="rect">
            <a:avLst/>
          </a:prstGeom>
          <a:noFill/>
          <a:ln w="0">
            <a:noFill/>
            <a:prstDash val="solid"/>
          </a:ln>
        </p:spPr>
        <p:txBody>
          <a:bodyPr anchor="t">
            <a:normAutofit fontScale="78636" lnSpcReduction="20000"/>
          </a:bodyPr>
          <a:lstStyle/>
          <a:p>
            <a:pPr algn="l">
              <a:buNone/>
              <a:defRPr sz="825" b="1" i="0">
                <a:solidFill>
                  <a:srgbClr val="5E6973"/>
                </a:solidFill>
                <a:latin typeface="Helvetica Neue"/>
                <a:ea typeface="Helvetica Neue"/>
                <a:cs typeface="Helvetica Neue"/>
              </a:defRPr>
            </a:pPr>
            <a:r>
              <a:rPr sz="825" b="1" i="0">
                <a:solidFill>
                  <a:srgbClr val="5E6973"/>
                </a:solidFill>
                <a:latin typeface="Helvetica Neue"/>
                <a:ea typeface="Helvetica Neue"/>
                <a:cs typeface="Helvetica Neue"/>
              </a:rPr>
              <a:t>TRUSTED AGENTIC COMMERCE</a:t>
            </a:r>
          </a:p>
        </p:txBody>
      </p:sp>
      <p:sp>
        <p:nvSpPr>
          <p:cNvPr id="5" name="Rectangle 4">
            <a:extLst>
              <a:ext uri="{FF2B5EF4-FFF2-40B4-BE49-F238E27FC236}">
                <a16:creationId xmlns:a16="http://schemas.microsoft.com/office/drawing/2014/main" id="{940999F2-4D04-CE26-E5CD-6DF642320A52}"/>
              </a:ext>
            </a:extLst>
          </p:cNvPr>
          <p:cNvSpPr>
            <a:spLocks noGrp="1"/>
          </p:cNvSpPr>
          <p:nvPr/>
        </p:nvSpPr>
        <p:spPr>
          <a:xfrm>
            <a:off x="11239500" y="6372225"/>
            <a:ext cx="552450" cy="190500"/>
          </a:xfrm>
          <a:prstGeom prst="rect">
            <a:avLst/>
          </a:prstGeom>
          <a:noFill/>
          <a:ln w="0">
            <a:noFill/>
            <a:prstDash val="solid"/>
          </a:ln>
        </p:spPr>
        <p:txBody>
          <a:bodyPr anchor="t">
            <a:normAutofit fontScale="87222" lnSpcReduction="20000"/>
          </a:bodyPr>
          <a:lstStyle/>
          <a:p>
            <a:pPr algn="r">
              <a:buNone/>
              <a:defRPr sz="900" b="1" i="0">
                <a:solidFill>
                  <a:srgbClr val="101820"/>
                </a:solidFill>
                <a:latin typeface="Helvetica Neue"/>
                <a:ea typeface="Helvetica Neue"/>
                <a:cs typeface="Helvetica Neue"/>
              </a:defRPr>
            </a:pPr>
            <a:r>
              <a:rPr sz="900" b="1" i="0">
                <a:solidFill>
                  <a:srgbClr val="101820"/>
                </a:solidFill>
                <a:latin typeface="Helvetica Neue"/>
                <a:ea typeface="Helvetica Neue"/>
                <a:cs typeface="Helvetica Neue"/>
              </a:rPr>
              <a:t>04</a:t>
            </a:r>
          </a:p>
        </p:txBody>
      </p:sp>
      <p:sp>
        <p:nvSpPr>
          <p:cNvPr id="6" name="Rectangle 5">
            <a:extLst>
              <a:ext uri="{FF2B5EF4-FFF2-40B4-BE49-F238E27FC236}">
                <a16:creationId xmlns:a16="http://schemas.microsoft.com/office/drawing/2014/main" id="{54415F05-D54B-D5A8-4C47-FC92F8DACC48}"/>
              </a:ext>
            </a:extLst>
          </p:cNvPr>
          <p:cNvSpPr>
            <a:spLocks noGrp="1"/>
          </p:cNvSpPr>
          <p:nvPr/>
        </p:nvSpPr>
        <p:spPr>
          <a:xfrm>
            <a:off x="533400" y="1409700"/>
            <a:ext cx="5295900" cy="285750"/>
          </a:xfrm>
          <a:prstGeom prst="rect">
            <a:avLst/>
          </a:prstGeom>
          <a:noFill/>
          <a:ln w="0">
            <a:noFill/>
            <a:prstDash val="solid"/>
          </a:ln>
        </p:spPr>
        <p:txBody>
          <a:bodyPr wrap="square" lIns="0" tIns="0" rIns="0" bIns="0" anchor="t">
            <a:noAutofit/>
          </a:bodyPr>
          <a:lstStyle/>
          <a:p>
            <a:pPr algn="l">
              <a:buNone/>
              <a:defRPr sz="1425" b="1">
                <a:solidFill>
                  <a:srgbClr val="0B1220"/>
                </a:solidFill>
                <a:latin typeface="Arial"/>
                <a:ea typeface="Arial"/>
                <a:cs typeface="Arial"/>
              </a:defRPr>
            </a:pPr>
            <a:r>
              <a:rPr sz="1425" b="1">
                <a:solidFill>
                  <a:srgbClr val="0B1220"/>
                </a:solidFill>
                <a:latin typeface="Arial"/>
                <a:ea typeface="Arial"/>
                <a:cs typeface="Arial"/>
              </a:rPr>
              <a:t>Primary sources used for online brand research</a:t>
            </a:r>
          </a:p>
        </p:txBody>
      </p:sp>
      <p:sp>
        <p:nvSpPr>
          <p:cNvPr id="8" name="Rectangle 7">
            <a:extLst>
              <a:ext uri="{FF2B5EF4-FFF2-40B4-BE49-F238E27FC236}">
                <a16:creationId xmlns:a16="http://schemas.microsoft.com/office/drawing/2014/main" id="{4A0ACBBA-C7A9-7E42-5CB8-5AA7BE381E4E}"/>
              </a:ext>
            </a:extLst>
          </p:cNvPr>
          <p:cNvSpPr>
            <a:spLocks noGrp="1"/>
          </p:cNvSpPr>
          <p:nvPr/>
        </p:nvSpPr>
        <p:spPr>
          <a:xfrm>
            <a:off x="6362700" y="1409700"/>
            <a:ext cx="5219700" cy="285750"/>
          </a:xfrm>
          <a:prstGeom prst="rect">
            <a:avLst/>
          </a:prstGeom>
          <a:noFill/>
          <a:ln w="0">
            <a:noFill/>
            <a:prstDash val="solid"/>
          </a:ln>
        </p:spPr>
        <p:txBody>
          <a:bodyPr wrap="square" lIns="0" tIns="0" rIns="0" bIns="0" anchor="t">
            <a:noAutofit/>
          </a:bodyPr>
          <a:lstStyle/>
          <a:p>
            <a:pPr algn="l">
              <a:buNone/>
              <a:defRPr sz="1425" b="1">
                <a:solidFill>
                  <a:srgbClr val="0B1220"/>
                </a:solidFill>
                <a:latin typeface="Arial"/>
                <a:ea typeface="Arial"/>
                <a:cs typeface="Arial"/>
              </a:defRPr>
            </a:pPr>
            <a:r>
              <a:rPr sz="1425" b="1">
                <a:solidFill>
                  <a:srgbClr val="0B1220"/>
                </a:solidFill>
                <a:latin typeface="Arial"/>
                <a:ea typeface="Arial"/>
                <a:cs typeface="Arial"/>
              </a:rPr>
              <a:t>Use social networks to research potential purchases</a:t>
            </a:r>
          </a:p>
        </p:txBody>
      </p:sp>
      <p:graphicFrame>
        <p:nvGraphicFramePr>
          <p:cNvPr id="10" name="Chart">
            <a:extLst>
              <a:ext uri="{FF2B5EF4-FFF2-40B4-BE49-F238E27FC236}">
                <a16:creationId xmlns:a16="http://schemas.microsoft.com/office/drawing/2014/main" id="{2C2E1E84-54CC-FAF2-83BF-88BD259DD0A7}"/>
              </a:ext>
            </a:extLst>
          </p:cNvPr>
          <p:cNvGraphicFramePr/>
          <p:nvPr>
            <p:extLst>
              <p:ext uri="{D42A27DB-BD31-4B8C-83A1-F6EECF244321}">
                <p14:modId xmlns:p14="http://schemas.microsoft.com/office/powerpoint/2010/main" val="1565989399"/>
              </p:ext>
            </p:extLst>
          </p:nvPr>
        </p:nvGraphicFramePr>
        <p:xfrm>
          <a:off x="266700" y="1724025"/>
          <a:ext cx="5619750" cy="38576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a:extLst>
              <a:ext uri="{FF2B5EF4-FFF2-40B4-BE49-F238E27FC236}">
                <a16:creationId xmlns:a16="http://schemas.microsoft.com/office/drawing/2014/main" id="{8D4EB822-5E39-1599-1B0D-F21D6B4A7ECC}"/>
              </a:ext>
            </a:extLst>
          </p:cNvPr>
          <p:cNvGraphicFramePr/>
          <p:nvPr>
            <p:extLst>
              <p:ext uri="{D42A27DB-BD31-4B8C-83A1-F6EECF244321}">
                <p14:modId xmlns:p14="http://schemas.microsoft.com/office/powerpoint/2010/main" val="3932115519"/>
              </p:ext>
            </p:extLst>
          </p:nvPr>
        </p:nvGraphicFramePr>
        <p:xfrm>
          <a:off x="6153150" y="1724025"/>
          <a:ext cx="5572125" cy="3857625"/>
        </p:xfrm>
        <a:graphic>
          <a:graphicData uri="http://schemas.openxmlformats.org/drawingml/2006/chart">
            <c:chart xmlns:c="http://schemas.openxmlformats.org/drawingml/2006/chart" xmlns:r="http://schemas.openxmlformats.org/officeDocument/2006/relationships" r:id="rId4"/>
          </a:graphicData>
        </a:graphic>
      </p:graphicFrame>
      <p:sp>
        <p:nvSpPr>
          <p:cNvPr id="14" name="Rectangle 13">
            <a:extLst>
              <a:ext uri="{FF2B5EF4-FFF2-40B4-BE49-F238E27FC236}">
                <a16:creationId xmlns:a16="http://schemas.microsoft.com/office/drawing/2014/main" id="{6B1FBF4F-90DA-36AE-6225-E53A0B34332A}"/>
              </a:ext>
            </a:extLst>
          </p:cNvPr>
          <p:cNvSpPr>
            <a:spLocks noGrp="1"/>
          </p:cNvSpPr>
          <p:nvPr/>
        </p:nvSpPr>
        <p:spPr>
          <a:xfrm>
            <a:off x="628650" y="5843587"/>
            <a:ext cx="10744200" cy="190500"/>
          </a:xfrm>
          <a:prstGeom prst="rect">
            <a:avLst/>
          </a:prstGeom>
          <a:noFill/>
          <a:ln w="0">
            <a:noFill/>
            <a:prstDash val="solid"/>
          </a:ln>
        </p:spPr>
        <p:txBody>
          <a:bodyPr wrap="square" lIns="0" tIns="0" rIns="0" bIns="0" anchor="t">
            <a:normAutofit/>
          </a:bodyPr>
          <a:lstStyle/>
          <a:p>
            <a:pPr algn="l">
              <a:buNone/>
              <a:defRPr sz="825" b="0">
                <a:solidFill>
                  <a:srgbClr val="5E6878"/>
                </a:solidFill>
                <a:latin typeface="Arial"/>
                <a:ea typeface="Arial"/>
                <a:cs typeface="Arial"/>
              </a:defRPr>
            </a:pPr>
            <a:r>
              <a:rPr sz="825" b="0" dirty="0">
                <a:solidFill>
                  <a:srgbClr val="5E6878"/>
                </a:solidFill>
                <a:latin typeface="Arial"/>
                <a:ea typeface="Arial"/>
                <a:cs typeface="Arial"/>
              </a:rPr>
              <a:t>Source: GWI Q3 2024 via Data</a:t>
            </a:r>
            <a:r>
              <a:rPr lang="en-CA" sz="825" b="0" dirty="0">
                <a:solidFill>
                  <a:srgbClr val="5E6878"/>
                </a:solidFill>
                <a:latin typeface="Arial"/>
                <a:ea typeface="Arial"/>
                <a:cs typeface="Arial"/>
              </a:rPr>
              <a:t> </a:t>
            </a:r>
            <a:r>
              <a:rPr sz="825" b="0" dirty="0" err="1">
                <a:solidFill>
                  <a:srgbClr val="5E6878"/>
                </a:solidFill>
                <a:latin typeface="Arial"/>
                <a:ea typeface="Arial"/>
                <a:cs typeface="Arial"/>
              </a:rPr>
              <a:t>Reportal</a:t>
            </a:r>
            <a:r>
              <a:rPr sz="825" b="0" dirty="0">
                <a:solidFill>
                  <a:srgbClr val="5E6878"/>
                </a:solidFill>
                <a:latin typeface="Arial"/>
                <a:ea typeface="Arial"/>
                <a:cs typeface="Arial"/>
              </a:rPr>
              <a:t> Digital 2025; internet users age 16+. Respondents could select multiple channels.</a:t>
            </a:r>
          </a:p>
        </p:txBody>
      </p:sp>
    </p:spTree>
    <p:extLst>
      <p:ext uri="{BB962C8B-B14F-4D97-AF65-F5344CB8AC3E}">
        <p14:creationId xmlns:p14="http://schemas.microsoft.com/office/powerpoint/2010/main" val="2139418728"/>
      </p:ext>
    </p:extLst>
  </p:cSld>
  <p:clrMapOvr>
    <a:masterClrMapping/>
  </p:clrMapOvr>
  <mc:AlternateContent xmlns:mc="http://schemas.openxmlformats.org/markup-compatibility/2006" xmlns:p14="http://schemas.microsoft.com/office/powerpoint/2010/main">
    <mc:Choice Requires="p14">
      <p:transition spd="slow" p14:dur="2000" advTm="60846"/>
    </mc:Choice>
    <mc:Fallback xmlns="">
      <p:transition spd="slow" advTm="6084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B7E63E1-95A2-4AD9-AB14-2FBB5CEFF51C}"/>
              </a:ext>
            </a:extLst>
          </p:cNvPr>
          <p:cNvSpPr>
            <a:spLocks noGrp="1"/>
          </p:cNvSpPr>
          <p:nvPr/>
        </p:nvSpPr>
        <p:spPr>
          <a:xfrm>
            <a:off x="400050" y="266700"/>
            <a:ext cx="4000500" cy="190500"/>
          </a:xfrm>
          <a:prstGeom prst="rect">
            <a:avLst/>
          </a:prstGeom>
          <a:noFill/>
          <a:ln w="0">
            <a:noFill/>
            <a:prstDash val="solid"/>
          </a:ln>
        </p:spPr>
        <p:txBody>
          <a:bodyPr anchor="t">
            <a:normAutofit fontScale="87222" lnSpcReduction="20000"/>
          </a:bodyPr>
          <a:lstStyle/>
          <a:p>
            <a:pPr algn="l">
              <a:buNone/>
              <a:defRPr sz="900" b="1" i="0">
                <a:solidFill>
                  <a:srgbClr val="3D8DFF"/>
                </a:solidFill>
                <a:latin typeface="Helvetica Neue"/>
                <a:ea typeface="Helvetica Neue"/>
                <a:cs typeface="Helvetica Neue"/>
              </a:defRPr>
            </a:pPr>
            <a:r>
              <a:rPr sz="900" b="1" i="0">
                <a:solidFill>
                  <a:srgbClr val="3D8DFF"/>
                </a:solidFill>
                <a:latin typeface="Helvetica Neue"/>
                <a:ea typeface="Helvetica Neue"/>
                <a:cs typeface="Helvetica Neue"/>
              </a:rPr>
              <a:t>SHOPPER EXPERIENCE CATEGORIES</a:t>
            </a:r>
          </a:p>
        </p:txBody>
      </p:sp>
      <p:sp>
        <p:nvSpPr>
          <p:cNvPr id="2" name="Rectangle 1">
            <a:extLst>
              <a:ext uri="{FF2B5EF4-FFF2-40B4-BE49-F238E27FC236}">
                <a16:creationId xmlns:a16="http://schemas.microsoft.com/office/drawing/2014/main" id="{893B12A1-3CA8-4BE1-BC65-09DB30B55398}"/>
              </a:ext>
            </a:extLst>
          </p:cNvPr>
          <p:cNvSpPr>
            <a:spLocks noGrp="1"/>
          </p:cNvSpPr>
          <p:nvPr/>
        </p:nvSpPr>
        <p:spPr>
          <a:xfrm>
            <a:off x="400050" y="514350"/>
            <a:ext cx="11391900" cy="704850"/>
          </a:xfrm>
          <a:prstGeom prst="rect">
            <a:avLst/>
          </a:prstGeom>
          <a:noFill/>
          <a:ln w="0">
            <a:noFill/>
            <a:prstDash val="solid"/>
          </a:ln>
        </p:spPr>
        <p:txBody>
          <a:bodyPr anchor="t">
            <a:normAutofit fontScale="77500" lnSpcReduction="20000"/>
          </a:bodyPr>
          <a:lstStyle/>
          <a:p>
            <a:pPr algn="l">
              <a:buNone/>
              <a:defRPr sz="3000" b="1" i="0">
                <a:solidFill>
                  <a:srgbClr val="101820"/>
                </a:solidFill>
                <a:latin typeface="Helvetica Neue"/>
                <a:ea typeface="Helvetica Neue"/>
                <a:cs typeface="Helvetica Neue"/>
              </a:defRPr>
            </a:pPr>
            <a:r>
              <a:rPr lang="en-US" sz="3000" b="1" dirty="0">
                <a:solidFill>
                  <a:srgbClr val="101820"/>
                </a:solidFill>
                <a:latin typeface="Helvetica Neue"/>
                <a:ea typeface="Helvetica Neue"/>
                <a:cs typeface="Helvetica Neue"/>
              </a:rPr>
              <a:t>Pr</a:t>
            </a:r>
            <a:r>
              <a:rPr lang="en-US" sz="3000" b="1" i="0" dirty="0">
                <a:solidFill>
                  <a:srgbClr val="101820"/>
                </a:solidFill>
                <a:latin typeface="Helvetica Neue"/>
                <a:ea typeface="Helvetica Neue"/>
                <a:cs typeface="Helvetica Neue"/>
              </a:rPr>
              <a:t>esent </a:t>
            </a:r>
            <a:r>
              <a:rPr sz="3000" b="1" i="0" dirty="0">
                <a:solidFill>
                  <a:srgbClr val="101820"/>
                </a:solidFill>
                <a:latin typeface="Helvetica Neue"/>
                <a:ea typeface="Helvetica Neue"/>
                <a:cs typeface="Helvetica Neue"/>
              </a:rPr>
              <a:t>Buyer Need </a:t>
            </a:r>
            <a:r>
              <a:rPr sz="3000" b="1" dirty="0">
                <a:solidFill>
                  <a:srgbClr val="101820"/>
                </a:solidFill>
                <a:latin typeface="Helvetica Neue"/>
                <a:ea typeface="Helvetica Neue"/>
                <a:cs typeface="Helvetica Neue"/>
              </a:rPr>
              <a:t>based </a:t>
            </a:r>
            <a:r>
              <a:rPr sz="3000" b="1" i="0" dirty="0">
                <a:solidFill>
                  <a:srgbClr val="101820"/>
                </a:solidFill>
                <a:latin typeface="Helvetica Neue"/>
                <a:ea typeface="Helvetica Neue"/>
                <a:cs typeface="Helvetica Neue"/>
              </a:rPr>
              <a:t>browsing decisions</a:t>
            </a:r>
            <a:r>
              <a:rPr lang="en-US" sz="3000" b="1" i="0" dirty="0">
                <a:solidFill>
                  <a:srgbClr val="101820"/>
                </a:solidFill>
                <a:latin typeface="Helvetica Neue"/>
                <a:ea typeface="Helvetica Neue"/>
                <a:cs typeface="Helvetica Neue"/>
              </a:rPr>
              <a:t> remove Human interactions</a:t>
            </a:r>
            <a:endParaRPr sz="3000" b="1" i="0" dirty="0">
              <a:solidFill>
                <a:srgbClr val="101820"/>
              </a:solidFill>
              <a:latin typeface="Helvetica Neue"/>
              <a:ea typeface="Helvetica Neue"/>
              <a:cs typeface="Helvetica Neue"/>
            </a:endParaRPr>
          </a:p>
        </p:txBody>
      </p:sp>
      <p:cxnSp>
        <p:nvCxnSpPr>
          <p:cNvPr id="175" name="Straight Arrow Connector 30"/>
          <p:cNvCxnSpPr/>
          <p:nvPr/>
        </p:nvCxnSpPr>
        <p:spPr>
          <a:xfrm>
            <a:off x="400050" y="6286500"/>
            <a:ext cx="11391900" cy="0"/>
          </a:xfrm>
          <a:prstGeom prst="straightConnector1">
            <a:avLst/>
          </a:prstGeom>
          <a:ln w="9525">
            <a:solidFill>
              <a:srgbClr val="C9CED3"/>
            </a:solidFill>
            <a:prstDash val="solid"/>
          </a:ln>
        </p:spPr>
      </p:cxnSp>
      <p:sp>
        <p:nvSpPr>
          <p:cNvPr id="4" name="Rectangle 3">
            <a:extLst>
              <a:ext uri="{FF2B5EF4-FFF2-40B4-BE49-F238E27FC236}">
                <a16:creationId xmlns:a16="http://schemas.microsoft.com/office/drawing/2014/main" id="{E367DD7F-1BB6-4761-B59D-F6230065677A}"/>
              </a:ext>
            </a:extLst>
          </p:cNvPr>
          <p:cNvSpPr>
            <a:spLocks noGrp="1"/>
          </p:cNvSpPr>
          <p:nvPr/>
        </p:nvSpPr>
        <p:spPr>
          <a:xfrm>
            <a:off x="400050" y="6391275"/>
            <a:ext cx="4000500" cy="171450"/>
          </a:xfrm>
          <a:prstGeom prst="rect">
            <a:avLst/>
          </a:prstGeom>
          <a:noFill/>
          <a:ln w="0">
            <a:noFill/>
            <a:prstDash val="solid"/>
          </a:ln>
        </p:spPr>
        <p:txBody>
          <a:bodyPr anchor="t">
            <a:normAutofit fontScale="78636" lnSpcReduction="20000"/>
          </a:bodyPr>
          <a:lstStyle/>
          <a:p>
            <a:pPr algn="l">
              <a:buNone/>
              <a:defRPr sz="825" b="1" i="0">
                <a:solidFill>
                  <a:srgbClr val="5E6973"/>
                </a:solidFill>
                <a:latin typeface="Helvetica Neue"/>
                <a:ea typeface="Helvetica Neue"/>
                <a:cs typeface="Helvetica Neue"/>
              </a:defRPr>
            </a:pPr>
            <a:r>
              <a:rPr sz="825" b="1" i="0">
                <a:solidFill>
                  <a:srgbClr val="5E6973"/>
                </a:solidFill>
                <a:latin typeface="Helvetica Neue"/>
                <a:ea typeface="Helvetica Neue"/>
                <a:cs typeface="Helvetica Neue"/>
              </a:rPr>
              <a:t>AGENTIC SHOPPING EXPERIENCES</a:t>
            </a:r>
          </a:p>
        </p:txBody>
      </p:sp>
      <p:sp>
        <p:nvSpPr>
          <p:cNvPr id="5" name="Rectangle 4">
            <a:extLst>
              <a:ext uri="{FF2B5EF4-FFF2-40B4-BE49-F238E27FC236}">
                <a16:creationId xmlns:a16="http://schemas.microsoft.com/office/drawing/2014/main" id="{51D459A3-EDEA-4A03-8CF2-0B3616F57ED9}"/>
              </a:ext>
            </a:extLst>
          </p:cNvPr>
          <p:cNvSpPr>
            <a:spLocks noGrp="1"/>
          </p:cNvSpPr>
          <p:nvPr/>
        </p:nvSpPr>
        <p:spPr>
          <a:xfrm>
            <a:off x="11239500" y="6372225"/>
            <a:ext cx="552450" cy="190500"/>
          </a:xfrm>
          <a:prstGeom prst="rect">
            <a:avLst/>
          </a:prstGeom>
          <a:noFill/>
          <a:ln w="0">
            <a:noFill/>
            <a:prstDash val="solid"/>
          </a:ln>
        </p:spPr>
        <p:txBody>
          <a:bodyPr anchor="t">
            <a:normAutofit fontScale="87222" lnSpcReduction="20000"/>
          </a:bodyPr>
          <a:lstStyle/>
          <a:p>
            <a:pPr algn="r">
              <a:buNone/>
              <a:defRPr sz="900" b="1" i="0">
                <a:solidFill>
                  <a:srgbClr val="101820"/>
                </a:solidFill>
                <a:latin typeface="Helvetica Neue"/>
                <a:ea typeface="Helvetica Neue"/>
                <a:cs typeface="Helvetica Neue"/>
              </a:defRPr>
            </a:pPr>
            <a:r>
              <a:rPr sz="900" b="1" i="0">
                <a:solidFill>
                  <a:srgbClr val="101820"/>
                </a:solidFill>
                <a:latin typeface="Helvetica Neue"/>
                <a:ea typeface="Helvetica Neue"/>
                <a:cs typeface="Helvetica Neue"/>
              </a:rPr>
              <a:t>03</a:t>
            </a:r>
          </a:p>
        </p:txBody>
      </p:sp>
      <p:cxnSp>
        <p:nvCxnSpPr>
          <p:cNvPr id="178" name="Straight Arrow Connector 33"/>
          <p:cNvCxnSpPr/>
          <p:nvPr/>
        </p:nvCxnSpPr>
        <p:spPr>
          <a:xfrm>
            <a:off x="400050" y="1438275"/>
            <a:ext cx="5238750" cy="0"/>
          </a:xfrm>
          <a:prstGeom prst="straightConnector1">
            <a:avLst/>
          </a:prstGeom>
          <a:ln w="28575">
            <a:solidFill>
              <a:srgbClr val="3D8DFF"/>
            </a:solidFill>
            <a:prstDash val="solid"/>
          </a:ln>
        </p:spPr>
      </p:cxnSp>
      <p:sp>
        <p:nvSpPr>
          <p:cNvPr id="7" name="Rectangle 6">
            <a:extLst>
              <a:ext uri="{FF2B5EF4-FFF2-40B4-BE49-F238E27FC236}">
                <a16:creationId xmlns:a16="http://schemas.microsoft.com/office/drawing/2014/main" id="{49F949EA-3F5F-4F8C-9951-C31F78820A82}"/>
              </a:ext>
            </a:extLst>
          </p:cNvPr>
          <p:cNvSpPr>
            <a:spLocks noGrp="1"/>
          </p:cNvSpPr>
          <p:nvPr/>
        </p:nvSpPr>
        <p:spPr>
          <a:xfrm>
            <a:off x="400050" y="1552575"/>
            <a:ext cx="5238750" cy="323850"/>
          </a:xfrm>
          <a:prstGeom prst="rect">
            <a:avLst/>
          </a:prstGeom>
          <a:noFill/>
          <a:ln w="0">
            <a:noFill/>
            <a:prstDash val="solid"/>
          </a:ln>
        </p:spPr>
        <p:txBody>
          <a:bodyPr anchor="t">
            <a:normAutofit fontScale="99924" lnSpcReduction="10000"/>
          </a:bodyPr>
          <a:lstStyle/>
          <a:p>
            <a:pPr algn="l">
              <a:buNone/>
              <a:defRPr sz="1650" b="1" i="0">
                <a:solidFill>
                  <a:srgbClr val="101820"/>
                </a:solidFill>
                <a:latin typeface="Helvetica Neue"/>
                <a:ea typeface="Helvetica Neue"/>
                <a:cs typeface="Helvetica Neue"/>
              </a:defRPr>
            </a:pPr>
            <a:r>
              <a:rPr sz="1650" b="1" i="0">
                <a:solidFill>
                  <a:srgbClr val="101820"/>
                </a:solidFill>
                <a:latin typeface="Helvetica Neue"/>
                <a:ea typeface="Helvetica Neue"/>
                <a:cs typeface="Helvetica Neue"/>
              </a:rPr>
              <a:t>01  Conversational discovery</a:t>
            </a:r>
          </a:p>
        </p:txBody>
      </p:sp>
      <p:sp>
        <p:nvSpPr>
          <p:cNvPr id="8" name="Rectangle 7">
            <a:extLst>
              <a:ext uri="{FF2B5EF4-FFF2-40B4-BE49-F238E27FC236}">
                <a16:creationId xmlns:a16="http://schemas.microsoft.com/office/drawing/2014/main" id="{007B56DA-C65A-4912-A116-D2B9AD8794F8}"/>
              </a:ext>
            </a:extLst>
          </p:cNvPr>
          <p:cNvSpPr>
            <a:spLocks noGrp="1"/>
          </p:cNvSpPr>
          <p:nvPr/>
        </p:nvSpPr>
        <p:spPr>
          <a:xfrm>
            <a:off x="400050" y="1933575"/>
            <a:ext cx="5238750" cy="514350"/>
          </a:xfrm>
          <a:prstGeom prst="rect">
            <a:avLst/>
          </a:prstGeom>
          <a:noFill/>
          <a:ln w="0">
            <a:noFill/>
            <a:prstDash val="solid"/>
          </a:ln>
        </p:spPr>
        <p:txBody>
          <a:bodyPr anchor="t">
            <a:normAutofit/>
          </a:bodyPr>
          <a:lstStyle/>
          <a:p>
            <a:pPr algn="l">
              <a:buNone/>
              <a:defRPr sz="1275" b="0" i="0">
                <a:solidFill>
                  <a:srgbClr val="5E6973"/>
                </a:solidFill>
                <a:latin typeface="Helvetica Neue"/>
                <a:ea typeface="Helvetica Neue"/>
                <a:cs typeface="Helvetica Neue"/>
              </a:defRPr>
            </a:pPr>
            <a:r>
              <a:rPr sz="1275" b="0" i="0">
                <a:solidFill>
                  <a:srgbClr val="5E6973"/>
                </a:solidFill>
                <a:latin typeface="Helvetica Neue"/>
                <a:ea typeface="Helvetica Neue"/>
                <a:cs typeface="Helvetica Neue"/>
              </a:rPr>
              <a:t>Describe a need, occasion or problem instead of guessing keywords.</a:t>
            </a:r>
          </a:p>
        </p:txBody>
      </p:sp>
      <p:cxnSp>
        <p:nvCxnSpPr>
          <p:cNvPr id="181" name="Straight Arrow Connector 36"/>
          <p:cNvCxnSpPr/>
          <p:nvPr/>
        </p:nvCxnSpPr>
        <p:spPr>
          <a:xfrm>
            <a:off x="400050" y="2543175"/>
            <a:ext cx="5238750" cy="0"/>
          </a:xfrm>
          <a:prstGeom prst="straightConnector1">
            <a:avLst/>
          </a:prstGeom>
          <a:ln w="9525">
            <a:solidFill>
              <a:srgbClr val="C9CED3"/>
            </a:solidFill>
            <a:prstDash val="solid"/>
          </a:ln>
        </p:spPr>
      </p:cxnSp>
      <p:sp>
        <p:nvSpPr>
          <p:cNvPr id="10" name="Rectangle 9">
            <a:extLst>
              <a:ext uri="{FF2B5EF4-FFF2-40B4-BE49-F238E27FC236}">
                <a16:creationId xmlns:a16="http://schemas.microsoft.com/office/drawing/2014/main" id="{97F159BD-B0AA-4FDA-8F22-FDE841B1AE38}"/>
              </a:ext>
            </a:extLst>
          </p:cNvPr>
          <p:cNvSpPr>
            <a:spLocks noGrp="1"/>
          </p:cNvSpPr>
          <p:nvPr/>
        </p:nvSpPr>
        <p:spPr>
          <a:xfrm>
            <a:off x="400050" y="2657475"/>
            <a:ext cx="5238750" cy="323850"/>
          </a:xfrm>
          <a:prstGeom prst="rect">
            <a:avLst/>
          </a:prstGeom>
          <a:noFill/>
          <a:ln w="0">
            <a:noFill/>
            <a:prstDash val="solid"/>
          </a:ln>
        </p:spPr>
        <p:txBody>
          <a:bodyPr anchor="t">
            <a:normAutofit fontScale="99924" lnSpcReduction="10000"/>
          </a:bodyPr>
          <a:lstStyle/>
          <a:p>
            <a:pPr algn="l">
              <a:buNone/>
              <a:defRPr sz="1650" b="1" i="0">
                <a:solidFill>
                  <a:srgbClr val="101820"/>
                </a:solidFill>
                <a:latin typeface="Helvetica Neue"/>
                <a:ea typeface="Helvetica Neue"/>
                <a:cs typeface="Helvetica Neue"/>
              </a:defRPr>
            </a:pPr>
            <a:r>
              <a:rPr sz="1650" b="1" i="0">
                <a:solidFill>
                  <a:srgbClr val="101820"/>
                </a:solidFill>
                <a:latin typeface="Helvetica Neue"/>
                <a:ea typeface="Helvetica Neue"/>
                <a:cs typeface="Helvetica Neue"/>
              </a:rPr>
              <a:t>02  Mission and occasion planning</a:t>
            </a:r>
          </a:p>
        </p:txBody>
      </p:sp>
      <p:sp>
        <p:nvSpPr>
          <p:cNvPr id="11" name="Rectangle 10">
            <a:extLst>
              <a:ext uri="{FF2B5EF4-FFF2-40B4-BE49-F238E27FC236}">
                <a16:creationId xmlns:a16="http://schemas.microsoft.com/office/drawing/2014/main" id="{9A157C27-F029-4D8B-A4E8-CBE0424928A7}"/>
              </a:ext>
            </a:extLst>
          </p:cNvPr>
          <p:cNvSpPr>
            <a:spLocks noGrp="1"/>
          </p:cNvSpPr>
          <p:nvPr/>
        </p:nvSpPr>
        <p:spPr>
          <a:xfrm>
            <a:off x="400050" y="3038475"/>
            <a:ext cx="5238750" cy="514350"/>
          </a:xfrm>
          <a:prstGeom prst="rect">
            <a:avLst/>
          </a:prstGeom>
          <a:noFill/>
          <a:ln w="0">
            <a:noFill/>
            <a:prstDash val="solid"/>
          </a:ln>
        </p:spPr>
        <p:txBody>
          <a:bodyPr anchor="t">
            <a:normAutofit/>
          </a:bodyPr>
          <a:lstStyle/>
          <a:p>
            <a:pPr algn="l">
              <a:buNone/>
              <a:defRPr sz="1275" b="0" i="0">
                <a:solidFill>
                  <a:srgbClr val="5E6973"/>
                </a:solidFill>
                <a:latin typeface="Helvetica Neue"/>
                <a:ea typeface="Helvetica Neue"/>
                <a:cs typeface="Helvetica Neue"/>
              </a:defRPr>
            </a:pPr>
            <a:r>
              <a:rPr sz="1275" b="0" i="0">
                <a:solidFill>
                  <a:srgbClr val="5E6973"/>
                </a:solidFill>
                <a:latin typeface="Helvetica Neue"/>
                <a:ea typeface="Helvetica Neue"/>
                <a:cs typeface="Helvetica Neue"/>
              </a:rPr>
              <a:t>Turn meals, trips, events or projects into complete, quantity-aware baskets.</a:t>
            </a:r>
          </a:p>
        </p:txBody>
      </p:sp>
      <p:cxnSp>
        <p:nvCxnSpPr>
          <p:cNvPr id="184" name="Straight Arrow Connector 39"/>
          <p:cNvCxnSpPr/>
          <p:nvPr/>
        </p:nvCxnSpPr>
        <p:spPr>
          <a:xfrm>
            <a:off x="400050" y="3648075"/>
            <a:ext cx="5238750" cy="0"/>
          </a:xfrm>
          <a:prstGeom prst="straightConnector1">
            <a:avLst/>
          </a:prstGeom>
          <a:ln w="9525">
            <a:solidFill>
              <a:srgbClr val="C9CED3"/>
            </a:solidFill>
            <a:prstDash val="solid"/>
          </a:ln>
        </p:spPr>
      </p:cxnSp>
      <p:sp>
        <p:nvSpPr>
          <p:cNvPr id="13" name="Rectangle 12">
            <a:extLst>
              <a:ext uri="{FF2B5EF4-FFF2-40B4-BE49-F238E27FC236}">
                <a16:creationId xmlns:a16="http://schemas.microsoft.com/office/drawing/2014/main" id="{DCE0C6BC-4444-46E6-B50E-0A1EE2820263}"/>
              </a:ext>
            </a:extLst>
          </p:cNvPr>
          <p:cNvSpPr>
            <a:spLocks noGrp="1"/>
          </p:cNvSpPr>
          <p:nvPr/>
        </p:nvSpPr>
        <p:spPr>
          <a:xfrm>
            <a:off x="400050" y="3762375"/>
            <a:ext cx="5238750" cy="323850"/>
          </a:xfrm>
          <a:prstGeom prst="rect">
            <a:avLst/>
          </a:prstGeom>
          <a:noFill/>
          <a:ln w="0">
            <a:noFill/>
            <a:prstDash val="solid"/>
          </a:ln>
        </p:spPr>
        <p:txBody>
          <a:bodyPr anchor="t">
            <a:normAutofit fontScale="99924" lnSpcReduction="10000"/>
          </a:bodyPr>
          <a:lstStyle/>
          <a:p>
            <a:pPr algn="l">
              <a:buNone/>
              <a:defRPr sz="1650" b="1" i="0">
                <a:solidFill>
                  <a:srgbClr val="101820"/>
                </a:solidFill>
                <a:latin typeface="Helvetica Neue"/>
                <a:ea typeface="Helvetica Neue"/>
                <a:cs typeface="Helvetica Neue"/>
              </a:defRPr>
            </a:pPr>
            <a:r>
              <a:rPr sz="1650" b="1" i="0">
                <a:solidFill>
                  <a:srgbClr val="101820"/>
                </a:solidFill>
                <a:latin typeface="Helvetica Neue"/>
                <a:ea typeface="Helvetica Neue"/>
                <a:cs typeface="Helvetica Neue"/>
              </a:rPr>
              <a:t>03  Comparative decision support</a:t>
            </a:r>
          </a:p>
        </p:txBody>
      </p:sp>
      <p:sp>
        <p:nvSpPr>
          <p:cNvPr id="14" name="Rectangle 13">
            <a:extLst>
              <a:ext uri="{FF2B5EF4-FFF2-40B4-BE49-F238E27FC236}">
                <a16:creationId xmlns:a16="http://schemas.microsoft.com/office/drawing/2014/main" id="{BC4F6A4C-4F41-41A0-B7B8-40E6C32C53DE}"/>
              </a:ext>
            </a:extLst>
          </p:cNvPr>
          <p:cNvSpPr>
            <a:spLocks noGrp="1"/>
          </p:cNvSpPr>
          <p:nvPr/>
        </p:nvSpPr>
        <p:spPr>
          <a:xfrm>
            <a:off x="400050" y="4143375"/>
            <a:ext cx="5238750" cy="514350"/>
          </a:xfrm>
          <a:prstGeom prst="rect">
            <a:avLst/>
          </a:prstGeom>
          <a:noFill/>
          <a:ln w="0">
            <a:noFill/>
            <a:prstDash val="solid"/>
          </a:ln>
        </p:spPr>
        <p:txBody>
          <a:bodyPr anchor="t">
            <a:normAutofit/>
          </a:bodyPr>
          <a:lstStyle/>
          <a:p>
            <a:pPr algn="l">
              <a:buNone/>
              <a:defRPr sz="1275" b="0" i="0">
                <a:solidFill>
                  <a:srgbClr val="5E6973"/>
                </a:solidFill>
                <a:latin typeface="Helvetica Neue"/>
                <a:ea typeface="Helvetica Neue"/>
                <a:cs typeface="Helvetica Neue"/>
              </a:defRPr>
            </a:pPr>
            <a:r>
              <a:rPr sz="1275" b="0" i="0">
                <a:solidFill>
                  <a:srgbClr val="5E6973"/>
                </a:solidFill>
                <a:latin typeface="Helvetica Neue"/>
                <a:ea typeface="Helvetica Neue"/>
                <a:cs typeface="Helvetica Neue"/>
              </a:rPr>
              <a:t>Reconcile reviews, attributes, compatibility and trade-offs into a shortlist.</a:t>
            </a:r>
          </a:p>
        </p:txBody>
      </p:sp>
      <p:cxnSp>
        <p:nvCxnSpPr>
          <p:cNvPr id="187" name="Straight Arrow Connector 42"/>
          <p:cNvCxnSpPr/>
          <p:nvPr/>
        </p:nvCxnSpPr>
        <p:spPr>
          <a:xfrm>
            <a:off x="400050" y="4752975"/>
            <a:ext cx="5238750" cy="0"/>
          </a:xfrm>
          <a:prstGeom prst="straightConnector1">
            <a:avLst/>
          </a:prstGeom>
          <a:ln w="9525">
            <a:solidFill>
              <a:srgbClr val="C9CED3"/>
            </a:solidFill>
            <a:prstDash val="solid"/>
          </a:ln>
        </p:spPr>
      </p:cxnSp>
      <p:sp>
        <p:nvSpPr>
          <p:cNvPr id="16" name="Rectangle 15">
            <a:extLst>
              <a:ext uri="{FF2B5EF4-FFF2-40B4-BE49-F238E27FC236}">
                <a16:creationId xmlns:a16="http://schemas.microsoft.com/office/drawing/2014/main" id="{69B81CEF-39E9-4042-96D4-37E53F8B1370}"/>
              </a:ext>
            </a:extLst>
          </p:cNvPr>
          <p:cNvSpPr>
            <a:spLocks noGrp="1"/>
          </p:cNvSpPr>
          <p:nvPr/>
        </p:nvSpPr>
        <p:spPr>
          <a:xfrm>
            <a:off x="400050" y="4867275"/>
            <a:ext cx="5238750" cy="323850"/>
          </a:xfrm>
          <a:prstGeom prst="rect">
            <a:avLst/>
          </a:prstGeom>
          <a:noFill/>
          <a:ln w="0">
            <a:noFill/>
            <a:prstDash val="solid"/>
          </a:ln>
        </p:spPr>
        <p:txBody>
          <a:bodyPr anchor="t">
            <a:normAutofit fontScale="99924" lnSpcReduction="10000"/>
          </a:bodyPr>
          <a:lstStyle/>
          <a:p>
            <a:pPr algn="l">
              <a:buNone/>
              <a:defRPr sz="1650" b="1" i="0">
                <a:solidFill>
                  <a:srgbClr val="101820"/>
                </a:solidFill>
                <a:latin typeface="Helvetica Neue"/>
                <a:ea typeface="Helvetica Neue"/>
                <a:cs typeface="Helvetica Neue"/>
              </a:defRPr>
            </a:pPr>
            <a:r>
              <a:rPr sz="1650" b="1" i="0">
                <a:solidFill>
                  <a:srgbClr val="101820"/>
                </a:solidFill>
                <a:latin typeface="Helvetica Neue"/>
                <a:ea typeface="Helvetica Neue"/>
                <a:cs typeface="Helvetica Neue"/>
              </a:rPr>
              <a:t>04  Multimodal discovery</a:t>
            </a:r>
          </a:p>
        </p:txBody>
      </p:sp>
      <p:sp>
        <p:nvSpPr>
          <p:cNvPr id="17" name="Rectangle 16">
            <a:extLst>
              <a:ext uri="{FF2B5EF4-FFF2-40B4-BE49-F238E27FC236}">
                <a16:creationId xmlns:a16="http://schemas.microsoft.com/office/drawing/2014/main" id="{4CCFF984-5240-483B-B35B-C2789CF13E4E}"/>
              </a:ext>
            </a:extLst>
          </p:cNvPr>
          <p:cNvSpPr>
            <a:spLocks noGrp="1"/>
          </p:cNvSpPr>
          <p:nvPr/>
        </p:nvSpPr>
        <p:spPr>
          <a:xfrm>
            <a:off x="400050" y="5248275"/>
            <a:ext cx="5238750" cy="514350"/>
          </a:xfrm>
          <a:prstGeom prst="rect">
            <a:avLst/>
          </a:prstGeom>
          <a:noFill/>
          <a:ln w="0">
            <a:noFill/>
            <a:prstDash val="solid"/>
          </a:ln>
        </p:spPr>
        <p:txBody>
          <a:bodyPr anchor="t">
            <a:normAutofit/>
          </a:bodyPr>
          <a:lstStyle/>
          <a:p>
            <a:pPr algn="l">
              <a:buNone/>
              <a:defRPr sz="1275" b="0" i="0">
                <a:solidFill>
                  <a:srgbClr val="5E6973"/>
                </a:solidFill>
                <a:latin typeface="Helvetica Neue"/>
                <a:ea typeface="Helvetica Neue"/>
                <a:cs typeface="Helvetica Neue"/>
              </a:defRPr>
            </a:pPr>
            <a:r>
              <a:rPr sz="1275" b="0" i="0">
                <a:solidFill>
                  <a:srgbClr val="5E6973"/>
                </a:solidFill>
                <a:latin typeface="Helvetica Neue"/>
                <a:ea typeface="Helvetica Neue"/>
                <a:cs typeface="Helvetica Neue"/>
              </a:rPr>
              <a:t>Use an image, camera, voice or virtual try-on to specify what words cannot.</a:t>
            </a:r>
          </a:p>
        </p:txBody>
      </p:sp>
      <p:cxnSp>
        <p:nvCxnSpPr>
          <p:cNvPr id="190" name="Straight Arrow Connector 45"/>
          <p:cNvCxnSpPr/>
          <p:nvPr/>
        </p:nvCxnSpPr>
        <p:spPr>
          <a:xfrm>
            <a:off x="6305550" y="1438275"/>
            <a:ext cx="5486400" cy="0"/>
          </a:xfrm>
          <a:prstGeom prst="straightConnector1">
            <a:avLst/>
          </a:prstGeom>
          <a:ln w="28575">
            <a:solidFill>
              <a:srgbClr val="3D8DFF"/>
            </a:solidFill>
            <a:prstDash val="solid"/>
          </a:ln>
        </p:spPr>
      </p:cxnSp>
      <p:sp>
        <p:nvSpPr>
          <p:cNvPr id="19" name="Rectangle 18">
            <a:extLst>
              <a:ext uri="{FF2B5EF4-FFF2-40B4-BE49-F238E27FC236}">
                <a16:creationId xmlns:a16="http://schemas.microsoft.com/office/drawing/2014/main" id="{C50CF5F3-F908-4425-AF3C-68E9FC7F96BF}"/>
              </a:ext>
            </a:extLst>
          </p:cNvPr>
          <p:cNvSpPr>
            <a:spLocks noGrp="1"/>
          </p:cNvSpPr>
          <p:nvPr/>
        </p:nvSpPr>
        <p:spPr>
          <a:xfrm>
            <a:off x="6305550" y="1552575"/>
            <a:ext cx="5486400" cy="323850"/>
          </a:xfrm>
          <a:prstGeom prst="rect">
            <a:avLst/>
          </a:prstGeom>
          <a:noFill/>
          <a:ln w="0">
            <a:noFill/>
            <a:prstDash val="solid"/>
          </a:ln>
        </p:spPr>
        <p:txBody>
          <a:bodyPr anchor="t">
            <a:normAutofit fontScale="99924" lnSpcReduction="10000"/>
          </a:bodyPr>
          <a:lstStyle/>
          <a:p>
            <a:pPr algn="l">
              <a:buNone/>
              <a:defRPr sz="1650" b="1" i="0">
                <a:solidFill>
                  <a:srgbClr val="101820"/>
                </a:solidFill>
                <a:latin typeface="Helvetica Neue"/>
                <a:ea typeface="Helvetica Neue"/>
                <a:cs typeface="Helvetica Neue"/>
              </a:defRPr>
            </a:pPr>
            <a:r>
              <a:rPr sz="1650" b="1" i="0">
                <a:solidFill>
                  <a:srgbClr val="101820"/>
                </a:solidFill>
                <a:latin typeface="Helvetica Neue"/>
                <a:ea typeface="Helvetica Neue"/>
                <a:cs typeface="Helvetica Neue"/>
              </a:rPr>
              <a:t>05  Basket building</a:t>
            </a:r>
          </a:p>
        </p:txBody>
      </p:sp>
      <p:sp>
        <p:nvSpPr>
          <p:cNvPr id="20" name="Rectangle 19">
            <a:extLst>
              <a:ext uri="{FF2B5EF4-FFF2-40B4-BE49-F238E27FC236}">
                <a16:creationId xmlns:a16="http://schemas.microsoft.com/office/drawing/2014/main" id="{8DB6366C-B376-45B6-AC63-5693A7448DB3}"/>
              </a:ext>
            </a:extLst>
          </p:cNvPr>
          <p:cNvSpPr>
            <a:spLocks noGrp="1"/>
          </p:cNvSpPr>
          <p:nvPr/>
        </p:nvSpPr>
        <p:spPr>
          <a:xfrm>
            <a:off x="6305550" y="1933575"/>
            <a:ext cx="5486400" cy="590550"/>
          </a:xfrm>
          <a:prstGeom prst="rect">
            <a:avLst/>
          </a:prstGeom>
          <a:noFill/>
          <a:ln w="0">
            <a:noFill/>
            <a:prstDash val="solid"/>
          </a:ln>
        </p:spPr>
        <p:txBody>
          <a:bodyPr anchor="t">
            <a:normAutofit/>
          </a:bodyPr>
          <a:lstStyle/>
          <a:p>
            <a:pPr algn="l">
              <a:buNone/>
              <a:defRPr sz="1275" b="0" i="0">
                <a:solidFill>
                  <a:srgbClr val="5E6973"/>
                </a:solidFill>
                <a:latin typeface="Helvetica Neue"/>
                <a:ea typeface="Helvetica Neue"/>
                <a:cs typeface="Helvetica Neue"/>
              </a:defRPr>
            </a:pPr>
            <a:r>
              <a:rPr sz="1275" b="0" i="0">
                <a:solidFill>
                  <a:srgbClr val="5E6973"/>
                </a:solidFill>
                <a:latin typeface="Helvetica Neue"/>
                <a:ea typeface="Helvetica Neue"/>
                <a:cs typeface="Helvetica Neue"/>
              </a:rPr>
              <a:t>Add complements, substitutions and preferred brands with fewer omissions.</a:t>
            </a:r>
          </a:p>
        </p:txBody>
      </p:sp>
      <p:cxnSp>
        <p:nvCxnSpPr>
          <p:cNvPr id="193" name="Straight Arrow Connector 48"/>
          <p:cNvCxnSpPr/>
          <p:nvPr/>
        </p:nvCxnSpPr>
        <p:spPr>
          <a:xfrm>
            <a:off x="6305550" y="2819400"/>
            <a:ext cx="5486400" cy="0"/>
          </a:xfrm>
          <a:prstGeom prst="straightConnector1">
            <a:avLst/>
          </a:prstGeom>
          <a:ln w="9525">
            <a:solidFill>
              <a:srgbClr val="C9CED3"/>
            </a:solidFill>
            <a:prstDash val="solid"/>
          </a:ln>
        </p:spPr>
      </p:cxnSp>
      <p:sp>
        <p:nvSpPr>
          <p:cNvPr id="22" name="Rectangle 21">
            <a:extLst>
              <a:ext uri="{FF2B5EF4-FFF2-40B4-BE49-F238E27FC236}">
                <a16:creationId xmlns:a16="http://schemas.microsoft.com/office/drawing/2014/main" id="{DAFEEFB1-648B-401C-A02F-E68EAD4E8C77}"/>
              </a:ext>
            </a:extLst>
          </p:cNvPr>
          <p:cNvSpPr>
            <a:spLocks noGrp="1"/>
          </p:cNvSpPr>
          <p:nvPr/>
        </p:nvSpPr>
        <p:spPr>
          <a:xfrm>
            <a:off x="6305550" y="2933700"/>
            <a:ext cx="5486400" cy="323850"/>
          </a:xfrm>
          <a:prstGeom prst="rect">
            <a:avLst/>
          </a:prstGeom>
          <a:noFill/>
          <a:ln w="0">
            <a:noFill/>
            <a:prstDash val="solid"/>
          </a:ln>
        </p:spPr>
        <p:txBody>
          <a:bodyPr anchor="t">
            <a:normAutofit fontScale="99924" lnSpcReduction="10000"/>
          </a:bodyPr>
          <a:lstStyle/>
          <a:p>
            <a:pPr algn="l">
              <a:buNone/>
              <a:defRPr sz="1650" b="1" i="0">
                <a:solidFill>
                  <a:srgbClr val="101820"/>
                </a:solidFill>
                <a:latin typeface="Helvetica Neue"/>
                <a:ea typeface="Helvetica Neue"/>
                <a:cs typeface="Helvetica Neue"/>
              </a:defRPr>
            </a:pPr>
            <a:r>
              <a:rPr sz="1650" b="1" i="0">
                <a:solidFill>
                  <a:srgbClr val="101820"/>
                </a:solidFill>
                <a:latin typeface="Helvetica Neue"/>
                <a:ea typeface="Helvetica Neue"/>
                <a:cs typeface="Helvetica Neue"/>
              </a:rPr>
              <a:t>06  Conditional purchasing</a:t>
            </a:r>
          </a:p>
        </p:txBody>
      </p:sp>
      <p:sp>
        <p:nvSpPr>
          <p:cNvPr id="23" name="Rectangle 22">
            <a:extLst>
              <a:ext uri="{FF2B5EF4-FFF2-40B4-BE49-F238E27FC236}">
                <a16:creationId xmlns:a16="http://schemas.microsoft.com/office/drawing/2014/main" id="{F9CB5707-A350-4A4A-A4F7-50C4B7BFA4A5}"/>
              </a:ext>
            </a:extLst>
          </p:cNvPr>
          <p:cNvSpPr>
            <a:spLocks noGrp="1"/>
          </p:cNvSpPr>
          <p:nvPr/>
        </p:nvSpPr>
        <p:spPr>
          <a:xfrm>
            <a:off x="6305550" y="3314700"/>
            <a:ext cx="5486400" cy="590550"/>
          </a:xfrm>
          <a:prstGeom prst="rect">
            <a:avLst/>
          </a:prstGeom>
          <a:noFill/>
          <a:ln w="0">
            <a:noFill/>
            <a:prstDash val="solid"/>
          </a:ln>
        </p:spPr>
        <p:txBody>
          <a:bodyPr anchor="t">
            <a:normAutofit/>
          </a:bodyPr>
          <a:lstStyle/>
          <a:p>
            <a:pPr algn="l">
              <a:buNone/>
              <a:defRPr sz="1275" b="0" i="0">
                <a:solidFill>
                  <a:srgbClr val="5E6973"/>
                </a:solidFill>
                <a:latin typeface="Helvetica Neue"/>
                <a:ea typeface="Helvetica Neue"/>
                <a:cs typeface="Helvetica Neue"/>
              </a:defRPr>
            </a:pPr>
            <a:r>
              <a:rPr sz="1275" b="0" i="0">
                <a:solidFill>
                  <a:srgbClr val="5E6973"/>
                </a:solidFill>
                <a:latin typeface="Helvetica Neue"/>
                <a:ea typeface="Helvetica Neue"/>
                <a:cs typeface="Helvetica Neue"/>
              </a:rPr>
              <a:t>Act only when price, availability, timing or other user-set rules are satisfied.</a:t>
            </a:r>
          </a:p>
        </p:txBody>
      </p:sp>
      <p:cxnSp>
        <p:nvCxnSpPr>
          <p:cNvPr id="196" name="Straight Arrow Connector 51"/>
          <p:cNvCxnSpPr/>
          <p:nvPr/>
        </p:nvCxnSpPr>
        <p:spPr>
          <a:xfrm>
            <a:off x="6305550" y="4200525"/>
            <a:ext cx="5486400" cy="0"/>
          </a:xfrm>
          <a:prstGeom prst="straightConnector1">
            <a:avLst/>
          </a:prstGeom>
          <a:ln w="9525">
            <a:solidFill>
              <a:srgbClr val="C9CED3"/>
            </a:solidFill>
            <a:prstDash val="solid"/>
          </a:ln>
        </p:spPr>
      </p:cxnSp>
      <p:sp>
        <p:nvSpPr>
          <p:cNvPr id="25" name="Rectangle 24">
            <a:extLst>
              <a:ext uri="{FF2B5EF4-FFF2-40B4-BE49-F238E27FC236}">
                <a16:creationId xmlns:a16="http://schemas.microsoft.com/office/drawing/2014/main" id="{5DDAF307-7FB2-4DA4-91BD-AA9B1BC594AC}"/>
              </a:ext>
            </a:extLst>
          </p:cNvPr>
          <p:cNvSpPr>
            <a:spLocks noGrp="1"/>
          </p:cNvSpPr>
          <p:nvPr/>
        </p:nvSpPr>
        <p:spPr>
          <a:xfrm>
            <a:off x="6305550" y="4314825"/>
            <a:ext cx="5486400" cy="323850"/>
          </a:xfrm>
          <a:prstGeom prst="rect">
            <a:avLst/>
          </a:prstGeom>
          <a:noFill/>
          <a:ln w="0">
            <a:noFill/>
            <a:prstDash val="solid"/>
          </a:ln>
        </p:spPr>
        <p:txBody>
          <a:bodyPr anchor="t">
            <a:normAutofit fontScale="99924" lnSpcReduction="10000"/>
          </a:bodyPr>
          <a:lstStyle/>
          <a:p>
            <a:pPr algn="l">
              <a:buNone/>
              <a:defRPr sz="1650" b="1" i="0">
                <a:solidFill>
                  <a:srgbClr val="101820"/>
                </a:solidFill>
                <a:latin typeface="Helvetica Neue"/>
                <a:ea typeface="Helvetica Neue"/>
                <a:cs typeface="Helvetica Neue"/>
              </a:defRPr>
            </a:pPr>
            <a:r>
              <a:rPr sz="1650" b="1" i="0">
                <a:solidFill>
                  <a:srgbClr val="101820"/>
                </a:solidFill>
                <a:latin typeface="Helvetica Neue"/>
                <a:ea typeface="Helvetica Neue"/>
                <a:cs typeface="Helvetica Neue"/>
              </a:rPr>
              <a:t>07  Replenishment and management</a:t>
            </a:r>
          </a:p>
        </p:txBody>
      </p:sp>
      <p:sp>
        <p:nvSpPr>
          <p:cNvPr id="26" name="Rectangle 25">
            <a:extLst>
              <a:ext uri="{FF2B5EF4-FFF2-40B4-BE49-F238E27FC236}">
                <a16:creationId xmlns:a16="http://schemas.microsoft.com/office/drawing/2014/main" id="{B16AABCF-5A6B-494D-AF18-ABD871DACBE8}"/>
              </a:ext>
            </a:extLst>
          </p:cNvPr>
          <p:cNvSpPr>
            <a:spLocks noGrp="1"/>
          </p:cNvSpPr>
          <p:nvPr/>
        </p:nvSpPr>
        <p:spPr>
          <a:xfrm>
            <a:off x="6305550" y="4695825"/>
            <a:ext cx="5486400" cy="590550"/>
          </a:xfrm>
          <a:prstGeom prst="rect">
            <a:avLst/>
          </a:prstGeom>
          <a:noFill/>
          <a:ln w="0">
            <a:noFill/>
            <a:prstDash val="solid"/>
          </a:ln>
        </p:spPr>
        <p:txBody>
          <a:bodyPr anchor="t">
            <a:normAutofit/>
          </a:bodyPr>
          <a:lstStyle/>
          <a:p>
            <a:pPr algn="l">
              <a:buNone/>
              <a:defRPr sz="1275" b="0" i="0">
                <a:solidFill>
                  <a:srgbClr val="5E6973"/>
                </a:solidFill>
                <a:latin typeface="Helvetica Neue"/>
                <a:ea typeface="Helvetica Neue"/>
                <a:cs typeface="Helvetica Neue"/>
              </a:defRPr>
            </a:pPr>
            <a:r>
              <a:rPr sz="1275" b="0" i="0">
                <a:solidFill>
                  <a:srgbClr val="5E6973"/>
                </a:solidFill>
                <a:latin typeface="Helvetica Neue"/>
                <a:ea typeface="Helvetica Neue"/>
                <a:cs typeface="Helvetica Neue"/>
              </a:rPr>
              <a:t>Reorder routines, track deliveries, change orders and initiate returns.</a:t>
            </a:r>
          </a:p>
        </p:txBody>
      </p:sp>
    </p:spTree>
    <p:extLst>
      <p:ext uri="{BB962C8B-B14F-4D97-AF65-F5344CB8AC3E}">
        <p14:creationId xmlns:p14="http://schemas.microsoft.com/office/powerpoint/2010/main" val="304350416"/>
      </p:ext>
    </p:extLst>
  </p:cSld>
  <p:clrMapOvr>
    <a:masterClrMapping/>
  </p:clrMapOvr>
  <mc:AlternateContent xmlns:mc="http://schemas.openxmlformats.org/markup-compatibility/2006" xmlns:p14="http://schemas.microsoft.com/office/powerpoint/2010/main">
    <mc:Choice Requires="p14">
      <p:transition spd="slow" p14:dur="2000" advTm="20373"/>
    </mc:Choice>
    <mc:Fallback xmlns="">
      <p:transition spd="slow" advTm="2037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B5F4019-69A8-4D16-A8B3-82B1BCC8C056}"/>
              </a:ext>
            </a:extLst>
          </p:cNvPr>
          <p:cNvSpPr>
            <a:spLocks noGrp="1"/>
          </p:cNvSpPr>
          <p:nvPr/>
        </p:nvSpPr>
        <p:spPr>
          <a:xfrm>
            <a:off x="400050" y="266700"/>
            <a:ext cx="4000500" cy="190500"/>
          </a:xfrm>
          <a:prstGeom prst="rect">
            <a:avLst/>
          </a:prstGeom>
          <a:noFill/>
          <a:ln w="0">
            <a:noFill/>
            <a:prstDash val="solid"/>
          </a:ln>
        </p:spPr>
        <p:txBody>
          <a:bodyPr anchor="t">
            <a:normAutofit fontScale="87222" lnSpcReduction="20000"/>
          </a:bodyPr>
          <a:lstStyle/>
          <a:p>
            <a:pPr algn="l">
              <a:buNone/>
              <a:defRPr sz="900" b="1" i="0">
                <a:solidFill>
                  <a:srgbClr val="3D8DFF"/>
                </a:solidFill>
                <a:latin typeface="Helvetica Neue"/>
                <a:ea typeface="Helvetica Neue"/>
                <a:cs typeface="Helvetica Neue"/>
              </a:defRPr>
            </a:pPr>
            <a:r>
              <a:rPr sz="900" b="1" i="0">
                <a:solidFill>
                  <a:srgbClr val="3D8DFF"/>
                </a:solidFill>
                <a:latin typeface="Helvetica Neue"/>
                <a:ea typeface="Helvetica Neue"/>
                <a:cs typeface="Helvetica Neue"/>
              </a:rPr>
              <a:t>EXPERIENCE 1 · PLAN THE OUTCOME</a:t>
            </a:r>
          </a:p>
        </p:txBody>
      </p:sp>
      <p:sp>
        <p:nvSpPr>
          <p:cNvPr id="2" name="Rectangle 1">
            <a:extLst>
              <a:ext uri="{FF2B5EF4-FFF2-40B4-BE49-F238E27FC236}">
                <a16:creationId xmlns:a16="http://schemas.microsoft.com/office/drawing/2014/main" id="{8F009043-C00B-43D5-A472-B698631A779B}"/>
              </a:ext>
            </a:extLst>
          </p:cNvPr>
          <p:cNvSpPr>
            <a:spLocks noGrp="1"/>
          </p:cNvSpPr>
          <p:nvPr/>
        </p:nvSpPr>
        <p:spPr>
          <a:xfrm>
            <a:off x="400050" y="514350"/>
            <a:ext cx="11391900" cy="704850"/>
          </a:xfrm>
          <a:prstGeom prst="rect">
            <a:avLst/>
          </a:prstGeom>
          <a:noFill/>
          <a:ln w="0">
            <a:noFill/>
            <a:prstDash val="solid"/>
          </a:ln>
        </p:spPr>
        <p:txBody>
          <a:bodyPr anchor="t">
            <a:normAutofit/>
          </a:bodyPr>
          <a:lstStyle/>
          <a:p>
            <a:pPr algn="l">
              <a:buNone/>
              <a:defRPr sz="3000" b="1" i="0">
                <a:solidFill>
                  <a:srgbClr val="101820"/>
                </a:solidFill>
                <a:latin typeface="Helvetica Neue"/>
                <a:ea typeface="Helvetica Neue"/>
                <a:cs typeface="Helvetica Neue"/>
              </a:defRPr>
            </a:pPr>
            <a:r>
              <a:rPr sz="3000" b="1" i="0">
                <a:solidFill>
                  <a:srgbClr val="101820"/>
                </a:solidFill>
                <a:latin typeface="Helvetica Neue"/>
                <a:ea typeface="Helvetica Neue"/>
                <a:cs typeface="Helvetica Neue"/>
              </a:rPr>
              <a:t>Mission shopping is the first high-value wedge</a:t>
            </a:r>
          </a:p>
        </p:txBody>
      </p:sp>
      <p:cxnSp>
        <p:nvCxnSpPr>
          <p:cNvPr id="115" name="Straight Arrow Connector 24"/>
          <p:cNvCxnSpPr/>
          <p:nvPr/>
        </p:nvCxnSpPr>
        <p:spPr>
          <a:xfrm>
            <a:off x="400050" y="6286500"/>
            <a:ext cx="11391900" cy="0"/>
          </a:xfrm>
          <a:prstGeom prst="straightConnector1">
            <a:avLst/>
          </a:prstGeom>
          <a:ln w="9525">
            <a:solidFill>
              <a:srgbClr val="C9CED3"/>
            </a:solidFill>
            <a:prstDash val="solid"/>
          </a:ln>
        </p:spPr>
      </p:cxnSp>
      <p:sp>
        <p:nvSpPr>
          <p:cNvPr id="4" name="Rectangle 3">
            <a:extLst>
              <a:ext uri="{FF2B5EF4-FFF2-40B4-BE49-F238E27FC236}">
                <a16:creationId xmlns:a16="http://schemas.microsoft.com/office/drawing/2014/main" id="{582C3BC4-1CBC-4505-B8A3-359A3663BC76}"/>
              </a:ext>
            </a:extLst>
          </p:cNvPr>
          <p:cNvSpPr>
            <a:spLocks noGrp="1"/>
          </p:cNvSpPr>
          <p:nvPr/>
        </p:nvSpPr>
        <p:spPr>
          <a:xfrm>
            <a:off x="400050" y="6391275"/>
            <a:ext cx="4000500" cy="171450"/>
          </a:xfrm>
          <a:prstGeom prst="rect">
            <a:avLst/>
          </a:prstGeom>
          <a:noFill/>
          <a:ln w="0">
            <a:noFill/>
            <a:prstDash val="solid"/>
          </a:ln>
        </p:spPr>
        <p:txBody>
          <a:bodyPr anchor="t">
            <a:normAutofit fontScale="78636" lnSpcReduction="20000"/>
          </a:bodyPr>
          <a:lstStyle/>
          <a:p>
            <a:pPr algn="l">
              <a:buNone/>
              <a:defRPr sz="825" b="1" i="0">
                <a:solidFill>
                  <a:srgbClr val="5E6973"/>
                </a:solidFill>
                <a:latin typeface="Helvetica Neue"/>
                <a:ea typeface="Helvetica Neue"/>
                <a:cs typeface="Helvetica Neue"/>
              </a:defRPr>
            </a:pPr>
            <a:r>
              <a:rPr sz="825" b="1" i="0">
                <a:solidFill>
                  <a:srgbClr val="5E6973"/>
                </a:solidFill>
                <a:latin typeface="Helvetica Neue"/>
                <a:ea typeface="Helvetica Neue"/>
                <a:cs typeface="Helvetica Neue"/>
              </a:rPr>
              <a:t>AGENTIC SHOPPING EXPERIENCES</a:t>
            </a:r>
          </a:p>
        </p:txBody>
      </p:sp>
      <p:sp>
        <p:nvSpPr>
          <p:cNvPr id="5" name="Rectangle 4">
            <a:extLst>
              <a:ext uri="{FF2B5EF4-FFF2-40B4-BE49-F238E27FC236}">
                <a16:creationId xmlns:a16="http://schemas.microsoft.com/office/drawing/2014/main" id="{949FD386-AA1C-44F2-AB15-E6D38E2A9B95}"/>
              </a:ext>
            </a:extLst>
          </p:cNvPr>
          <p:cNvSpPr>
            <a:spLocks noGrp="1"/>
          </p:cNvSpPr>
          <p:nvPr/>
        </p:nvSpPr>
        <p:spPr>
          <a:xfrm>
            <a:off x="11239500" y="6372225"/>
            <a:ext cx="552450" cy="190500"/>
          </a:xfrm>
          <a:prstGeom prst="rect">
            <a:avLst/>
          </a:prstGeom>
          <a:noFill/>
          <a:ln w="0">
            <a:noFill/>
            <a:prstDash val="solid"/>
          </a:ln>
        </p:spPr>
        <p:txBody>
          <a:bodyPr anchor="t">
            <a:normAutofit fontScale="87222" lnSpcReduction="20000"/>
          </a:bodyPr>
          <a:lstStyle/>
          <a:p>
            <a:pPr algn="r">
              <a:buNone/>
              <a:defRPr sz="900" b="1" i="0">
                <a:solidFill>
                  <a:srgbClr val="101820"/>
                </a:solidFill>
                <a:latin typeface="Helvetica Neue"/>
                <a:ea typeface="Helvetica Neue"/>
                <a:cs typeface="Helvetica Neue"/>
              </a:defRPr>
            </a:pPr>
            <a:r>
              <a:rPr sz="900" b="1" i="0">
                <a:solidFill>
                  <a:srgbClr val="101820"/>
                </a:solidFill>
                <a:latin typeface="Helvetica Neue"/>
                <a:ea typeface="Helvetica Neue"/>
                <a:cs typeface="Helvetica Neue"/>
              </a:rPr>
              <a:t>04</a:t>
            </a:r>
          </a:p>
        </p:txBody>
      </p:sp>
      <p:sp>
        <p:nvSpPr>
          <p:cNvPr id="6" name="Rectangle 5">
            <a:extLst>
              <a:ext uri="{FF2B5EF4-FFF2-40B4-BE49-F238E27FC236}">
                <a16:creationId xmlns:a16="http://schemas.microsoft.com/office/drawing/2014/main" id="{59763822-ABD7-4CEB-951F-33B6B329D0DB}"/>
              </a:ext>
            </a:extLst>
          </p:cNvPr>
          <p:cNvSpPr>
            <a:spLocks noGrp="1"/>
          </p:cNvSpPr>
          <p:nvPr/>
        </p:nvSpPr>
        <p:spPr>
          <a:xfrm>
            <a:off x="400050" y="1533525"/>
            <a:ext cx="5000625" cy="723900"/>
          </a:xfrm>
          <a:prstGeom prst="rect">
            <a:avLst/>
          </a:prstGeom>
          <a:noFill/>
          <a:ln w="0">
            <a:noFill/>
            <a:prstDash val="solid"/>
          </a:ln>
        </p:spPr>
        <p:txBody>
          <a:bodyPr anchor="t">
            <a:normAutofit fontScale="99722" lnSpcReduction="10000"/>
          </a:bodyPr>
          <a:lstStyle/>
          <a:p>
            <a:pPr>
              <a:defRPr sz="2250" b="1" i="0">
                <a:solidFill>
                  <a:srgbClr val="101820"/>
                </a:solidFill>
                <a:latin typeface="Helvetica Neue"/>
                <a:ea typeface="Helvetica Neue"/>
                <a:cs typeface="Helvetica Neue"/>
              </a:defRPr>
            </a:pPr>
            <a:r>
              <a:rPr sz="2250" b="1" i="0" dirty="0">
                <a:solidFill>
                  <a:srgbClr val="101820"/>
                </a:solidFill>
                <a:latin typeface="Helvetica Neue"/>
                <a:ea typeface="Helvetica Neue"/>
                <a:cs typeface="Helvetica Neue"/>
              </a:rPr>
              <a:t>“Plan </a:t>
            </a:r>
            <a:r>
              <a:rPr lang="en-CA" sz="2250" b="1" i="0" dirty="0">
                <a:solidFill>
                  <a:srgbClr val="101820"/>
                </a:solidFill>
                <a:latin typeface="Helvetica Neue"/>
                <a:ea typeface="Helvetica Neue"/>
                <a:cs typeface="Helvetica Neue"/>
              </a:rPr>
              <a:t>a</a:t>
            </a:r>
            <a:r>
              <a:rPr sz="2250" b="1" i="0" dirty="0">
                <a:solidFill>
                  <a:srgbClr val="101820"/>
                </a:solidFill>
                <a:latin typeface="Helvetica Neue"/>
                <a:ea typeface="Helvetica Neue"/>
                <a:cs typeface="Helvetica Neue"/>
              </a:rPr>
              <a:t> </a:t>
            </a:r>
            <a:r>
              <a:rPr lang="en-CA" sz="2250" b="1" i="0" dirty="0">
                <a:solidFill>
                  <a:srgbClr val="101820"/>
                </a:solidFill>
                <a:latin typeface="Helvetica Neue"/>
                <a:ea typeface="Helvetica Neue"/>
                <a:cs typeface="Helvetica Neue"/>
              </a:rPr>
              <a:t>night out for 4, gluten-free, under </a:t>
            </a:r>
            <a:r>
              <a:rPr lang="en-CA" sz="2250" b="1" dirty="0">
                <a:solidFill>
                  <a:srgbClr val="101820"/>
                </a:solidFill>
                <a:latin typeface="Helvetica Neue"/>
              </a:rPr>
              <a:t>€</a:t>
            </a:r>
            <a:r>
              <a:rPr lang="en-CA" sz="2250" b="1" i="0" dirty="0">
                <a:solidFill>
                  <a:srgbClr val="101820"/>
                </a:solidFill>
                <a:latin typeface="Helvetica Neue"/>
                <a:ea typeface="Helvetica Neue"/>
                <a:cs typeface="Helvetica Neue"/>
              </a:rPr>
              <a:t>150 per person .”</a:t>
            </a:r>
            <a:endParaRPr sz="2250" b="1" i="0" dirty="0">
              <a:solidFill>
                <a:srgbClr val="101820"/>
              </a:solidFill>
              <a:latin typeface="Helvetica Neue"/>
              <a:ea typeface="Helvetica Neue"/>
              <a:cs typeface="Helvetica Neue"/>
            </a:endParaRPr>
          </a:p>
        </p:txBody>
      </p:sp>
      <p:sp>
        <p:nvSpPr>
          <p:cNvPr id="7" name="Rectangle 6">
            <a:extLst>
              <a:ext uri="{FF2B5EF4-FFF2-40B4-BE49-F238E27FC236}">
                <a16:creationId xmlns:a16="http://schemas.microsoft.com/office/drawing/2014/main" id="{4767AEC8-8A9B-4185-B83F-6CFD54C53FEE}"/>
              </a:ext>
            </a:extLst>
          </p:cNvPr>
          <p:cNvSpPr>
            <a:spLocks noGrp="1"/>
          </p:cNvSpPr>
          <p:nvPr/>
        </p:nvSpPr>
        <p:spPr>
          <a:xfrm>
            <a:off x="400050" y="2695575"/>
            <a:ext cx="457200" cy="266700"/>
          </a:xfrm>
          <a:prstGeom prst="rect">
            <a:avLst/>
          </a:prstGeom>
          <a:noFill/>
          <a:ln w="0">
            <a:noFill/>
            <a:prstDash val="solid"/>
          </a:ln>
        </p:spPr>
        <p:txBody>
          <a:bodyPr anchor="t">
            <a:normAutofit fontScale="85185"/>
          </a:bodyPr>
          <a:lstStyle/>
          <a:p>
            <a:pPr algn="l">
              <a:buNone/>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01</a:t>
            </a:r>
          </a:p>
        </p:txBody>
      </p:sp>
      <p:sp>
        <p:nvSpPr>
          <p:cNvPr id="8" name="Rectangle 7">
            <a:extLst>
              <a:ext uri="{FF2B5EF4-FFF2-40B4-BE49-F238E27FC236}">
                <a16:creationId xmlns:a16="http://schemas.microsoft.com/office/drawing/2014/main" id="{1764BF53-2DF2-43D1-A455-CBF12746BBC2}"/>
              </a:ext>
            </a:extLst>
          </p:cNvPr>
          <p:cNvSpPr>
            <a:spLocks noGrp="1"/>
          </p:cNvSpPr>
          <p:nvPr/>
        </p:nvSpPr>
        <p:spPr>
          <a:xfrm>
            <a:off x="933450" y="2657475"/>
            <a:ext cx="2286000" cy="304800"/>
          </a:xfrm>
          <a:prstGeom prst="rect">
            <a:avLst/>
          </a:prstGeom>
          <a:noFill/>
          <a:ln w="0">
            <a:noFill/>
            <a:prstDash val="solid"/>
          </a:ln>
        </p:spPr>
        <p:txBody>
          <a:bodyPr anchor="t">
            <a:normAutofit fontScale="76307" lnSpcReduction="20000"/>
          </a:bodyPr>
          <a:lstStyle/>
          <a:p>
            <a:pPr algn="l">
              <a:buNone/>
              <a:defRPr sz="1650" b="1" i="0">
                <a:solidFill>
                  <a:srgbClr val="101820"/>
                </a:solidFill>
                <a:latin typeface="Helvetica Neue"/>
                <a:ea typeface="Helvetica Neue"/>
                <a:cs typeface="Helvetica Neue"/>
              </a:defRPr>
            </a:pPr>
            <a:r>
              <a:rPr sz="1650" b="1" i="0">
                <a:solidFill>
                  <a:srgbClr val="101820"/>
                </a:solidFill>
                <a:latin typeface="Helvetica Neue"/>
                <a:ea typeface="Helvetica Neue"/>
                <a:cs typeface="Helvetica Neue"/>
              </a:rPr>
              <a:t>Understands the mission</a:t>
            </a:r>
          </a:p>
        </p:txBody>
      </p:sp>
      <p:sp>
        <p:nvSpPr>
          <p:cNvPr id="9" name="Rectangle 8">
            <a:extLst>
              <a:ext uri="{FF2B5EF4-FFF2-40B4-BE49-F238E27FC236}">
                <a16:creationId xmlns:a16="http://schemas.microsoft.com/office/drawing/2014/main" id="{40F56F61-7C97-4E33-B771-4ABF8B7EC64F}"/>
              </a:ext>
            </a:extLst>
          </p:cNvPr>
          <p:cNvSpPr>
            <a:spLocks noGrp="1"/>
          </p:cNvSpPr>
          <p:nvPr/>
        </p:nvSpPr>
        <p:spPr>
          <a:xfrm>
            <a:off x="3238500" y="2676525"/>
            <a:ext cx="2524125" cy="514350"/>
          </a:xfrm>
          <a:prstGeom prst="rect">
            <a:avLst/>
          </a:prstGeom>
          <a:noFill/>
          <a:ln w="0">
            <a:noFill/>
            <a:prstDash val="solid"/>
          </a:ln>
        </p:spPr>
        <p:txBody>
          <a:bodyPr anchor="t">
            <a:normAutofit/>
          </a:bodyPr>
          <a:lstStyle/>
          <a:p>
            <a:pPr algn="l">
              <a:buNone/>
              <a:defRPr sz="1275" b="0" i="0">
                <a:solidFill>
                  <a:srgbClr val="5E6973"/>
                </a:solidFill>
                <a:latin typeface="Helvetica Neue"/>
                <a:ea typeface="Helvetica Neue"/>
                <a:cs typeface="Helvetica Neue"/>
              </a:defRPr>
            </a:pPr>
            <a:r>
              <a:rPr sz="1275" b="0" i="0">
                <a:solidFill>
                  <a:srgbClr val="5E6973"/>
                </a:solidFill>
                <a:latin typeface="Helvetica Neue"/>
                <a:ea typeface="Helvetica Neue"/>
                <a:cs typeface="Helvetica Neue"/>
              </a:rPr>
              <a:t>occasion, people, dietary needs, budget</a:t>
            </a:r>
          </a:p>
        </p:txBody>
      </p:sp>
      <p:cxnSp>
        <p:nvCxnSpPr>
          <p:cNvPr id="122" name="Straight Arrow Connector 31"/>
          <p:cNvCxnSpPr/>
          <p:nvPr/>
        </p:nvCxnSpPr>
        <p:spPr>
          <a:xfrm>
            <a:off x="933450" y="3276600"/>
            <a:ext cx="4476750" cy="0"/>
          </a:xfrm>
          <a:prstGeom prst="straightConnector1">
            <a:avLst/>
          </a:prstGeom>
          <a:ln w="9525">
            <a:solidFill>
              <a:srgbClr val="C9CED3"/>
            </a:solidFill>
            <a:prstDash val="solid"/>
          </a:ln>
        </p:spPr>
      </p:cxnSp>
      <p:sp>
        <p:nvSpPr>
          <p:cNvPr id="11" name="Rectangle 10">
            <a:extLst>
              <a:ext uri="{FF2B5EF4-FFF2-40B4-BE49-F238E27FC236}">
                <a16:creationId xmlns:a16="http://schemas.microsoft.com/office/drawing/2014/main" id="{88A8E553-DF83-4563-A104-11B312F9CC5E}"/>
              </a:ext>
            </a:extLst>
          </p:cNvPr>
          <p:cNvSpPr>
            <a:spLocks noGrp="1"/>
          </p:cNvSpPr>
          <p:nvPr/>
        </p:nvSpPr>
        <p:spPr>
          <a:xfrm>
            <a:off x="400050" y="3514725"/>
            <a:ext cx="457200" cy="266700"/>
          </a:xfrm>
          <a:prstGeom prst="rect">
            <a:avLst/>
          </a:prstGeom>
          <a:noFill/>
          <a:ln w="0">
            <a:noFill/>
            <a:prstDash val="solid"/>
          </a:ln>
        </p:spPr>
        <p:txBody>
          <a:bodyPr anchor="t">
            <a:normAutofit fontScale="85185"/>
          </a:bodyPr>
          <a:lstStyle/>
          <a:p>
            <a:pPr algn="l">
              <a:buNone/>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02</a:t>
            </a:r>
          </a:p>
        </p:txBody>
      </p:sp>
      <p:sp>
        <p:nvSpPr>
          <p:cNvPr id="12" name="Rectangle 11">
            <a:extLst>
              <a:ext uri="{FF2B5EF4-FFF2-40B4-BE49-F238E27FC236}">
                <a16:creationId xmlns:a16="http://schemas.microsoft.com/office/drawing/2014/main" id="{9F6EEA3A-7DDA-4BC0-BA7E-50B93B2B1DE7}"/>
              </a:ext>
            </a:extLst>
          </p:cNvPr>
          <p:cNvSpPr>
            <a:spLocks noGrp="1"/>
          </p:cNvSpPr>
          <p:nvPr/>
        </p:nvSpPr>
        <p:spPr>
          <a:xfrm>
            <a:off x="933450" y="3476625"/>
            <a:ext cx="2286000" cy="304800"/>
          </a:xfrm>
          <a:prstGeom prst="rect">
            <a:avLst/>
          </a:prstGeom>
          <a:noFill/>
          <a:ln w="0">
            <a:noFill/>
            <a:prstDash val="solid"/>
          </a:ln>
        </p:spPr>
        <p:txBody>
          <a:bodyPr anchor="t">
            <a:normAutofit fontScale="92348" lnSpcReduction="10000"/>
          </a:bodyPr>
          <a:lstStyle/>
          <a:p>
            <a:pPr algn="l">
              <a:buNone/>
              <a:defRPr sz="1650" b="1" i="0">
                <a:solidFill>
                  <a:srgbClr val="101820"/>
                </a:solidFill>
                <a:latin typeface="Helvetica Neue"/>
                <a:ea typeface="Helvetica Neue"/>
                <a:cs typeface="Helvetica Neue"/>
              </a:defRPr>
            </a:pPr>
            <a:r>
              <a:rPr sz="1650" b="1" i="0">
                <a:solidFill>
                  <a:srgbClr val="101820"/>
                </a:solidFill>
                <a:latin typeface="Helvetica Neue"/>
                <a:ea typeface="Helvetica Neue"/>
                <a:cs typeface="Helvetica Neue"/>
              </a:rPr>
              <a:t>Builds the solution</a:t>
            </a:r>
          </a:p>
        </p:txBody>
      </p:sp>
      <p:sp>
        <p:nvSpPr>
          <p:cNvPr id="13" name="Rectangle 12">
            <a:extLst>
              <a:ext uri="{FF2B5EF4-FFF2-40B4-BE49-F238E27FC236}">
                <a16:creationId xmlns:a16="http://schemas.microsoft.com/office/drawing/2014/main" id="{4A04AEB2-4F7A-4896-AF72-9B8E86F76DC0}"/>
              </a:ext>
            </a:extLst>
          </p:cNvPr>
          <p:cNvSpPr>
            <a:spLocks noGrp="1"/>
          </p:cNvSpPr>
          <p:nvPr/>
        </p:nvSpPr>
        <p:spPr>
          <a:xfrm>
            <a:off x="3238500" y="3495675"/>
            <a:ext cx="2524125" cy="514350"/>
          </a:xfrm>
          <a:prstGeom prst="rect">
            <a:avLst/>
          </a:prstGeom>
          <a:noFill/>
          <a:ln w="0">
            <a:noFill/>
            <a:prstDash val="solid"/>
          </a:ln>
        </p:spPr>
        <p:txBody>
          <a:bodyPr anchor="t">
            <a:normAutofit/>
          </a:bodyPr>
          <a:lstStyle/>
          <a:p>
            <a:pPr algn="l">
              <a:buNone/>
              <a:defRPr sz="1275" b="0" i="0">
                <a:solidFill>
                  <a:srgbClr val="5E6973"/>
                </a:solidFill>
                <a:latin typeface="Helvetica Neue"/>
                <a:ea typeface="Helvetica Neue"/>
                <a:cs typeface="Helvetica Neue"/>
              </a:defRPr>
            </a:pPr>
            <a:r>
              <a:rPr sz="1275" b="0" i="0">
                <a:solidFill>
                  <a:srgbClr val="5E6973"/>
                </a:solidFill>
                <a:latin typeface="Helvetica Neue"/>
                <a:ea typeface="Helvetica Neue"/>
                <a:cs typeface="Helvetica Neue"/>
              </a:rPr>
              <a:t>recipes, quantities, products and substitutions</a:t>
            </a:r>
          </a:p>
        </p:txBody>
      </p:sp>
      <p:cxnSp>
        <p:nvCxnSpPr>
          <p:cNvPr id="126" name="Straight Arrow Connector 35"/>
          <p:cNvCxnSpPr/>
          <p:nvPr/>
        </p:nvCxnSpPr>
        <p:spPr>
          <a:xfrm>
            <a:off x="933450" y="4095750"/>
            <a:ext cx="4476750" cy="0"/>
          </a:xfrm>
          <a:prstGeom prst="straightConnector1">
            <a:avLst/>
          </a:prstGeom>
          <a:ln w="9525">
            <a:solidFill>
              <a:srgbClr val="C9CED3"/>
            </a:solidFill>
            <a:prstDash val="solid"/>
          </a:ln>
        </p:spPr>
      </p:cxnSp>
      <p:sp>
        <p:nvSpPr>
          <p:cNvPr id="15" name="Rectangle 14">
            <a:extLst>
              <a:ext uri="{FF2B5EF4-FFF2-40B4-BE49-F238E27FC236}">
                <a16:creationId xmlns:a16="http://schemas.microsoft.com/office/drawing/2014/main" id="{984151EE-8784-4AD9-A1EE-AE5E84A0B51F}"/>
              </a:ext>
            </a:extLst>
          </p:cNvPr>
          <p:cNvSpPr>
            <a:spLocks noGrp="1"/>
          </p:cNvSpPr>
          <p:nvPr/>
        </p:nvSpPr>
        <p:spPr>
          <a:xfrm>
            <a:off x="400050" y="4333875"/>
            <a:ext cx="457200" cy="266700"/>
          </a:xfrm>
          <a:prstGeom prst="rect">
            <a:avLst/>
          </a:prstGeom>
          <a:noFill/>
          <a:ln w="0">
            <a:noFill/>
            <a:prstDash val="solid"/>
          </a:ln>
        </p:spPr>
        <p:txBody>
          <a:bodyPr anchor="t">
            <a:normAutofit fontScale="85185"/>
          </a:bodyPr>
          <a:lstStyle/>
          <a:p>
            <a:pPr algn="l">
              <a:buNone/>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03</a:t>
            </a:r>
          </a:p>
        </p:txBody>
      </p:sp>
      <p:sp>
        <p:nvSpPr>
          <p:cNvPr id="16" name="Rectangle 15">
            <a:extLst>
              <a:ext uri="{FF2B5EF4-FFF2-40B4-BE49-F238E27FC236}">
                <a16:creationId xmlns:a16="http://schemas.microsoft.com/office/drawing/2014/main" id="{058863FC-837D-42D3-9FE1-5DAA0FEC552F}"/>
              </a:ext>
            </a:extLst>
          </p:cNvPr>
          <p:cNvSpPr>
            <a:spLocks noGrp="1"/>
          </p:cNvSpPr>
          <p:nvPr/>
        </p:nvSpPr>
        <p:spPr>
          <a:xfrm>
            <a:off x="933450" y="4295775"/>
            <a:ext cx="2286000" cy="304800"/>
          </a:xfrm>
          <a:prstGeom prst="rect">
            <a:avLst/>
          </a:prstGeom>
          <a:noFill/>
          <a:ln w="0">
            <a:noFill/>
            <a:prstDash val="solid"/>
          </a:ln>
        </p:spPr>
        <p:txBody>
          <a:bodyPr anchor="t">
            <a:normAutofit fontScale="92348" lnSpcReduction="10000"/>
          </a:bodyPr>
          <a:lstStyle/>
          <a:p>
            <a:pPr algn="l">
              <a:buNone/>
              <a:defRPr sz="1650" b="1" i="0">
                <a:solidFill>
                  <a:srgbClr val="101820"/>
                </a:solidFill>
                <a:latin typeface="Helvetica Neue"/>
                <a:ea typeface="Helvetica Neue"/>
                <a:cs typeface="Helvetica Neue"/>
              </a:defRPr>
            </a:pPr>
            <a:r>
              <a:rPr sz="1650" b="1" i="0">
                <a:solidFill>
                  <a:srgbClr val="101820"/>
                </a:solidFill>
                <a:latin typeface="Helvetica Neue"/>
                <a:ea typeface="Helvetica Neue"/>
                <a:cs typeface="Helvetica Neue"/>
              </a:rPr>
              <a:t>Completes the basket</a:t>
            </a:r>
          </a:p>
        </p:txBody>
      </p:sp>
      <p:sp>
        <p:nvSpPr>
          <p:cNvPr id="17" name="Rectangle 16">
            <a:extLst>
              <a:ext uri="{FF2B5EF4-FFF2-40B4-BE49-F238E27FC236}">
                <a16:creationId xmlns:a16="http://schemas.microsoft.com/office/drawing/2014/main" id="{9AEF667A-D198-48DC-B970-8C3D1F978CC4}"/>
              </a:ext>
            </a:extLst>
          </p:cNvPr>
          <p:cNvSpPr>
            <a:spLocks noGrp="1"/>
          </p:cNvSpPr>
          <p:nvPr/>
        </p:nvSpPr>
        <p:spPr>
          <a:xfrm>
            <a:off x="3238500" y="4314825"/>
            <a:ext cx="2524125" cy="514350"/>
          </a:xfrm>
          <a:prstGeom prst="rect">
            <a:avLst/>
          </a:prstGeom>
          <a:noFill/>
          <a:ln w="0">
            <a:noFill/>
            <a:prstDash val="solid"/>
          </a:ln>
        </p:spPr>
        <p:txBody>
          <a:bodyPr anchor="t">
            <a:normAutofit/>
          </a:bodyPr>
          <a:lstStyle/>
          <a:p>
            <a:pPr algn="l">
              <a:buNone/>
              <a:defRPr sz="1275" b="0" i="0">
                <a:solidFill>
                  <a:srgbClr val="5E6973"/>
                </a:solidFill>
                <a:latin typeface="Helvetica Neue"/>
                <a:ea typeface="Helvetica Neue"/>
                <a:cs typeface="Helvetica Neue"/>
              </a:defRPr>
            </a:pPr>
            <a:r>
              <a:rPr sz="1275" b="0" i="0">
                <a:solidFill>
                  <a:srgbClr val="5E6973"/>
                </a:solidFill>
                <a:latin typeface="Helvetica Neue"/>
                <a:ea typeface="Helvetica Neue"/>
                <a:cs typeface="Helvetica Neue"/>
              </a:rPr>
              <a:t>cross-category items that shoppers often forget</a:t>
            </a:r>
          </a:p>
        </p:txBody>
      </p:sp>
      <p:sp>
        <p:nvSpPr>
          <p:cNvPr id="18" name="Rectangle 17">
            <a:extLst>
              <a:ext uri="{FF2B5EF4-FFF2-40B4-BE49-F238E27FC236}">
                <a16:creationId xmlns:a16="http://schemas.microsoft.com/office/drawing/2014/main" id="{08791B8B-C086-4067-A979-1FFE8A92D2D3}"/>
              </a:ext>
            </a:extLst>
          </p:cNvPr>
          <p:cNvSpPr>
            <a:spLocks noGrp="1"/>
          </p:cNvSpPr>
          <p:nvPr/>
        </p:nvSpPr>
        <p:spPr>
          <a:xfrm>
            <a:off x="400050" y="5305425"/>
            <a:ext cx="5181600" cy="685800"/>
          </a:xfrm>
          <a:prstGeom prst="rect">
            <a:avLst/>
          </a:prstGeom>
          <a:solidFill>
            <a:srgbClr val="EAF5FB"/>
          </a:solidFill>
          <a:ln w="0">
            <a:noFill/>
            <a:prstDash val="solid"/>
          </a:ln>
        </p:spPr>
        <p:txBody>
          <a:bodyPr/>
          <a:lstStyle/>
          <a:p>
            <a:endParaRPr/>
          </a:p>
        </p:txBody>
      </p:sp>
      <p:sp>
        <p:nvSpPr>
          <p:cNvPr id="19" name="Rectangle 18">
            <a:extLst>
              <a:ext uri="{FF2B5EF4-FFF2-40B4-BE49-F238E27FC236}">
                <a16:creationId xmlns:a16="http://schemas.microsoft.com/office/drawing/2014/main" id="{56E8C84F-FDA8-43C3-823E-CF267B860982}"/>
              </a:ext>
            </a:extLst>
          </p:cNvPr>
          <p:cNvSpPr>
            <a:spLocks noGrp="1"/>
          </p:cNvSpPr>
          <p:nvPr/>
        </p:nvSpPr>
        <p:spPr>
          <a:xfrm>
            <a:off x="552450" y="5457825"/>
            <a:ext cx="1143000" cy="228600"/>
          </a:xfrm>
          <a:prstGeom prst="rect">
            <a:avLst/>
          </a:prstGeom>
          <a:noFill/>
          <a:ln w="0">
            <a:noFill/>
            <a:prstDash val="solid"/>
          </a:ln>
        </p:spPr>
        <p:txBody>
          <a:bodyPr anchor="t">
            <a:normAutofit fontScale="81667" lnSpcReduction="20000"/>
          </a:bodyPr>
          <a:lstStyle/>
          <a:p>
            <a:pPr algn="l">
              <a:buNone/>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Why it wins</a:t>
            </a:r>
          </a:p>
        </p:txBody>
      </p:sp>
      <p:sp>
        <p:nvSpPr>
          <p:cNvPr id="20" name="Rectangle 19">
            <a:extLst>
              <a:ext uri="{FF2B5EF4-FFF2-40B4-BE49-F238E27FC236}">
                <a16:creationId xmlns:a16="http://schemas.microsoft.com/office/drawing/2014/main" id="{C3C9E23F-2223-4E79-85BE-D77B33038150}"/>
              </a:ext>
            </a:extLst>
          </p:cNvPr>
          <p:cNvSpPr>
            <a:spLocks noGrp="1"/>
          </p:cNvSpPr>
          <p:nvPr/>
        </p:nvSpPr>
        <p:spPr>
          <a:xfrm>
            <a:off x="1752600" y="5400675"/>
            <a:ext cx="3667125" cy="457200"/>
          </a:xfrm>
          <a:prstGeom prst="rect">
            <a:avLst/>
          </a:prstGeom>
          <a:noFill/>
          <a:ln w="0">
            <a:noFill/>
            <a:prstDash val="solid"/>
          </a:ln>
        </p:spPr>
        <p:txBody>
          <a:bodyPr anchor="t">
            <a:normAutofit fontScale="96389" lnSpcReduction="10000"/>
          </a:bodyPr>
          <a:lstStyle/>
          <a:p>
            <a:pPr algn="l">
              <a:buNone/>
              <a:defRPr sz="1350" b="1" i="0">
                <a:solidFill>
                  <a:srgbClr val="101820"/>
                </a:solidFill>
                <a:latin typeface="Helvetica Neue"/>
                <a:ea typeface="Helvetica Neue"/>
                <a:cs typeface="Helvetica Neue"/>
              </a:defRPr>
            </a:pPr>
            <a:r>
              <a:rPr sz="1350" b="1" i="0">
                <a:solidFill>
                  <a:srgbClr val="101820"/>
                </a:solidFill>
                <a:latin typeface="Helvetica Neue"/>
                <a:ea typeface="Helvetica Neue"/>
                <a:cs typeface="Helvetica Neue"/>
              </a:rPr>
              <a:t>Less cognitive work for the shopper; more complete baskets for the retailer.</a:t>
            </a:r>
          </a:p>
        </p:txBody>
      </p:sp>
      <p:sp>
        <p:nvSpPr>
          <p:cNvPr id="21" name="Rectangle: Rounded Corners 20">
            <a:extLst>
              <a:ext uri="{FF2B5EF4-FFF2-40B4-BE49-F238E27FC236}">
                <a16:creationId xmlns:a16="http://schemas.microsoft.com/office/drawing/2014/main" id="{794447E5-BA91-40C2-9F80-7D95EFE8970E}"/>
              </a:ext>
            </a:extLst>
          </p:cNvPr>
          <p:cNvSpPr>
            <a:spLocks noGrp="1"/>
          </p:cNvSpPr>
          <p:nvPr/>
        </p:nvSpPr>
        <p:spPr>
          <a:xfrm>
            <a:off x="6181725" y="1457325"/>
            <a:ext cx="5610225" cy="4514850"/>
          </a:xfrm>
          <a:prstGeom prst="roundRect">
            <a:avLst>
              <a:gd name="adj" fmla="val 2532"/>
            </a:avLst>
          </a:prstGeom>
          <a:solidFill>
            <a:srgbClr val="EAF5FB"/>
          </a:solidFill>
          <a:ln w="9525">
            <a:solidFill>
              <a:srgbClr val="C9CED3"/>
            </a:solidFill>
            <a:prstDash val="solid"/>
          </a:ln>
        </p:spPr>
        <p:txBody>
          <a:bodyPr/>
          <a:lstStyle/>
          <a:p>
            <a:endParaRPr/>
          </a:p>
        </p:txBody>
      </p:sp>
      <p:pic>
        <p:nvPicPr>
          <p:cNvPr id="134" name="Picture 9"/>
          <p:cNvPicPr>
            <a:picLocks noChangeAspect="1"/>
          </p:cNvPicPr>
          <p:nvPr/>
        </p:nvPicPr>
        <p:blipFill>
          <a:blip r:embed="rId3"/>
          <a:srcRect l="15207" r="15207"/>
          <a:stretch>
            <a:fillRect/>
          </a:stretch>
        </p:blipFill>
        <p:spPr>
          <a:xfrm>
            <a:off x="6334125" y="1609725"/>
            <a:ext cx="5610225" cy="4514850"/>
          </a:xfrm>
          <a:prstGeom prst="roundRect">
            <a:avLst>
              <a:gd name="adj" fmla="val 2532"/>
            </a:avLst>
          </a:prstGeom>
        </p:spPr>
      </p:pic>
    </p:spTree>
    <p:extLst>
      <p:ext uri="{BB962C8B-B14F-4D97-AF65-F5344CB8AC3E}">
        <p14:creationId xmlns:p14="http://schemas.microsoft.com/office/powerpoint/2010/main" val="4164150750"/>
      </p:ext>
    </p:extLst>
  </p:cSld>
  <p:clrMapOvr>
    <a:masterClrMapping/>
  </p:clrMapOvr>
  <mc:AlternateContent xmlns:mc="http://schemas.openxmlformats.org/markup-compatibility/2006" xmlns:p14="http://schemas.microsoft.com/office/powerpoint/2010/main">
    <mc:Choice Requires="p14">
      <p:transition spd="slow" p14:dur="2000" advTm="60844"/>
    </mc:Choice>
    <mc:Fallback xmlns="">
      <p:transition spd="slow" advTm="60844"/>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EFF8C17-59BE-4660-A3B2-FC4B6800DBFF}"/>
              </a:ext>
            </a:extLst>
          </p:cNvPr>
          <p:cNvSpPr>
            <a:spLocks noGrp="1"/>
          </p:cNvSpPr>
          <p:nvPr/>
        </p:nvSpPr>
        <p:spPr>
          <a:xfrm>
            <a:off x="400050" y="266700"/>
            <a:ext cx="4000500" cy="190500"/>
          </a:xfrm>
          <a:prstGeom prst="rect">
            <a:avLst/>
          </a:prstGeom>
          <a:noFill/>
          <a:ln w="0">
            <a:noFill/>
            <a:prstDash val="solid"/>
          </a:ln>
        </p:spPr>
        <p:txBody>
          <a:bodyPr anchor="t">
            <a:normAutofit fontScale="87222" lnSpcReduction="20000"/>
          </a:bodyPr>
          <a:lstStyle/>
          <a:p>
            <a:pPr algn="l">
              <a:buNone/>
              <a:defRPr sz="900" b="1" i="0">
                <a:solidFill>
                  <a:srgbClr val="3D8DFF"/>
                </a:solidFill>
                <a:latin typeface="Helvetica Neue"/>
                <a:ea typeface="Helvetica Neue"/>
                <a:cs typeface="Helvetica Neue"/>
              </a:defRPr>
            </a:pPr>
            <a:r>
              <a:rPr sz="900" b="1" i="0">
                <a:solidFill>
                  <a:srgbClr val="3D8DFF"/>
                </a:solidFill>
                <a:latin typeface="Helvetica Neue"/>
                <a:ea typeface="Helvetica Neue"/>
                <a:cs typeface="Helvetica Neue"/>
              </a:rPr>
              <a:t>EARLY COMMERCIAL EVIDENCE</a:t>
            </a:r>
          </a:p>
        </p:txBody>
      </p:sp>
      <p:sp>
        <p:nvSpPr>
          <p:cNvPr id="2" name="Rectangle 1">
            <a:extLst>
              <a:ext uri="{FF2B5EF4-FFF2-40B4-BE49-F238E27FC236}">
                <a16:creationId xmlns:a16="http://schemas.microsoft.com/office/drawing/2014/main" id="{0A407783-9FB2-458F-A134-1515D119F616}"/>
              </a:ext>
            </a:extLst>
          </p:cNvPr>
          <p:cNvSpPr>
            <a:spLocks noGrp="1"/>
          </p:cNvSpPr>
          <p:nvPr/>
        </p:nvSpPr>
        <p:spPr>
          <a:xfrm>
            <a:off x="400050" y="514350"/>
            <a:ext cx="11391900" cy="704850"/>
          </a:xfrm>
          <a:prstGeom prst="rect">
            <a:avLst/>
          </a:prstGeom>
          <a:noFill/>
          <a:ln w="0">
            <a:noFill/>
            <a:prstDash val="solid"/>
          </a:ln>
        </p:spPr>
        <p:txBody>
          <a:bodyPr anchor="t">
            <a:normAutofit/>
          </a:bodyPr>
          <a:lstStyle/>
          <a:p>
            <a:pPr algn="l">
              <a:buNone/>
              <a:defRPr sz="3000" b="1" i="0">
                <a:solidFill>
                  <a:srgbClr val="101820"/>
                </a:solidFill>
                <a:latin typeface="Helvetica Neue"/>
                <a:ea typeface="Helvetica Neue"/>
                <a:cs typeface="Helvetica Neue"/>
              </a:defRPr>
            </a:pPr>
            <a:r>
              <a:rPr sz="3000" b="1" i="0">
                <a:solidFill>
                  <a:srgbClr val="101820"/>
                </a:solidFill>
                <a:latin typeface="Helvetica Neue"/>
                <a:ea typeface="Helvetica Neue"/>
                <a:cs typeface="Helvetica Neue"/>
              </a:rPr>
              <a:t>The first win is better baskets—not hands-off buying</a:t>
            </a:r>
          </a:p>
        </p:txBody>
      </p:sp>
      <p:cxnSp>
        <p:nvCxnSpPr>
          <p:cNvPr id="50" name="Straight Arrow Connector 25"/>
          <p:cNvCxnSpPr/>
          <p:nvPr/>
        </p:nvCxnSpPr>
        <p:spPr>
          <a:xfrm>
            <a:off x="400050" y="6286500"/>
            <a:ext cx="11391900" cy="0"/>
          </a:xfrm>
          <a:prstGeom prst="straightConnector1">
            <a:avLst/>
          </a:prstGeom>
          <a:ln w="9525">
            <a:solidFill>
              <a:srgbClr val="C9CED3"/>
            </a:solidFill>
            <a:prstDash val="solid"/>
          </a:ln>
        </p:spPr>
      </p:cxnSp>
      <p:sp>
        <p:nvSpPr>
          <p:cNvPr id="4" name="Rectangle 3">
            <a:extLst>
              <a:ext uri="{FF2B5EF4-FFF2-40B4-BE49-F238E27FC236}">
                <a16:creationId xmlns:a16="http://schemas.microsoft.com/office/drawing/2014/main" id="{45A39E1F-03EF-4DD0-BCBB-5CDDD69B9A9E}"/>
              </a:ext>
            </a:extLst>
          </p:cNvPr>
          <p:cNvSpPr>
            <a:spLocks noGrp="1"/>
          </p:cNvSpPr>
          <p:nvPr/>
        </p:nvSpPr>
        <p:spPr>
          <a:xfrm>
            <a:off x="400050" y="6391275"/>
            <a:ext cx="4000500" cy="171450"/>
          </a:xfrm>
          <a:prstGeom prst="rect">
            <a:avLst/>
          </a:prstGeom>
          <a:noFill/>
          <a:ln w="0">
            <a:noFill/>
            <a:prstDash val="solid"/>
          </a:ln>
        </p:spPr>
        <p:txBody>
          <a:bodyPr anchor="t">
            <a:normAutofit fontScale="78636" lnSpcReduction="20000"/>
          </a:bodyPr>
          <a:lstStyle/>
          <a:p>
            <a:pPr algn="l">
              <a:buNone/>
              <a:defRPr sz="825" b="1" i="0">
                <a:solidFill>
                  <a:srgbClr val="5E6973"/>
                </a:solidFill>
                <a:latin typeface="Helvetica Neue"/>
                <a:ea typeface="Helvetica Neue"/>
                <a:cs typeface="Helvetica Neue"/>
              </a:defRPr>
            </a:pPr>
            <a:r>
              <a:rPr sz="825" b="1" i="0">
                <a:solidFill>
                  <a:srgbClr val="5E6973"/>
                </a:solidFill>
                <a:latin typeface="Helvetica Neue"/>
                <a:ea typeface="Helvetica Neue"/>
                <a:cs typeface="Helvetica Neue"/>
              </a:rPr>
              <a:t>TRUSTED AGENTIC COMMERCE</a:t>
            </a:r>
          </a:p>
        </p:txBody>
      </p:sp>
      <p:sp>
        <p:nvSpPr>
          <p:cNvPr id="5" name="Rectangle 4">
            <a:extLst>
              <a:ext uri="{FF2B5EF4-FFF2-40B4-BE49-F238E27FC236}">
                <a16:creationId xmlns:a16="http://schemas.microsoft.com/office/drawing/2014/main" id="{3E68ACEE-DB01-4C8B-9AF1-A798FE08398A}"/>
              </a:ext>
            </a:extLst>
          </p:cNvPr>
          <p:cNvSpPr>
            <a:spLocks noGrp="1"/>
          </p:cNvSpPr>
          <p:nvPr/>
        </p:nvSpPr>
        <p:spPr>
          <a:xfrm>
            <a:off x="11239500" y="6372225"/>
            <a:ext cx="552450" cy="190500"/>
          </a:xfrm>
          <a:prstGeom prst="rect">
            <a:avLst/>
          </a:prstGeom>
          <a:noFill/>
          <a:ln w="0">
            <a:noFill/>
            <a:prstDash val="solid"/>
          </a:ln>
        </p:spPr>
        <p:txBody>
          <a:bodyPr anchor="t">
            <a:normAutofit fontScale="87222" lnSpcReduction="20000"/>
          </a:bodyPr>
          <a:lstStyle/>
          <a:p>
            <a:pPr algn="r">
              <a:buNone/>
              <a:defRPr sz="900" b="1" i="0">
                <a:solidFill>
                  <a:srgbClr val="101820"/>
                </a:solidFill>
                <a:latin typeface="Helvetica Neue"/>
                <a:ea typeface="Helvetica Neue"/>
                <a:cs typeface="Helvetica Neue"/>
              </a:defRPr>
            </a:pPr>
            <a:r>
              <a:rPr sz="900" b="1" i="0">
                <a:solidFill>
                  <a:srgbClr val="101820"/>
                </a:solidFill>
                <a:latin typeface="Helvetica Neue"/>
                <a:ea typeface="Helvetica Neue"/>
                <a:cs typeface="Helvetica Neue"/>
              </a:rPr>
              <a:t>04</a:t>
            </a:r>
          </a:p>
        </p:txBody>
      </p:sp>
      <p:sp>
        <p:nvSpPr>
          <p:cNvPr id="6" name="Rectangle 5">
            <a:extLst>
              <a:ext uri="{FF2B5EF4-FFF2-40B4-BE49-F238E27FC236}">
                <a16:creationId xmlns:a16="http://schemas.microsoft.com/office/drawing/2014/main" id="{0941CF0B-2287-4248-8AB5-267348248D90}"/>
              </a:ext>
            </a:extLst>
          </p:cNvPr>
          <p:cNvSpPr>
            <a:spLocks noGrp="1"/>
          </p:cNvSpPr>
          <p:nvPr/>
        </p:nvSpPr>
        <p:spPr>
          <a:xfrm>
            <a:off x="400050" y="1419225"/>
            <a:ext cx="5619750" cy="285750"/>
          </a:xfrm>
          <a:prstGeom prst="rect">
            <a:avLst/>
          </a:prstGeom>
          <a:noFill/>
          <a:ln w="0">
            <a:noFill/>
            <a:prstDash val="solid"/>
          </a:ln>
        </p:spPr>
        <p:txBody>
          <a:bodyPr anchor="t">
            <a:normAutofit fontScale="92273" lnSpcReduction="20000"/>
          </a:bodyPr>
          <a:lstStyle/>
          <a:p>
            <a:pPr algn="l">
              <a:buNone/>
              <a:defRPr sz="1650" b="1" i="0">
                <a:solidFill>
                  <a:srgbClr val="101820"/>
                </a:solidFill>
                <a:latin typeface="Helvetica Neue"/>
                <a:ea typeface="Helvetica Neue"/>
                <a:cs typeface="Helvetica Neue"/>
              </a:defRPr>
            </a:pPr>
            <a:r>
              <a:rPr sz="1650" b="1" i="0">
                <a:solidFill>
                  <a:srgbClr val="101820"/>
                </a:solidFill>
                <a:latin typeface="Helvetica Neue"/>
                <a:ea typeface="Helvetica Neue"/>
                <a:cs typeface="Helvetica Neue"/>
              </a:rPr>
              <a:t>Albertsons · average order value index</a:t>
            </a:r>
          </a:p>
        </p:txBody>
      </p:sp>
      <p:sp>
        <p:nvSpPr>
          <p:cNvPr id="7" name="Rectangle 6">
            <a:extLst>
              <a:ext uri="{FF2B5EF4-FFF2-40B4-BE49-F238E27FC236}">
                <a16:creationId xmlns:a16="http://schemas.microsoft.com/office/drawing/2014/main" id="{3C86AC27-3430-4CDC-A12C-8E632FCD1A4A}"/>
              </a:ext>
            </a:extLst>
          </p:cNvPr>
          <p:cNvSpPr>
            <a:spLocks noGrp="1"/>
          </p:cNvSpPr>
          <p:nvPr/>
        </p:nvSpPr>
        <p:spPr>
          <a:xfrm>
            <a:off x="400050" y="1733550"/>
            <a:ext cx="5619750" cy="219075"/>
          </a:xfrm>
          <a:prstGeom prst="rect">
            <a:avLst/>
          </a:prstGeom>
          <a:noFill/>
          <a:ln w="0">
            <a:noFill/>
            <a:prstDash val="solid"/>
          </a:ln>
        </p:spPr>
        <p:txBody>
          <a:bodyPr anchor="t">
            <a:normAutofit fontScale="87262" lnSpcReduction="10000"/>
          </a:bodyPr>
          <a:lstStyle/>
          <a:p>
            <a:pPr algn="l">
              <a:buNone/>
              <a:defRPr sz="1050" b="0" i="0">
                <a:solidFill>
                  <a:srgbClr val="5E6973"/>
                </a:solidFill>
                <a:latin typeface="Helvetica Neue"/>
                <a:ea typeface="Helvetica Neue"/>
                <a:cs typeface="Helvetica Neue"/>
              </a:defRPr>
            </a:pPr>
            <a:r>
              <a:rPr sz="1050" b="0" i="0">
                <a:solidFill>
                  <a:srgbClr val="5E6973"/>
                </a:solidFill>
                <a:latin typeface="Helvetica Neue"/>
                <a:ea typeface="Helvetica Neue"/>
                <a:cs typeface="Helvetica Neue"/>
              </a:rPr>
              <a:t>Non-user comparison normalized to 100</a:t>
            </a:r>
          </a:p>
        </p:txBody>
      </p:sp>
      <p:graphicFrame>
        <p:nvGraphicFramePr>
          <p:cNvPr id="55" name="Chart"/>
          <p:cNvGraphicFramePr/>
          <p:nvPr>
            <p:extLst>
              <p:ext uri="{D42A27DB-BD31-4B8C-83A1-F6EECF244321}">
                <p14:modId xmlns:p14="http://schemas.microsoft.com/office/powerpoint/2010/main" val="1283252365"/>
              </p:ext>
            </p:extLst>
          </p:nvPr>
        </p:nvGraphicFramePr>
        <p:xfrm>
          <a:off x="400050" y="2047875"/>
          <a:ext cx="6238875" cy="3524250"/>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a:extLst>
              <a:ext uri="{FF2B5EF4-FFF2-40B4-BE49-F238E27FC236}">
                <a16:creationId xmlns:a16="http://schemas.microsoft.com/office/drawing/2014/main" id="{3C2FF750-79D1-450E-B2D8-5F7B5B52C773}"/>
              </a:ext>
            </a:extLst>
          </p:cNvPr>
          <p:cNvSpPr>
            <a:spLocks noGrp="1"/>
          </p:cNvSpPr>
          <p:nvPr/>
        </p:nvSpPr>
        <p:spPr>
          <a:xfrm>
            <a:off x="7143750" y="1419225"/>
            <a:ext cx="4648200" cy="1771650"/>
          </a:xfrm>
          <a:prstGeom prst="rect">
            <a:avLst/>
          </a:prstGeom>
          <a:solidFill>
            <a:srgbClr val="EAF5FB"/>
          </a:solidFill>
          <a:ln w="0">
            <a:noFill/>
            <a:prstDash val="solid"/>
          </a:ln>
        </p:spPr>
        <p:txBody>
          <a:bodyPr/>
          <a:lstStyle/>
          <a:p>
            <a:endParaRPr/>
          </a:p>
        </p:txBody>
      </p:sp>
      <p:sp>
        <p:nvSpPr>
          <p:cNvPr id="10" name="Rectangle 9">
            <a:extLst>
              <a:ext uri="{FF2B5EF4-FFF2-40B4-BE49-F238E27FC236}">
                <a16:creationId xmlns:a16="http://schemas.microsoft.com/office/drawing/2014/main" id="{7AE04D4E-ABCD-43BE-9E35-43028B85ABD6}"/>
              </a:ext>
            </a:extLst>
          </p:cNvPr>
          <p:cNvSpPr>
            <a:spLocks noGrp="1"/>
          </p:cNvSpPr>
          <p:nvPr/>
        </p:nvSpPr>
        <p:spPr>
          <a:xfrm>
            <a:off x="7429500" y="1676400"/>
            <a:ext cx="2095500" cy="628650"/>
          </a:xfrm>
          <a:prstGeom prst="rect">
            <a:avLst/>
          </a:prstGeom>
          <a:noFill/>
          <a:ln w="0">
            <a:noFill/>
            <a:prstDash val="solid"/>
          </a:ln>
        </p:spPr>
        <p:txBody>
          <a:bodyPr anchor="t">
            <a:normAutofit fontScale="97917"/>
          </a:bodyPr>
          <a:lstStyle/>
          <a:p>
            <a:pPr algn="l">
              <a:buNone/>
              <a:defRPr sz="3600" b="1" i="0">
                <a:solidFill>
                  <a:srgbClr val="3D8DFF"/>
                </a:solidFill>
                <a:latin typeface="Helvetica Neue"/>
                <a:ea typeface="Helvetica Neue"/>
                <a:cs typeface="Helvetica Neue"/>
              </a:defRPr>
            </a:pPr>
            <a:r>
              <a:rPr sz="3600" b="1" i="0">
                <a:solidFill>
                  <a:srgbClr val="3D8DFF"/>
                </a:solidFill>
                <a:latin typeface="Helvetica Neue"/>
                <a:ea typeface="Helvetica Neue"/>
                <a:cs typeface="Helvetica Neue"/>
              </a:rPr>
              <a:t>300M+</a:t>
            </a:r>
          </a:p>
        </p:txBody>
      </p:sp>
      <p:sp>
        <p:nvSpPr>
          <p:cNvPr id="11" name="Rectangle 10">
            <a:extLst>
              <a:ext uri="{FF2B5EF4-FFF2-40B4-BE49-F238E27FC236}">
                <a16:creationId xmlns:a16="http://schemas.microsoft.com/office/drawing/2014/main" id="{0142B7D7-1C5A-4E7B-BDB9-F16302CA52EA}"/>
              </a:ext>
            </a:extLst>
          </p:cNvPr>
          <p:cNvSpPr>
            <a:spLocks noGrp="1"/>
          </p:cNvSpPr>
          <p:nvPr/>
        </p:nvSpPr>
        <p:spPr>
          <a:xfrm>
            <a:off x="7429500" y="2324100"/>
            <a:ext cx="3857625" cy="590550"/>
          </a:xfrm>
          <a:prstGeom prst="rect">
            <a:avLst/>
          </a:prstGeom>
          <a:noFill/>
          <a:ln w="0">
            <a:noFill/>
            <a:prstDash val="solid"/>
          </a:ln>
        </p:spPr>
        <p:txBody>
          <a:bodyPr anchor="t">
            <a:normAutofit/>
          </a:bodyPr>
          <a:lstStyle/>
          <a:p>
            <a:pPr algn="l">
              <a:buNone/>
              <a:defRPr sz="1425" b="1" i="0">
                <a:solidFill>
                  <a:srgbClr val="101820"/>
                </a:solidFill>
                <a:latin typeface="Helvetica Neue"/>
                <a:ea typeface="Helvetica Neue"/>
                <a:cs typeface="Helvetica Neue"/>
              </a:defRPr>
            </a:pPr>
            <a:r>
              <a:rPr sz="1425" b="1" i="0">
                <a:solidFill>
                  <a:srgbClr val="101820"/>
                </a:solidFill>
                <a:latin typeface="Helvetica Neue"/>
                <a:ea typeface="Helvetica Neue"/>
                <a:cs typeface="Helvetica Neue"/>
              </a:rPr>
              <a:t>customers used Amazon’s shopping assistant in 2025</a:t>
            </a:r>
          </a:p>
        </p:txBody>
      </p:sp>
      <p:sp>
        <p:nvSpPr>
          <p:cNvPr id="12" name="Rectangle 11">
            <a:extLst>
              <a:ext uri="{FF2B5EF4-FFF2-40B4-BE49-F238E27FC236}">
                <a16:creationId xmlns:a16="http://schemas.microsoft.com/office/drawing/2014/main" id="{81D5D9D4-B46A-4F55-994F-194DD0C4FE89}"/>
              </a:ext>
            </a:extLst>
          </p:cNvPr>
          <p:cNvSpPr>
            <a:spLocks noGrp="1"/>
          </p:cNvSpPr>
          <p:nvPr/>
        </p:nvSpPr>
        <p:spPr>
          <a:xfrm>
            <a:off x="7143750" y="3409950"/>
            <a:ext cx="4648200" cy="1771650"/>
          </a:xfrm>
          <a:prstGeom prst="rect">
            <a:avLst/>
          </a:prstGeom>
          <a:solidFill>
            <a:srgbClr val="F1F3F4"/>
          </a:solidFill>
          <a:ln w="0">
            <a:noFill/>
            <a:prstDash val="solid"/>
          </a:ln>
        </p:spPr>
        <p:txBody>
          <a:bodyPr/>
          <a:lstStyle/>
          <a:p>
            <a:endParaRPr/>
          </a:p>
        </p:txBody>
      </p:sp>
      <p:sp>
        <p:nvSpPr>
          <p:cNvPr id="13" name="Rectangle 12">
            <a:extLst>
              <a:ext uri="{FF2B5EF4-FFF2-40B4-BE49-F238E27FC236}">
                <a16:creationId xmlns:a16="http://schemas.microsoft.com/office/drawing/2014/main" id="{5C2BCCC5-7044-4639-8D6D-D597003A3113}"/>
              </a:ext>
            </a:extLst>
          </p:cNvPr>
          <p:cNvSpPr>
            <a:spLocks noGrp="1"/>
          </p:cNvSpPr>
          <p:nvPr/>
        </p:nvSpPr>
        <p:spPr>
          <a:xfrm>
            <a:off x="7429500" y="3667125"/>
            <a:ext cx="2095500" cy="628650"/>
          </a:xfrm>
          <a:prstGeom prst="rect">
            <a:avLst/>
          </a:prstGeom>
          <a:noFill/>
          <a:ln w="0">
            <a:noFill/>
            <a:prstDash val="solid"/>
          </a:ln>
        </p:spPr>
        <p:txBody>
          <a:bodyPr anchor="t">
            <a:normAutofit fontScale="97917"/>
          </a:bodyPr>
          <a:lstStyle/>
          <a:p>
            <a:pPr algn="l">
              <a:buNone/>
              <a:defRPr sz="3600" b="1" i="0">
                <a:solidFill>
                  <a:srgbClr val="6F61D9"/>
                </a:solidFill>
                <a:latin typeface="Helvetica Neue"/>
                <a:ea typeface="Helvetica Neue"/>
                <a:cs typeface="Helvetica Neue"/>
              </a:defRPr>
            </a:pPr>
            <a:r>
              <a:rPr sz="3600" b="1" i="0">
                <a:solidFill>
                  <a:srgbClr val="6F61D9"/>
                </a:solidFill>
                <a:latin typeface="Helvetica Neue"/>
                <a:ea typeface="Helvetica Neue"/>
                <a:cs typeface="Helvetica Neue"/>
              </a:rPr>
              <a:t>60%+</a:t>
            </a:r>
          </a:p>
        </p:txBody>
      </p:sp>
      <p:sp>
        <p:nvSpPr>
          <p:cNvPr id="14" name="Rectangle 13">
            <a:extLst>
              <a:ext uri="{FF2B5EF4-FFF2-40B4-BE49-F238E27FC236}">
                <a16:creationId xmlns:a16="http://schemas.microsoft.com/office/drawing/2014/main" id="{D4ECB29C-0BB8-4127-8351-372D8368254F}"/>
              </a:ext>
            </a:extLst>
          </p:cNvPr>
          <p:cNvSpPr>
            <a:spLocks noGrp="1"/>
          </p:cNvSpPr>
          <p:nvPr/>
        </p:nvSpPr>
        <p:spPr>
          <a:xfrm>
            <a:off x="7429500" y="4314825"/>
            <a:ext cx="3857625" cy="590550"/>
          </a:xfrm>
          <a:prstGeom prst="rect">
            <a:avLst/>
          </a:prstGeom>
          <a:noFill/>
          <a:ln w="0">
            <a:noFill/>
            <a:prstDash val="solid"/>
          </a:ln>
        </p:spPr>
        <p:txBody>
          <a:bodyPr anchor="t">
            <a:normAutofit/>
          </a:bodyPr>
          <a:lstStyle/>
          <a:p>
            <a:pPr algn="l">
              <a:buNone/>
              <a:defRPr sz="1425" b="1" i="0">
                <a:solidFill>
                  <a:srgbClr val="101820"/>
                </a:solidFill>
                <a:latin typeface="Helvetica Neue"/>
                <a:ea typeface="Helvetica Neue"/>
                <a:cs typeface="Helvetica Neue"/>
              </a:defRPr>
            </a:pPr>
            <a:r>
              <a:rPr sz="1425" b="1" i="0">
                <a:solidFill>
                  <a:srgbClr val="101820"/>
                </a:solidFill>
                <a:latin typeface="Helvetica Neue"/>
                <a:ea typeface="Helvetica Neue"/>
                <a:cs typeface="Helvetica Neue"/>
              </a:rPr>
              <a:t>more likely to convert when Rufus was used in the journey</a:t>
            </a:r>
          </a:p>
        </p:txBody>
      </p:sp>
      <p:sp>
        <p:nvSpPr>
          <p:cNvPr id="15" name="Rectangle 14">
            <a:extLst>
              <a:ext uri="{FF2B5EF4-FFF2-40B4-BE49-F238E27FC236}">
                <a16:creationId xmlns:a16="http://schemas.microsoft.com/office/drawing/2014/main" id="{F7BA26B1-4CF8-41E5-8A77-95853EEF7162}"/>
              </a:ext>
            </a:extLst>
          </p:cNvPr>
          <p:cNvSpPr>
            <a:spLocks noGrp="1"/>
          </p:cNvSpPr>
          <p:nvPr/>
        </p:nvSpPr>
        <p:spPr>
          <a:xfrm>
            <a:off x="7143750" y="5429250"/>
            <a:ext cx="4648200" cy="447675"/>
          </a:xfrm>
          <a:prstGeom prst="rect">
            <a:avLst/>
          </a:prstGeom>
          <a:noFill/>
          <a:ln w="0">
            <a:noFill/>
            <a:prstDash val="solid"/>
          </a:ln>
        </p:spPr>
        <p:txBody>
          <a:bodyPr anchor="t">
            <a:normAutofit/>
          </a:bodyPr>
          <a:lstStyle/>
          <a:p>
            <a:pPr algn="l">
              <a:buNone/>
              <a:defRPr sz="1050" b="0" i="1">
                <a:solidFill>
                  <a:srgbClr val="5E6973"/>
                </a:solidFill>
                <a:latin typeface="Helvetica Neue"/>
                <a:ea typeface="Helvetica Neue"/>
                <a:cs typeface="Helvetica Neue"/>
              </a:defRPr>
            </a:pPr>
            <a:r>
              <a:rPr sz="1050" b="0" i="1">
                <a:solidFill>
                  <a:srgbClr val="5E6973"/>
                </a:solidFill>
                <a:latin typeface="Helvetica Neue"/>
                <a:ea typeface="Helvetica Neue"/>
                <a:cs typeface="Helvetica Neue"/>
              </a:rPr>
              <a:t>Company-reported and observational; the figures do not establish causation.</a:t>
            </a:r>
          </a:p>
        </p:txBody>
      </p:sp>
    </p:spTree>
    <p:extLst>
      <p:ext uri="{BB962C8B-B14F-4D97-AF65-F5344CB8AC3E}">
        <p14:creationId xmlns:p14="http://schemas.microsoft.com/office/powerpoint/2010/main" val="7793901"/>
      </p:ext>
    </p:extLst>
  </p:cSld>
  <p:clrMapOvr>
    <a:masterClrMapping/>
  </p:clrMapOvr>
  <mc:AlternateContent xmlns:mc="http://schemas.openxmlformats.org/markup-compatibility/2006" xmlns:p14="http://schemas.microsoft.com/office/powerpoint/2010/main">
    <mc:Choice Requires="p14">
      <p:transition spd="slow" p14:dur="2000" advTm="52482"/>
    </mc:Choice>
    <mc:Fallback xmlns="">
      <p:transition spd="slow" advTm="52482"/>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EE21C75-6D5C-4C21-A6D1-796B26A393A8}"/>
              </a:ext>
            </a:extLst>
          </p:cNvPr>
          <p:cNvSpPr>
            <a:spLocks noGrp="1"/>
          </p:cNvSpPr>
          <p:nvPr/>
        </p:nvSpPr>
        <p:spPr>
          <a:xfrm>
            <a:off x="400050" y="266700"/>
            <a:ext cx="4000500" cy="190500"/>
          </a:xfrm>
          <a:prstGeom prst="rect">
            <a:avLst/>
          </a:prstGeom>
          <a:noFill/>
          <a:ln w="0">
            <a:noFill/>
            <a:prstDash val="solid"/>
          </a:ln>
        </p:spPr>
        <p:txBody>
          <a:bodyPr anchor="t">
            <a:normAutofit fontScale="87222" lnSpcReduction="20000"/>
          </a:bodyPr>
          <a:lstStyle/>
          <a:p>
            <a:pPr algn="l">
              <a:buNone/>
              <a:defRPr sz="900" b="1" i="0">
                <a:solidFill>
                  <a:srgbClr val="3D8DFF"/>
                </a:solidFill>
                <a:latin typeface="Helvetica Neue"/>
                <a:ea typeface="Helvetica Neue"/>
                <a:cs typeface="Helvetica Neue"/>
              </a:defRPr>
            </a:pPr>
            <a:r>
              <a:rPr sz="900" b="1" i="0">
                <a:solidFill>
                  <a:srgbClr val="3D8DFF"/>
                </a:solidFill>
                <a:latin typeface="Helvetica Neue"/>
                <a:ea typeface="Helvetica Neue"/>
                <a:cs typeface="Helvetica Neue"/>
              </a:rPr>
              <a:t>THREE GENERAL-PURPOSE FRONT DOORS</a:t>
            </a:r>
          </a:p>
        </p:txBody>
      </p:sp>
      <p:sp>
        <p:nvSpPr>
          <p:cNvPr id="2" name="Rectangle 1">
            <a:extLst>
              <a:ext uri="{FF2B5EF4-FFF2-40B4-BE49-F238E27FC236}">
                <a16:creationId xmlns:a16="http://schemas.microsoft.com/office/drawing/2014/main" id="{ADFC096A-BD05-497A-95A0-260FD994679F}"/>
              </a:ext>
            </a:extLst>
          </p:cNvPr>
          <p:cNvSpPr>
            <a:spLocks noGrp="1"/>
          </p:cNvSpPr>
          <p:nvPr/>
        </p:nvSpPr>
        <p:spPr>
          <a:xfrm>
            <a:off x="400050" y="514350"/>
            <a:ext cx="11391900" cy="704850"/>
          </a:xfrm>
          <a:prstGeom prst="rect">
            <a:avLst/>
          </a:prstGeom>
          <a:noFill/>
          <a:ln w="0">
            <a:noFill/>
            <a:prstDash val="solid"/>
          </a:ln>
        </p:spPr>
        <p:txBody>
          <a:bodyPr anchor="t">
            <a:normAutofit/>
          </a:bodyPr>
          <a:lstStyle/>
          <a:p>
            <a:pPr algn="l">
              <a:buNone/>
              <a:defRPr sz="3000" b="1" i="0">
                <a:solidFill>
                  <a:srgbClr val="101820"/>
                </a:solidFill>
                <a:latin typeface="Helvetica Neue"/>
                <a:ea typeface="Helvetica Neue"/>
                <a:cs typeface="Helvetica Neue"/>
              </a:defRPr>
            </a:pPr>
            <a:r>
              <a:rPr sz="3000" b="1" i="0">
                <a:solidFill>
                  <a:srgbClr val="101820"/>
                </a:solidFill>
                <a:latin typeface="Helvetica Neue"/>
                <a:ea typeface="Helvetica Neue"/>
                <a:cs typeface="Helvetica Neue"/>
              </a:rPr>
              <a:t>Shopping is moving to wherever the conversation starts</a:t>
            </a:r>
          </a:p>
        </p:txBody>
      </p:sp>
      <p:cxnSp>
        <p:nvCxnSpPr>
          <p:cNvPr id="139" name="Straight Arrow Connector 24"/>
          <p:cNvCxnSpPr/>
          <p:nvPr/>
        </p:nvCxnSpPr>
        <p:spPr>
          <a:xfrm>
            <a:off x="400050" y="6286500"/>
            <a:ext cx="11391900" cy="0"/>
          </a:xfrm>
          <a:prstGeom prst="straightConnector1">
            <a:avLst/>
          </a:prstGeom>
          <a:ln w="9525">
            <a:solidFill>
              <a:srgbClr val="C9CED3"/>
            </a:solidFill>
            <a:prstDash val="solid"/>
          </a:ln>
        </p:spPr>
      </p:cxnSp>
      <p:sp>
        <p:nvSpPr>
          <p:cNvPr id="4" name="Rectangle 3">
            <a:extLst>
              <a:ext uri="{FF2B5EF4-FFF2-40B4-BE49-F238E27FC236}">
                <a16:creationId xmlns:a16="http://schemas.microsoft.com/office/drawing/2014/main" id="{A4D09EC8-6AEC-4483-89A7-2955E62164A9}"/>
              </a:ext>
            </a:extLst>
          </p:cNvPr>
          <p:cNvSpPr>
            <a:spLocks noGrp="1"/>
          </p:cNvSpPr>
          <p:nvPr/>
        </p:nvSpPr>
        <p:spPr>
          <a:xfrm>
            <a:off x="400050" y="6391275"/>
            <a:ext cx="4000500" cy="171450"/>
          </a:xfrm>
          <a:prstGeom prst="rect">
            <a:avLst/>
          </a:prstGeom>
          <a:noFill/>
          <a:ln w="0">
            <a:noFill/>
            <a:prstDash val="solid"/>
          </a:ln>
        </p:spPr>
        <p:txBody>
          <a:bodyPr anchor="t">
            <a:normAutofit fontScale="78636" lnSpcReduction="20000"/>
          </a:bodyPr>
          <a:lstStyle/>
          <a:p>
            <a:pPr algn="l">
              <a:buNone/>
              <a:defRPr sz="825" b="1" i="0">
                <a:solidFill>
                  <a:srgbClr val="5E6973"/>
                </a:solidFill>
                <a:latin typeface="Helvetica Neue"/>
                <a:ea typeface="Helvetica Neue"/>
                <a:cs typeface="Helvetica Neue"/>
              </a:defRPr>
            </a:pPr>
            <a:r>
              <a:rPr sz="825" b="1" i="0">
                <a:solidFill>
                  <a:srgbClr val="5E6973"/>
                </a:solidFill>
                <a:latin typeface="Helvetica Neue"/>
                <a:ea typeface="Helvetica Neue"/>
                <a:cs typeface="Helvetica Neue"/>
              </a:rPr>
              <a:t>AGENTIC SHOPPING EXPERIENCES</a:t>
            </a:r>
          </a:p>
        </p:txBody>
      </p:sp>
      <p:sp>
        <p:nvSpPr>
          <p:cNvPr id="5" name="Rectangle 4">
            <a:extLst>
              <a:ext uri="{FF2B5EF4-FFF2-40B4-BE49-F238E27FC236}">
                <a16:creationId xmlns:a16="http://schemas.microsoft.com/office/drawing/2014/main" id="{9E953998-9E96-45BF-B212-D71309C97A51}"/>
              </a:ext>
            </a:extLst>
          </p:cNvPr>
          <p:cNvSpPr>
            <a:spLocks noGrp="1"/>
          </p:cNvSpPr>
          <p:nvPr/>
        </p:nvSpPr>
        <p:spPr>
          <a:xfrm>
            <a:off x="11239500" y="6372225"/>
            <a:ext cx="552450" cy="190500"/>
          </a:xfrm>
          <a:prstGeom prst="rect">
            <a:avLst/>
          </a:prstGeom>
          <a:noFill/>
          <a:ln w="0">
            <a:noFill/>
            <a:prstDash val="solid"/>
          </a:ln>
        </p:spPr>
        <p:txBody>
          <a:bodyPr anchor="t">
            <a:normAutofit fontScale="87222" lnSpcReduction="20000"/>
          </a:bodyPr>
          <a:lstStyle/>
          <a:p>
            <a:pPr algn="r">
              <a:buNone/>
              <a:defRPr sz="900" b="1" i="0">
                <a:solidFill>
                  <a:srgbClr val="101820"/>
                </a:solidFill>
                <a:latin typeface="Helvetica Neue"/>
                <a:ea typeface="Helvetica Neue"/>
                <a:cs typeface="Helvetica Neue"/>
              </a:defRPr>
            </a:pPr>
            <a:r>
              <a:rPr sz="900" b="1" i="0">
                <a:solidFill>
                  <a:srgbClr val="101820"/>
                </a:solidFill>
                <a:latin typeface="Helvetica Neue"/>
                <a:ea typeface="Helvetica Neue"/>
                <a:cs typeface="Helvetica Neue"/>
              </a:rPr>
              <a:t>06</a:t>
            </a:r>
          </a:p>
        </p:txBody>
      </p:sp>
      <p:sp>
        <p:nvSpPr>
          <p:cNvPr id="6" name="Rectangle 5">
            <a:extLst>
              <a:ext uri="{FF2B5EF4-FFF2-40B4-BE49-F238E27FC236}">
                <a16:creationId xmlns:a16="http://schemas.microsoft.com/office/drawing/2014/main" id="{24FF8CFF-301B-42FC-B95C-1C95D54A9C14}"/>
              </a:ext>
            </a:extLst>
          </p:cNvPr>
          <p:cNvSpPr>
            <a:spLocks noGrp="1"/>
          </p:cNvSpPr>
          <p:nvPr/>
        </p:nvSpPr>
        <p:spPr>
          <a:xfrm>
            <a:off x="400050" y="1524000"/>
            <a:ext cx="3448050" cy="3857625"/>
          </a:xfrm>
          <a:prstGeom prst="rect">
            <a:avLst/>
          </a:prstGeom>
          <a:solidFill>
            <a:srgbClr val="F1F3F4"/>
          </a:solidFill>
          <a:ln w="0">
            <a:noFill/>
            <a:prstDash val="solid"/>
          </a:ln>
        </p:spPr>
        <p:txBody>
          <a:bodyPr/>
          <a:lstStyle/>
          <a:p>
            <a:endParaRPr/>
          </a:p>
        </p:txBody>
      </p:sp>
      <p:sp>
        <p:nvSpPr>
          <p:cNvPr id="7" name="Rectangle 6">
            <a:extLst>
              <a:ext uri="{FF2B5EF4-FFF2-40B4-BE49-F238E27FC236}">
                <a16:creationId xmlns:a16="http://schemas.microsoft.com/office/drawing/2014/main" id="{DFCD2644-D059-4850-B520-774EA11E622F}"/>
              </a:ext>
            </a:extLst>
          </p:cNvPr>
          <p:cNvSpPr>
            <a:spLocks noGrp="1"/>
          </p:cNvSpPr>
          <p:nvPr/>
        </p:nvSpPr>
        <p:spPr>
          <a:xfrm>
            <a:off x="628650" y="1790700"/>
            <a:ext cx="2990850" cy="685800"/>
          </a:xfrm>
          <a:prstGeom prst="rect">
            <a:avLst/>
          </a:prstGeom>
          <a:noFill/>
          <a:ln w="0">
            <a:noFill/>
            <a:prstDash val="solid"/>
          </a:ln>
        </p:spPr>
        <p:txBody>
          <a:bodyPr anchor="t">
            <a:normAutofit/>
          </a:bodyPr>
          <a:lstStyle/>
          <a:p>
            <a:pPr algn="l">
              <a:buNone/>
              <a:defRPr sz="2175" b="1" i="0">
                <a:solidFill>
                  <a:srgbClr val="101820"/>
                </a:solidFill>
                <a:latin typeface="Helvetica Neue"/>
                <a:ea typeface="Helvetica Neue"/>
                <a:cs typeface="Helvetica Neue"/>
              </a:defRPr>
            </a:pPr>
            <a:r>
              <a:rPr sz="2175" b="1" i="0">
                <a:solidFill>
                  <a:srgbClr val="101820"/>
                </a:solidFill>
                <a:latin typeface="Helvetica Neue"/>
                <a:ea typeface="Helvetica Neue"/>
                <a:cs typeface="Helvetica Neue"/>
              </a:rPr>
              <a:t>ChatGPT</a:t>
            </a:r>
          </a:p>
        </p:txBody>
      </p:sp>
      <p:sp>
        <p:nvSpPr>
          <p:cNvPr id="8" name="Rectangle 7">
            <a:extLst>
              <a:ext uri="{FF2B5EF4-FFF2-40B4-BE49-F238E27FC236}">
                <a16:creationId xmlns:a16="http://schemas.microsoft.com/office/drawing/2014/main" id="{CB0B5D59-1281-47AF-98B1-97EB1DBD69EF}"/>
              </a:ext>
            </a:extLst>
          </p:cNvPr>
          <p:cNvSpPr>
            <a:spLocks noGrp="1"/>
          </p:cNvSpPr>
          <p:nvPr/>
        </p:nvSpPr>
        <p:spPr>
          <a:xfrm>
            <a:off x="628650" y="2676525"/>
            <a:ext cx="2990850" cy="1362075"/>
          </a:xfrm>
          <a:prstGeom prst="rect">
            <a:avLst/>
          </a:prstGeom>
          <a:noFill/>
          <a:ln w="0">
            <a:noFill/>
            <a:prstDash val="solid"/>
          </a:ln>
        </p:spPr>
        <p:txBody>
          <a:bodyPr anchor="t">
            <a:normAutofit/>
          </a:bodyPr>
          <a:lstStyle/>
          <a:p>
            <a:pPr algn="l">
              <a:buNone/>
              <a:defRPr sz="1425" b="0" i="0">
                <a:solidFill>
                  <a:srgbClr val="5E6973"/>
                </a:solidFill>
                <a:latin typeface="Helvetica Neue"/>
                <a:ea typeface="Helvetica Neue"/>
                <a:cs typeface="Helvetica Neue"/>
              </a:defRPr>
            </a:pPr>
            <a:r>
              <a:rPr sz="1425" b="0" i="0">
                <a:solidFill>
                  <a:srgbClr val="5E6973"/>
                </a:solidFill>
                <a:latin typeface="Helvetica Neue"/>
                <a:ea typeface="Helvetica Neue"/>
                <a:cs typeface="Helvetica Neue"/>
              </a:rPr>
              <a:t>Richer cross-merchant product discovery. Current direction emphasizes merchant-owned checkout after evaluation.</a:t>
            </a:r>
          </a:p>
        </p:txBody>
      </p:sp>
      <p:cxnSp>
        <p:nvCxnSpPr>
          <p:cNvPr id="145" name="Straight Arrow Connector 30"/>
          <p:cNvCxnSpPr/>
          <p:nvPr/>
        </p:nvCxnSpPr>
        <p:spPr>
          <a:xfrm>
            <a:off x="628650" y="4248150"/>
            <a:ext cx="2990850" cy="0"/>
          </a:xfrm>
          <a:prstGeom prst="straightConnector1">
            <a:avLst/>
          </a:prstGeom>
          <a:ln w="9525">
            <a:solidFill>
              <a:srgbClr val="C9CED3"/>
            </a:solidFill>
            <a:prstDash val="solid"/>
          </a:ln>
        </p:spPr>
      </p:cxnSp>
      <p:sp>
        <p:nvSpPr>
          <p:cNvPr id="10" name="Rectangle 9">
            <a:extLst>
              <a:ext uri="{FF2B5EF4-FFF2-40B4-BE49-F238E27FC236}">
                <a16:creationId xmlns:a16="http://schemas.microsoft.com/office/drawing/2014/main" id="{6F6FA05B-B67B-4894-9041-7C64342E3A4F}"/>
              </a:ext>
            </a:extLst>
          </p:cNvPr>
          <p:cNvSpPr>
            <a:spLocks noGrp="1"/>
          </p:cNvSpPr>
          <p:nvPr/>
        </p:nvSpPr>
        <p:spPr>
          <a:xfrm>
            <a:off x="628650" y="4457700"/>
            <a:ext cx="2990850" cy="552450"/>
          </a:xfrm>
          <a:prstGeom prst="rect">
            <a:avLst/>
          </a:prstGeom>
          <a:noFill/>
          <a:ln w="0">
            <a:noFill/>
            <a:prstDash val="solid"/>
          </a:ln>
        </p:spPr>
        <p:txBody>
          <a:bodyPr anchor="t">
            <a:normAutofit/>
          </a:bodyPr>
          <a:lstStyle/>
          <a:p>
            <a:pPr algn="l">
              <a:buNone/>
              <a:defRPr sz="1275" b="1" i="0">
                <a:solidFill>
                  <a:srgbClr val="101820"/>
                </a:solidFill>
                <a:latin typeface="Helvetica Neue"/>
                <a:ea typeface="Helvetica Neue"/>
                <a:cs typeface="Helvetica Neue"/>
              </a:defRPr>
            </a:pPr>
            <a:r>
              <a:rPr sz="1275" b="1" i="0">
                <a:solidFill>
                  <a:srgbClr val="101820"/>
                </a:solidFill>
                <a:latin typeface="Helvetica Neue"/>
                <a:ea typeface="Helvetica Neue"/>
                <a:cs typeface="Helvetica Neue"/>
              </a:rPr>
              <a:t>DISCOVER → HAND OFF</a:t>
            </a:r>
          </a:p>
        </p:txBody>
      </p:sp>
      <p:sp>
        <p:nvSpPr>
          <p:cNvPr id="11" name="Rectangle 10">
            <a:extLst>
              <a:ext uri="{FF2B5EF4-FFF2-40B4-BE49-F238E27FC236}">
                <a16:creationId xmlns:a16="http://schemas.microsoft.com/office/drawing/2014/main" id="{98B141D9-6DB2-4888-8651-C7418508C1CD}"/>
              </a:ext>
            </a:extLst>
          </p:cNvPr>
          <p:cNvSpPr>
            <a:spLocks noGrp="1"/>
          </p:cNvSpPr>
          <p:nvPr/>
        </p:nvSpPr>
        <p:spPr>
          <a:xfrm>
            <a:off x="4267200" y="1524000"/>
            <a:ext cx="3448050" cy="3857625"/>
          </a:xfrm>
          <a:prstGeom prst="rect">
            <a:avLst/>
          </a:prstGeom>
          <a:solidFill>
            <a:srgbClr val="EAF5FB"/>
          </a:solidFill>
          <a:ln w="0">
            <a:noFill/>
            <a:prstDash val="solid"/>
          </a:ln>
        </p:spPr>
        <p:txBody>
          <a:bodyPr/>
          <a:lstStyle/>
          <a:p>
            <a:endParaRPr/>
          </a:p>
        </p:txBody>
      </p:sp>
      <p:sp>
        <p:nvSpPr>
          <p:cNvPr id="12" name="Rectangle 11">
            <a:extLst>
              <a:ext uri="{FF2B5EF4-FFF2-40B4-BE49-F238E27FC236}">
                <a16:creationId xmlns:a16="http://schemas.microsoft.com/office/drawing/2014/main" id="{091DEFE6-E5AD-469D-936B-7C1F0C6427A8}"/>
              </a:ext>
            </a:extLst>
          </p:cNvPr>
          <p:cNvSpPr>
            <a:spLocks noGrp="1"/>
          </p:cNvSpPr>
          <p:nvPr/>
        </p:nvSpPr>
        <p:spPr>
          <a:xfrm>
            <a:off x="4495800" y="1790700"/>
            <a:ext cx="2990850" cy="685800"/>
          </a:xfrm>
          <a:prstGeom prst="rect">
            <a:avLst/>
          </a:prstGeom>
          <a:noFill/>
          <a:ln w="0">
            <a:noFill/>
            <a:prstDash val="solid"/>
          </a:ln>
        </p:spPr>
        <p:txBody>
          <a:bodyPr anchor="t">
            <a:normAutofit fontScale="97155" lnSpcReduction="10000"/>
          </a:bodyPr>
          <a:lstStyle/>
          <a:p>
            <a:pPr algn="l">
              <a:buNone/>
              <a:defRPr sz="2175" b="1" i="0">
                <a:solidFill>
                  <a:srgbClr val="101820"/>
                </a:solidFill>
                <a:latin typeface="Helvetica Neue"/>
                <a:ea typeface="Helvetica Neue"/>
                <a:cs typeface="Helvetica Neue"/>
              </a:defRPr>
            </a:pPr>
            <a:r>
              <a:rPr sz="2175" b="1" i="0">
                <a:solidFill>
                  <a:srgbClr val="101820"/>
                </a:solidFill>
                <a:latin typeface="Helvetica Neue"/>
                <a:ea typeface="Helvetica Neue"/>
                <a:cs typeface="Helvetica Neue"/>
              </a:rPr>
              <a:t>Google AI Mode / Gemini</a:t>
            </a:r>
          </a:p>
        </p:txBody>
      </p:sp>
      <p:sp>
        <p:nvSpPr>
          <p:cNvPr id="13" name="Rectangle 12">
            <a:extLst>
              <a:ext uri="{FF2B5EF4-FFF2-40B4-BE49-F238E27FC236}">
                <a16:creationId xmlns:a16="http://schemas.microsoft.com/office/drawing/2014/main" id="{FEB79D80-9190-47BB-B34C-FA7F243A2129}"/>
              </a:ext>
            </a:extLst>
          </p:cNvPr>
          <p:cNvSpPr>
            <a:spLocks noGrp="1"/>
          </p:cNvSpPr>
          <p:nvPr/>
        </p:nvSpPr>
        <p:spPr>
          <a:xfrm>
            <a:off x="4495800" y="2676525"/>
            <a:ext cx="2990850" cy="1362075"/>
          </a:xfrm>
          <a:prstGeom prst="rect">
            <a:avLst/>
          </a:prstGeom>
          <a:noFill/>
          <a:ln w="0">
            <a:noFill/>
            <a:prstDash val="solid"/>
          </a:ln>
        </p:spPr>
        <p:txBody>
          <a:bodyPr anchor="t">
            <a:normAutofit/>
          </a:bodyPr>
          <a:lstStyle/>
          <a:p>
            <a:pPr algn="l">
              <a:buNone/>
              <a:defRPr sz="1425" b="0" i="0">
                <a:solidFill>
                  <a:srgbClr val="5E6973"/>
                </a:solidFill>
                <a:latin typeface="Helvetica Neue"/>
                <a:ea typeface="Helvetica Neue"/>
                <a:cs typeface="Helvetica Neue"/>
              </a:defRPr>
            </a:pPr>
            <a:r>
              <a:rPr sz="1425" b="0" i="0">
                <a:solidFill>
                  <a:srgbClr val="5E6973"/>
                </a:solidFill>
                <a:latin typeface="Helvetica Neue"/>
                <a:ea typeface="Helvetica Neue"/>
                <a:cs typeface="Helvetica Neue"/>
              </a:rPr>
              <a:t>Shopping Graph, Universal Cart and UCP-powered checkout for selected merchants and journeys.</a:t>
            </a:r>
          </a:p>
        </p:txBody>
      </p:sp>
      <p:cxnSp>
        <p:nvCxnSpPr>
          <p:cNvPr id="150" name="Straight Arrow Connector 35"/>
          <p:cNvCxnSpPr/>
          <p:nvPr/>
        </p:nvCxnSpPr>
        <p:spPr>
          <a:xfrm>
            <a:off x="4495800" y="4248150"/>
            <a:ext cx="2990850" cy="0"/>
          </a:xfrm>
          <a:prstGeom prst="straightConnector1">
            <a:avLst/>
          </a:prstGeom>
          <a:ln w="28575">
            <a:solidFill>
              <a:srgbClr val="3D8DFF"/>
            </a:solidFill>
            <a:prstDash val="solid"/>
          </a:ln>
        </p:spPr>
      </p:cxnSp>
      <p:sp>
        <p:nvSpPr>
          <p:cNvPr id="15" name="Rectangle 14">
            <a:extLst>
              <a:ext uri="{FF2B5EF4-FFF2-40B4-BE49-F238E27FC236}">
                <a16:creationId xmlns:a16="http://schemas.microsoft.com/office/drawing/2014/main" id="{E65C61A6-FBC4-41CE-8FB2-6483CC70E4AB}"/>
              </a:ext>
            </a:extLst>
          </p:cNvPr>
          <p:cNvSpPr>
            <a:spLocks noGrp="1"/>
          </p:cNvSpPr>
          <p:nvPr/>
        </p:nvSpPr>
        <p:spPr>
          <a:xfrm>
            <a:off x="4495800" y="4457700"/>
            <a:ext cx="2990850" cy="552450"/>
          </a:xfrm>
          <a:prstGeom prst="rect">
            <a:avLst/>
          </a:prstGeom>
          <a:noFill/>
          <a:ln w="0">
            <a:noFill/>
            <a:prstDash val="solid"/>
          </a:ln>
        </p:spPr>
        <p:txBody>
          <a:bodyPr anchor="t">
            <a:normAutofit/>
          </a:bodyPr>
          <a:lstStyle/>
          <a:p>
            <a:pPr algn="l">
              <a:buNone/>
              <a:defRPr sz="1275" b="1" i="0">
                <a:solidFill>
                  <a:srgbClr val="3D8DFF"/>
                </a:solidFill>
                <a:latin typeface="Helvetica Neue"/>
                <a:ea typeface="Helvetica Neue"/>
                <a:cs typeface="Helvetica Neue"/>
              </a:defRPr>
            </a:pPr>
            <a:r>
              <a:rPr sz="1275" b="1" i="0">
                <a:solidFill>
                  <a:srgbClr val="3D8DFF"/>
                </a:solidFill>
                <a:latin typeface="Helvetica Neue"/>
                <a:ea typeface="Helvetica Neue"/>
                <a:cs typeface="Helvetica Neue"/>
              </a:rPr>
              <a:t>DISCOVER → CART → BUY</a:t>
            </a:r>
          </a:p>
        </p:txBody>
      </p:sp>
      <p:sp>
        <p:nvSpPr>
          <p:cNvPr id="16" name="Rectangle 15">
            <a:extLst>
              <a:ext uri="{FF2B5EF4-FFF2-40B4-BE49-F238E27FC236}">
                <a16:creationId xmlns:a16="http://schemas.microsoft.com/office/drawing/2014/main" id="{894B843E-D0EB-4A23-B604-32C1D3C5D1A9}"/>
              </a:ext>
            </a:extLst>
          </p:cNvPr>
          <p:cNvSpPr>
            <a:spLocks noGrp="1"/>
          </p:cNvSpPr>
          <p:nvPr/>
        </p:nvSpPr>
        <p:spPr>
          <a:xfrm>
            <a:off x="8134350" y="1524000"/>
            <a:ext cx="3448050" cy="3857625"/>
          </a:xfrm>
          <a:prstGeom prst="rect">
            <a:avLst/>
          </a:prstGeom>
          <a:solidFill>
            <a:srgbClr val="F1F3F4"/>
          </a:solidFill>
          <a:ln w="0">
            <a:noFill/>
            <a:prstDash val="solid"/>
          </a:ln>
        </p:spPr>
        <p:txBody>
          <a:bodyPr/>
          <a:lstStyle/>
          <a:p>
            <a:endParaRPr/>
          </a:p>
        </p:txBody>
      </p:sp>
      <p:sp>
        <p:nvSpPr>
          <p:cNvPr id="17" name="Rectangle 16">
            <a:extLst>
              <a:ext uri="{FF2B5EF4-FFF2-40B4-BE49-F238E27FC236}">
                <a16:creationId xmlns:a16="http://schemas.microsoft.com/office/drawing/2014/main" id="{993CB0BD-0831-4CEF-AE87-42BA57246E52}"/>
              </a:ext>
            </a:extLst>
          </p:cNvPr>
          <p:cNvSpPr>
            <a:spLocks noGrp="1"/>
          </p:cNvSpPr>
          <p:nvPr/>
        </p:nvSpPr>
        <p:spPr>
          <a:xfrm>
            <a:off x="8362950" y="1790700"/>
            <a:ext cx="2990850" cy="685800"/>
          </a:xfrm>
          <a:prstGeom prst="rect">
            <a:avLst/>
          </a:prstGeom>
          <a:noFill/>
          <a:ln w="0">
            <a:noFill/>
            <a:prstDash val="solid"/>
          </a:ln>
        </p:spPr>
        <p:txBody>
          <a:bodyPr anchor="t">
            <a:normAutofit/>
          </a:bodyPr>
          <a:lstStyle/>
          <a:p>
            <a:pPr algn="l">
              <a:buNone/>
              <a:defRPr sz="2175" b="1" i="0">
                <a:solidFill>
                  <a:srgbClr val="101820"/>
                </a:solidFill>
                <a:latin typeface="Helvetica Neue"/>
                <a:ea typeface="Helvetica Neue"/>
                <a:cs typeface="Helvetica Neue"/>
              </a:defRPr>
            </a:pPr>
            <a:r>
              <a:rPr sz="2175" b="1" i="0">
                <a:solidFill>
                  <a:srgbClr val="101820"/>
                </a:solidFill>
                <a:latin typeface="Helvetica Neue"/>
                <a:ea typeface="Helvetica Neue"/>
                <a:cs typeface="Helvetica Neue"/>
              </a:rPr>
              <a:t>Microsoft Copilot</a:t>
            </a:r>
          </a:p>
        </p:txBody>
      </p:sp>
      <p:sp>
        <p:nvSpPr>
          <p:cNvPr id="18" name="Rectangle 17">
            <a:extLst>
              <a:ext uri="{FF2B5EF4-FFF2-40B4-BE49-F238E27FC236}">
                <a16:creationId xmlns:a16="http://schemas.microsoft.com/office/drawing/2014/main" id="{7D0E3D38-3001-42E9-A0E7-FDE30E26273E}"/>
              </a:ext>
            </a:extLst>
          </p:cNvPr>
          <p:cNvSpPr>
            <a:spLocks noGrp="1"/>
          </p:cNvSpPr>
          <p:nvPr/>
        </p:nvSpPr>
        <p:spPr>
          <a:xfrm>
            <a:off x="8362950" y="2676525"/>
            <a:ext cx="2990850" cy="1362075"/>
          </a:xfrm>
          <a:prstGeom prst="rect">
            <a:avLst/>
          </a:prstGeom>
          <a:noFill/>
          <a:ln w="0">
            <a:noFill/>
            <a:prstDash val="solid"/>
          </a:ln>
        </p:spPr>
        <p:txBody>
          <a:bodyPr anchor="t">
            <a:normAutofit/>
          </a:bodyPr>
          <a:lstStyle/>
          <a:p>
            <a:pPr algn="l">
              <a:buNone/>
              <a:defRPr sz="1425" b="0" i="0">
                <a:solidFill>
                  <a:srgbClr val="5E6973"/>
                </a:solidFill>
                <a:latin typeface="Helvetica Neue"/>
                <a:ea typeface="Helvetica Neue"/>
                <a:cs typeface="Helvetica Neue"/>
              </a:defRPr>
            </a:pPr>
            <a:r>
              <a:rPr sz="1425" b="0" i="0">
                <a:solidFill>
                  <a:srgbClr val="5E6973"/>
                </a:solidFill>
                <a:latin typeface="Helvetica Neue"/>
                <a:ea typeface="Helvetica Neue"/>
                <a:cs typeface="Helvetica Neue"/>
              </a:rPr>
              <a:t>Conversational product discovery with in-Copilot checkout in the U.S.; merchant stays merchant of record.</a:t>
            </a:r>
          </a:p>
        </p:txBody>
      </p:sp>
      <p:cxnSp>
        <p:nvCxnSpPr>
          <p:cNvPr id="155" name="Straight Arrow Connector 40"/>
          <p:cNvCxnSpPr/>
          <p:nvPr/>
        </p:nvCxnSpPr>
        <p:spPr>
          <a:xfrm>
            <a:off x="8362950" y="4248150"/>
            <a:ext cx="2990850" cy="0"/>
          </a:xfrm>
          <a:prstGeom prst="straightConnector1">
            <a:avLst/>
          </a:prstGeom>
          <a:ln w="9525">
            <a:solidFill>
              <a:srgbClr val="C9CED3"/>
            </a:solidFill>
            <a:prstDash val="solid"/>
          </a:ln>
        </p:spPr>
      </p:cxnSp>
      <p:sp>
        <p:nvSpPr>
          <p:cNvPr id="20" name="Rectangle 19">
            <a:extLst>
              <a:ext uri="{FF2B5EF4-FFF2-40B4-BE49-F238E27FC236}">
                <a16:creationId xmlns:a16="http://schemas.microsoft.com/office/drawing/2014/main" id="{08DAC101-A7C3-4054-AF0F-37EBD54E09B8}"/>
              </a:ext>
            </a:extLst>
          </p:cNvPr>
          <p:cNvSpPr>
            <a:spLocks noGrp="1"/>
          </p:cNvSpPr>
          <p:nvPr/>
        </p:nvSpPr>
        <p:spPr>
          <a:xfrm>
            <a:off x="8362950" y="4457700"/>
            <a:ext cx="2990850" cy="552450"/>
          </a:xfrm>
          <a:prstGeom prst="rect">
            <a:avLst/>
          </a:prstGeom>
          <a:noFill/>
          <a:ln w="0">
            <a:noFill/>
            <a:prstDash val="solid"/>
          </a:ln>
        </p:spPr>
        <p:txBody>
          <a:bodyPr anchor="t">
            <a:normAutofit/>
          </a:bodyPr>
          <a:lstStyle/>
          <a:p>
            <a:pPr algn="l">
              <a:buNone/>
              <a:defRPr sz="1275" b="1" i="0">
                <a:solidFill>
                  <a:srgbClr val="101820"/>
                </a:solidFill>
                <a:latin typeface="Helvetica Neue"/>
                <a:ea typeface="Helvetica Neue"/>
                <a:cs typeface="Helvetica Neue"/>
              </a:defRPr>
            </a:pPr>
            <a:r>
              <a:rPr sz="1275" b="1" i="0">
                <a:solidFill>
                  <a:srgbClr val="101820"/>
                </a:solidFill>
                <a:latin typeface="Helvetica Neue"/>
                <a:ea typeface="Helvetica Neue"/>
                <a:cs typeface="Helvetica Neue"/>
              </a:rPr>
              <a:t>DISCOVER → BUY IN CHAT</a:t>
            </a:r>
          </a:p>
        </p:txBody>
      </p:sp>
      <p:sp>
        <p:nvSpPr>
          <p:cNvPr id="21" name="Rectangle 20">
            <a:extLst>
              <a:ext uri="{FF2B5EF4-FFF2-40B4-BE49-F238E27FC236}">
                <a16:creationId xmlns:a16="http://schemas.microsoft.com/office/drawing/2014/main" id="{DBD7FFAB-8190-400D-90E9-E521542CBDC8}"/>
              </a:ext>
            </a:extLst>
          </p:cNvPr>
          <p:cNvSpPr>
            <a:spLocks noGrp="1"/>
          </p:cNvSpPr>
          <p:nvPr/>
        </p:nvSpPr>
        <p:spPr>
          <a:xfrm>
            <a:off x="400050" y="5619750"/>
            <a:ext cx="1047750" cy="247650"/>
          </a:xfrm>
          <a:prstGeom prst="rect">
            <a:avLst/>
          </a:prstGeom>
          <a:noFill/>
          <a:ln w="0">
            <a:noFill/>
            <a:prstDash val="solid"/>
          </a:ln>
        </p:spPr>
        <p:txBody>
          <a:bodyPr anchor="t">
            <a:normAutofit fontScale="90926" lnSpcReduction="20000"/>
          </a:bodyPr>
          <a:lstStyle/>
          <a:p>
            <a:pPr algn="l">
              <a:buNone/>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Implication</a:t>
            </a:r>
          </a:p>
        </p:txBody>
      </p:sp>
      <p:sp>
        <p:nvSpPr>
          <p:cNvPr id="22" name="Rectangle 21">
            <a:extLst>
              <a:ext uri="{FF2B5EF4-FFF2-40B4-BE49-F238E27FC236}">
                <a16:creationId xmlns:a16="http://schemas.microsoft.com/office/drawing/2014/main" id="{2801D6F4-8CA5-46B5-9F11-40AE3F4397C5}"/>
              </a:ext>
            </a:extLst>
          </p:cNvPr>
          <p:cNvSpPr>
            <a:spLocks noGrp="1"/>
          </p:cNvSpPr>
          <p:nvPr/>
        </p:nvSpPr>
        <p:spPr>
          <a:xfrm>
            <a:off x="1524000" y="5581650"/>
            <a:ext cx="10048875" cy="381000"/>
          </a:xfrm>
          <a:prstGeom prst="rect">
            <a:avLst/>
          </a:prstGeom>
          <a:noFill/>
          <a:ln w="0">
            <a:noFill/>
            <a:prstDash val="solid"/>
          </a:ln>
        </p:spPr>
        <p:txBody>
          <a:bodyPr anchor="t">
            <a:normAutofit/>
          </a:bodyPr>
          <a:lstStyle/>
          <a:p>
            <a:pPr algn="l">
              <a:buNone/>
              <a:defRPr sz="1500" b="1" i="0">
                <a:solidFill>
                  <a:srgbClr val="101820"/>
                </a:solidFill>
                <a:latin typeface="Helvetica Neue"/>
                <a:ea typeface="Helvetica Neue"/>
                <a:cs typeface="Helvetica Neue"/>
              </a:defRPr>
            </a:pPr>
            <a:r>
              <a:rPr sz="1500" b="1" i="0">
                <a:solidFill>
                  <a:srgbClr val="101820"/>
                </a:solidFill>
                <a:latin typeface="Helvetica Neue"/>
                <a:ea typeface="Helvetica Neue"/>
                <a:cs typeface="Helvetica Neue"/>
              </a:rPr>
              <a:t>There will be no single front door: merchants need a strong human experience and agent-ready endpoints.</a:t>
            </a:r>
          </a:p>
        </p:txBody>
      </p:sp>
    </p:spTree>
    <p:extLst>
      <p:ext uri="{BB962C8B-B14F-4D97-AF65-F5344CB8AC3E}">
        <p14:creationId xmlns:p14="http://schemas.microsoft.com/office/powerpoint/2010/main" val="302718642"/>
      </p:ext>
    </p:extLst>
  </p:cSld>
  <p:clrMapOvr>
    <a:masterClrMapping/>
  </p:clrMapOvr>
  <mc:AlternateContent xmlns:mc="http://schemas.openxmlformats.org/markup-compatibility/2006" xmlns:p14="http://schemas.microsoft.com/office/powerpoint/2010/main">
    <mc:Choice Requires="p14">
      <p:transition spd="slow" p14:dur="2000" advTm="38678"/>
    </mc:Choice>
    <mc:Fallback xmlns="">
      <p:transition spd="slow" advTm="38678"/>
    </mc:Fallback>
  </mc:AlternateContent>
  <p:extLst>
    <p:ext uri="{3A86A75C-4F4B-4683-9AE1-C65F6400EC91}">
      <p14:laserTraceLst xmlns:p14="http://schemas.microsoft.com/office/powerpoint/2010/main">
        <p14:tracePtLst>
          <p14:tracePt t="27765" x="11220450" y="3659188"/>
          <p14:tracePt t="29547" x="11287125" y="3698875"/>
          <p14:tracePt t="29553" x="11355388" y="3740150"/>
          <p14:tracePt t="29561" x="11409363" y="3794125"/>
          <p14:tracePt t="29572" x="11463338" y="3821113"/>
          <p14:tracePt t="29590" x="11583988" y="3887788"/>
          <p14:tracePt t="29605" x="11664950" y="3941763"/>
          <p14:tracePt t="29624" x="11760200" y="3968750"/>
          <p14:tracePt t="29640" x="11841163" y="3995738"/>
          <p14:tracePt t="29643" x="11988800" y="4049713"/>
          <p14:tracePt t="29660" x="12084050" y="4064000"/>
          <p14:tracePt t="30866" x="0" y="0"/>
        </p14:tracePtLst>
      </p14:laserTraceLst>
    </p:ext>
  </p:extLs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853BCD7-4C39-4D80-BAF7-03DA8F733D61}"/>
              </a:ext>
            </a:extLst>
          </p:cNvPr>
          <p:cNvSpPr>
            <a:spLocks noGrp="1"/>
          </p:cNvSpPr>
          <p:nvPr/>
        </p:nvSpPr>
        <p:spPr>
          <a:xfrm>
            <a:off x="400050" y="266700"/>
            <a:ext cx="4000500" cy="190500"/>
          </a:xfrm>
          <a:prstGeom prst="rect">
            <a:avLst/>
          </a:prstGeom>
          <a:noFill/>
          <a:ln w="0">
            <a:noFill/>
            <a:prstDash val="solid"/>
          </a:ln>
        </p:spPr>
        <p:txBody>
          <a:bodyPr anchor="t">
            <a:normAutofit fontScale="87222" lnSpcReduction="20000"/>
          </a:bodyPr>
          <a:lstStyle/>
          <a:p>
            <a:pPr algn="l">
              <a:buNone/>
              <a:defRPr sz="900" b="1" i="0">
                <a:solidFill>
                  <a:srgbClr val="3D8DFF"/>
                </a:solidFill>
                <a:latin typeface="Helvetica Neue"/>
                <a:ea typeface="Helvetica Neue"/>
                <a:cs typeface="Helvetica Neue"/>
              </a:defRPr>
            </a:pPr>
            <a:r>
              <a:rPr sz="900" b="1" i="0">
                <a:solidFill>
                  <a:srgbClr val="3D8DFF"/>
                </a:solidFill>
                <a:latin typeface="Helvetica Neue"/>
                <a:ea typeface="Helvetica Neue"/>
                <a:cs typeface="Helvetica Neue"/>
              </a:rPr>
              <a:t>MARKET STRUCTURE · REPRESENTATIVE PLAYERS</a:t>
            </a:r>
          </a:p>
        </p:txBody>
      </p:sp>
      <p:sp>
        <p:nvSpPr>
          <p:cNvPr id="2" name="Rectangle 1">
            <a:extLst>
              <a:ext uri="{FF2B5EF4-FFF2-40B4-BE49-F238E27FC236}">
                <a16:creationId xmlns:a16="http://schemas.microsoft.com/office/drawing/2014/main" id="{467E5761-E6CE-4B64-B95F-3C94E9832E9E}"/>
              </a:ext>
            </a:extLst>
          </p:cNvPr>
          <p:cNvSpPr>
            <a:spLocks noGrp="1"/>
          </p:cNvSpPr>
          <p:nvPr/>
        </p:nvSpPr>
        <p:spPr>
          <a:xfrm>
            <a:off x="400050" y="514350"/>
            <a:ext cx="11391900" cy="704850"/>
          </a:xfrm>
          <a:prstGeom prst="rect">
            <a:avLst/>
          </a:prstGeom>
          <a:noFill/>
          <a:ln w="0">
            <a:noFill/>
            <a:prstDash val="solid"/>
          </a:ln>
        </p:spPr>
        <p:txBody>
          <a:bodyPr anchor="t">
            <a:normAutofit/>
          </a:bodyPr>
          <a:lstStyle/>
          <a:p>
            <a:pPr algn="l">
              <a:buNone/>
              <a:defRPr sz="3000" b="1" i="0">
                <a:solidFill>
                  <a:srgbClr val="101820"/>
                </a:solidFill>
                <a:latin typeface="Helvetica Neue"/>
                <a:ea typeface="Helvetica Neue"/>
                <a:cs typeface="Helvetica Neue"/>
              </a:defRPr>
            </a:pPr>
            <a:r>
              <a:rPr sz="3000" b="1" i="0">
                <a:solidFill>
                  <a:srgbClr val="101820"/>
                </a:solidFill>
                <a:latin typeface="Helvetica Neue"/>
                <a:ea typeface="Helvetica Neue"/>
                <a:cs typeface="Helvetica Neue"/>
              </a:rPr>
              <a:t>Five layers are converging on the same trust dependency</a:t>
            </a:r>
          </a:p>
        </p:txBody>
      </p:sp>
      <p:cxnSp>
        <p:nvCxnSpPr>
          <p:cNvPr id="239" name="Straight Arrow Connector 82"/>
          <p:cNvCxnSpPr/>
          <p:nvPr/>
        </p:nvCxnSpPr>
        <p:spPr>
          <a:xfrm>
            <a:off x="400050" y="6286500"/>
            <a:ext cx="11391900" cy="0"/>
          </a:xfrm>
          <a:prstGeom prst="straightConnector1">
            <a:avLst/>
          </a:prstGeom>
          <a:ln w="9525">
            <a:solidFill>
              <a:srgbClr val="C9CED3"/>
            </a:solidFill>
            <a:prstDash val="solid"/>
          </a:ln>
        </p:spPr>
      </p:cxnSp>
      <p:sp>
        <p:nvSpPr>
          <p:cNvPr id="4" name="Rectangle 3">
            <a:extLst>
              <a:ext uri="{FF2B5EF4-FFF2-40B4-BE49-F238E27FC236}">
                <a16:creationId xmlns:a16="http://schemas.microsoft.com/office/drawing/2014/main" id="{850B631F-7AFD-4BD3-A053-7B7EAB2BE357}"/>
              </a:ext>
            </a:extLst>
          </p:cNvPr>
          <p:cNvSpPr>
            <a:spLocks noGrp="1"/>
          </p:cNvSpPr>
          <p:nvPr/>
        </p:nvSpPr>
        <p:spPr>
          <a:xfrm>
            <a:off x="400050" y="6391275"/>
            <a:ext cx="4000500" cy="171450"/>
          </a:xfrm>
          <a:prstGeom prst="rect">
            <a:avLst/>
          </a:prstGeom>
          <a:noFill/>
          <a:ln w="0">
            <a:noFill/>
            <a:prstDash val="solid"/>
          </a:ln>
        </p:spPr>
        <p:txBody>
          <a:bodyPr anchor="t">
            <a:normAutofit fontScale="78636" lnSpcReduction="20000"/>
          </a:bodyPr>
          <a:lstStyle/>
          <a:p>
            <a:pPr algn="l">
              <a:buNone/>
              <a:defRPr sz="825" b="1" i="0">
                <a:solidFill>
                  <a:srgbClr val="5E6973"/>
                </a:solidFill>
                <a:latin typeface="Helvetica Neue"/>
                <a:ea typeface="Helvetica Neue"/>
                <a:cs typeface="Helvetica Neue"/>
              </a:defRPr>
            </a:pPr>
            <a:r>
              <a:rPr sz="825" b="1" i="0">
                <a:solidFill>
                  <a:srgbClr val="5E6973"/>
                </a:solidFill>
                <a:latin typeface="Helvetica Neue"/>
                <a:ea typeface="Helvetica Neue"/>
                <a:cs typeface="Helvetica Neue"/>
              </a:rPr>
              <a:t>TRUSTED AGENTIC COMMERCE</a:t>
            </a:r>
          </a:p>
        </p:txBody>
      </p:sp>
      <p:sp>
        <p:nvSpPr>
          <p:cNvPr id="5" name="Rectangle 4">
            <a:extLst>
              <a:ext uri="{FF2B5EF4-FFF2-40B4-BE49-F238E27FC236}">
                <a16:creationId xmlns:a16="http://schemas.microsoft.com/office/drawing/2014/main" id="{8B6F6335-19FB-49B5-8572-A87BFB8F798F}"/>
              </a:ext>
            </a:extLst>
          </p:cNvPr>
          <p:cNvSpPr>
            <a:spLocks noGrp="1"/>
          </p:cNvSpPr>
          <p:nvPr/>
        </p:nvSpPr>
        <p:spPr>
          <a:xfrm>
            <a:off x="11239500" y="6372225"/>
            <a:ext cx="552450" cy="190500"/>
          </a:xfrm>
          <a:prstGeom prst="rect">
            <a:avLst/>
          </a:prstGeom>
          <a:noFill/>
          <a:ln w="0">
            <a:noFill/>
            <a:prstDash val="solid"/>
          </a:ln>
        </p:spPr>
        <p:txBody>
          <a:bodyPr anchor="t">
            <a:normAutofit fontScale="87222" lnSpcReduction="20000"/>
          </a:bodyPr>
          <a:lstStyle/>
          <a:p>
            <a:pPr algn="r">
              <a:buNone/>
              <a:defRPr sz="900" b="1" i="0">
                <a:solidFill>
                  <a:srgbClr val="101820"/>
                </a:solidFill>
                <a:latin typeface="Helvetica Neue"/>
                <a:ea typeface="Helvetica Neue"/>
                <a:cs typeface="Helvetica Neue"/>
              </a:defRPr>
            </a:pPr>
            <a:r>
              <a:rPr sz="900" b="1" i="0">
                <a:solidFill>
                  <a:srgbClr val="101820"/>
                </a:solidFill>
                <a:latin typeface="Helvetica Neue"/>
                <a:ea typeface="Helvetica Neue"/>
                <a:cs typeface="Helvetica Neue"/>
              </a:rPr>
              <a:t>05</a:t>
            </a:r>
          </a:p>
        </p:txBody>
      </p:sp>
      <p:sp>
        <p:nvSpPr>
          <p:cNvPr id="6" name="Rectangle 5">
            <a:extLst>
              <a:ext uri="{FF2B5EF4-FFF2-40B4-BE49-F238E27FC236}">
                <a16:creationId xmlns:a16="http://schemas.microsoft.com/office/drawing/2014/main" id="{5EB0CFC8-150F-49F1-B7A4-62F0D59B2CF6}"/>
              </a:ext>
            </a:extLst>
          </p:cNvPr>
          <p:cNvSpPr>
            <a:spLocks noGrp="1"/>
          </p:cNvSpPr>
          <p:nvPr/>
        </p:nvSpPr>
        <p:spPr>
          <a:xfrm>
            <a:off x="400050" y="1438275"/>
            <a:ext cx="2428875" cy="647700"/>
          </a:xfrm>
          <a:prstGeom prst="rect">
            <a:avLst/>
          </a:prstGeom>
          <a:solidFill>
            <a:srgbClr val="3D8DFF"/>
          </a:solidFill>
          <a:ln w="0">
            <a:noFill/>
            <a:prstDash val="solid"/>
          </a:ln>
        </p:spPr>
        <p:txBody>
          <a:bodyPr anchor="ctr"/>
          <a:lstStyle/>
          <a:p>
            <a:pPr>
              <a:buNone/>
              <a:defRPr sz="1425" b="1" i="0">
                <a:solidFill>
                  <a:srgbClr val="FFFFFF"/>
                </a:solidFill>
                <a:latin typeface="Helvetica Neue"/>
                <a:ea typeface="Helvetica Neue"/>
                <a:cs typeface="Helvetica Neue"/>
              </a:defRPr>
            </a:pPr>
            <a:r>
              <a:rPr b="1">
                <a:solidFill>
                  <a:srgbClr val="FFFFFF"/>
                </a:solidFill>
                <a:latin typeface="Helvetica Neue"/>
                <a:ea typeface="Helvetica Neue"/>
                <a:cs typeface="Helvetica Neue"/>
              </a:rPr>
              <a:t>AI model and front doors</a:t>
            </a:r>
          </a:p>
        </p:txBody>
      </p:sp>
      <p:sp>
        <p:nvSpPr>
          <p:cNvPr id="7" name="Rectangle 6">
            <a:extLst>
              <a:ext uri="{FF2B5EF4-FFF2-40B4-BE49-F238E27FC236}">
                <a16:creationId xmlns:a16="http://schemas.microsoft.com/office/drawing/2014/main" id="{E0868066-A0D3-49E5-951E-ED4A33580B29}"/>
              </a:ext>
            </a:extLst>
          </p:cNvPr>
          <p:cNvSpPr>
            <a:spLocks noGrp="1"/>
          </p:cNvSpPr>
          <p:nvPr/>
        </p:nvSpPr>
        <p:spPr>
          <a:xfrm>
            <a:off x="571500" y="1609725"/>
            <a:ext cx="2095500" cy="333375"/>
          </a:xfrm>
          <a:prstGeom prst="rect">
            <a:avLst/>
          </a:prstGeom>
          <a:noFill/>
          <a:ln w="0">
            <a:noFill/>
            <a:prstDash val="solid"/>
          </a:ln>
        </p:spPr>
        <p:txBody>
          <a:bodyPr anchor="t">
            <a:normAutofit fontScale="96645"/>
          </a:bodyPr>
          <a:lstStyle/>
          <a:p>
            <a:pPr algn="l">
              <a:buNone/>
              <a:defRPr sz="1425" b="1" i="0">
                <a:solidFill>
                  <a:srgbClr val="FFFFFF"/>
                </a:solidFill>
                <a:latin typeface="Helvetica Neue"/>
                <a:ea typeface="Helvetica Neue"/>
                <a:cs typeface="Helvetica Neue"/>
              </a:defRPr>
            </a:pPr>
            <a:endParaRPr sz="1425" b="1" i="0">
              <a:solidFill>
                <a:srgbClr val="FFFFFF"/>
              </a:solidFill>
              <a:latin typeface="Helvetica Neue"/>
              <a:ea typeface="Helvetica Neue"/>
              <a:cs typeface="Helvetica Neue"/>
            </a:endParaRPr>
          </a:p>
        </p:txBody>
      </p:sp>
      <p:sp>
        <p:nvSpPr>
          <p:cNvPr id="8" name="Rectangle 7">
            <a:extLst>
              <a:ext uri="{FF2B5EF4-FFF2-40B4-BE49-F238E27FC236}">
                <a16:creationId xmlns:a16="http://schemas.microsoft.com/office/drawing/2014/main" id="{AEEC275C-6B86-481B-917A-A72210C7892B}"/>
              </a:ext>
            </a:extLst>
          </p:cNvPr>
          <p:cNvSpPr>
            <a:spLocks noGrp="1"/>
          </p:cNvSpPr>
          <p:nvPr/>
        </p:nvSpPr>
        <p:spPr>
          <a:xfrm>
            <a:off x="2828925" y="1438275"/>
            <a:ext cx="8963025" cy="647700"/>
          </a:xfrm>
          <a:prstGeom prst="rect">
            <a:avLst/>
          </a:prstGeom>
          <a:solidFill>
            <a:srgbClr val="EAF5FB"/>
          </a:solidFill>
          <a:ln w="0">
            <a:noFill/>
            <a:prstDash val="solid"/>
          </a:ln>
        </p:spPr>
        <p:txBody>
          <a:bodyPr/>
          <a:lstStyle/>
          <a:p>
            <a:endParaRPr/>
          </a:p>
        </p:txBody>
      </p:sp>
      <p:sp>
        <p:nvSpPr>
          <p:cNvPr id="9" name="Rectangle 8">
            <a:extLst>
              <a:ext uri="{FF2B5EF4-FFF2-40B4-BE49-F238E27FC236}">
                <a16:creationId xmlns:a16="http://schemas.microsoft.com/office/drawing/2014/main" id="{E58E2F74-4C25-49D1-99AE-F588BA59EA34}"/>
              </a:ext>
            </a:extLst>
          </p:cNvPr>
          <p:cNvSpPr>
            <a:spLocks noGrp="1"/>
          </p:cNvSpPr>
          <p:nvPr/>
        </p:nvSpPr>
        <p:spPr>
          <a:xfrm>
            <a:off x="3114675" y="1581150"/>
            <a:ext cx="8410575" cy="381000"/>
          </a:xfrm>
          <a:prstGeom prst="rect">
            <a:avLst/>
          </a:prstGeom>
          <a:noFill/>
          <a:ln w="0">
            <a:noFill/>
            <a:prstDash val="solid"/>
          </a:ln>
        </p:spPr>
        <p:txBody>
          <a:bodyPr anchor="ctr">
            <a:normAutofit/>
          </a:bodyPr>
          <a:lstStyle/>
          <a:p>
            <a:pPr>
              <a:buNone/>
              <a:defRPr sz="1500" b="1" i="0">
                <a:solidFill>
                  <a:srgbClr val="101820"/>
                </a:solidFill>
                <a:latin typeface="Helvetica Neue"/>
                <a:ea typeface="Helvetica Neue"/>
                <a:cs typeface="Helvetica Neue"/>
              </a:defRPr>
            </a:pPr>
            <a:r>
              <a:rPr sz="1500" b="1" i="0">
                <a:solidFill>
                  <a:srgbClr val="101820"/>
                </a:solidFill>
                <a:latin typeface="Helvetica Neue"/>
                <a:ea typeface="Helvetica Neue"/>
                <a:cs typeface="Helvetica Neue"/>
              </a:rPr>
              <a:t>OpenAI · Google · Microsoft</a:t>
            </a:r>
            <a:r>
              <a:rPr sz="1500" b="1">
                <a:solidFill>
                  <a:srgbClr val="101820"/>
                </a:solidFill>
                <a:latin typeface="Helvetica Neue"/>
                <a:ea typeface="Helvetica Neue"/>
                <a:cs typeface="Helvetica Neue"/>
              </a:rPr>
              <a:t> · SpaceX</a:t>
            </a:r>
            <a:r>
              <a:rPr sz="1500" b="1" i="0">
                <a:solidFill>
                  <a:srgbClr val="101820"/>
                </a:solidFill>
                <a:latin typeface="Helvetica Neue"/>
                <a:ea typeface="Helvetica Neue"/>
                <a:cs typeface="Helvetica Neue"/>
              </a:rPr>
              <a:t> </a:t>
            </a:r>
            <a:r>
              <a:rPr sz="1500" b="1">
                <a:solidFill>
                  <a:srgbClr val="101820"/>
                </a:solidFill>
                <a:latin typeface="Helvetica Neue"/>
                <a:ea typeface="Helvetica Neue"/>
                <a:cs typeface="Helvetica Neue"/>
              </a:rPr>
              <a:t> Opensource: DeepSeek · </a:t>
            </a:r>
            <a:r>
              <a:rPr sz="1500" b="1"/>
              <a:t>Moonshot AI </a:t>
            </a:r>
            <a:r>
              <a:rPr sz="1500" b="1">
                <a:solidFill>
                  <a:srgbClr val="101820"/>
                </a:solidFill>
                <a:latin typeface="Helvetica Neue"/>
                <a:ea typeface="Helvetica Neue"/>
                <a:cs typeface="Helvetica Neue"/>
              </a:rPr>
              <a:t>·</a:t>
            </a:r>
            <a:r>
              <a:rPr sz="1500" b="1"/>
              <a:t> Alibaba </a:t>
            </a:r>
            <a:endParaRPr sz="1500" b="1" i="0">
              <a:solidFill>
                <a:srgbClr val="101820"/>
              </a:solidFill>
              <a:latin typeface="Helvetica Neue"/>
              <a:ea typeface="Helvetica Neue"/>
              <a:cs typeface="Helvetica Neue"/>
            </a:endParaRPr>
          </a:p>
        </p:txBody>
      </p:sp>
      <p:sp>
        <p:nvSpPr>
          <p:cNvPr id="10" name="Rectangle 9">
            <a:extLst>
              <a:ext uri="{FF2B5EF4-FFF2-40B4-BE49-F238E27FC236}">
                <a16:creationId xmlns:a16="http://schemas.microsoft.com/office/drawing/2014/main" id="{606B9250-8347-462E-A4E1-3BFF72D26C19}"/>
              </a:ext>
            </a:extLst>
          </p:cNvPr>
          <p:cNvSpPr>
            <a:spLocks noGrp="1"/>
          </p:cNvSpPr>
          <p:nvPr/>
        </p:nvSpPr>
        <p:spPr>
          <a:xfrm>
            <a:off x="400050" y="2286000"/>
            <a:ext cx="2428875" cy="647700"/>
          </a:xfrm>
          <a:prstGeom prst="rect">
            <a:avLst/>
          </a:prstGeom>
          <a:solidFill>
            <a:srgbClr val="6DCBF4"/>
          </a:solidFill>
          <a:ln w="0">
            <a:noFill/>
            <a:prstDash val="solid"/>
          </a:ln>
        </p:spPr>
        <p:txBody>
          <a:bodyPr anchor="ctr"/>
          <a:lstStyle/>
          <a:p>
            <a:pPr>
              <a:buNone/>
              <a:defRPr sz="1425" b="1" i="0">
                <a:solidFill>
                  <a:srgbClr val="FFFFFF"/>
                </a:solidFill>
                <a:latin typeface="Helvetica Neue"/>
                <a:ea typeface="Helvetica Neue"/>
                <a:cs typeface="Helvetica Neue"/>
              </a:defRPr>
            </a:pPr>
            <a:r>
              <a:rPr b="1">
                <a:solidFill>
                  <a:srgbClr val="FFFFFF"/>
                </a:solidFill>
                <a:latin typeface="Helvetica Neue"/>
                <a:ea typeface="Helvetica Neue"/>
                <a:cs typeface="Helvetica Neue"/>
              </a:rPr>
              <a:t>Retailer and marketplace agents</a:t>
            </a:r>
          </a:p>
        </p:txBody>
      </p:sp>
      <p:sp>
        <p:nvSpPr>
          <p:cNvPr id="11" name="Rectangle 10">
            <a:extLst>
              <a:ext uri="{FF2B5EF4-FFF2-40B4-BE49-F238E27FC236}">
                <a16:creationId xmlns:a16="http://schemas.microsoft.com/office/drawing/2014/main" id="{78230052-01C6-4EF9-A488-2C4B7B53B38C}"/>
              </a:ext>
            </a:extLst>
          </p:cNvPr>
          <p:cNvSpPr>
            <a:spLocks noGrp="1"/>
          </p:cNvSpPr>
          <p:nvPr/>
        </p:nvSpPr>
        <p:spPr>
          <a:xfrm>
            <a:off x="571500" y="2457450"/>
            <a:ext cx="2095500" cy="333375"/>
          </a:xfrm>
          <a:prstGeom prst="rect">
            <a:avLst/>
          </a:prstGeom>
          <a:noFill/>
          <a:ln w="0">
            <a:noFill/>
            <a:prstDash val="solid"/>
          </a:ln>
        </p:spPr>
        <p:txBody>
          <a:bodyPr anchor="t">
            <a:normAutofit fontScale="98671"/>
          </a:bodyPr>
          <a:lstStyle/>
          <a:p>
            <a:pPr algn="l">
              <a:buNone/>
              <a:defRPr sz="1425" b="1" i="0">
                <a:solidFill>
                  <a:srgbClr val="FFFFFF"/>
                </a:solidFill>
                <a:latin typeface="Helvetica Neue"/>
                <a:ea typeface="Helvetica Neue"/>
                <a:cs typeface="Helvetica Neue"/>
              </a:defRPr>
            </a:pPr>
            <a:endParaRPr sz="1425" b="1" i="0">
              <a:solidFill>
                <a:srgbClr val="FFFFFF"/>
              </a:solidFill>
              <a:latin typeface="Helvetica Neue"/>
              <a:ea typeface="Helvetica Neue"/>
              <a:cs typeface="Helvetica Neue"/>
            </a:endParaRPr>
          </a:p>
        </p:txBody>
      </p:sp>
      <p:sp>
        <p:nvSpPr>
          <p:cNvPr id="12" name="Rectangle 11">
            <a:extLst>
              <a:ext uri="{FF2B5EF4-FFF2-40B4-BE49-F238E27FC236}">
                <a16:creationId xmlns:a16="http://schemas.microsoft.com/office/drawing/2014/main" id="{2F57E7E2-5F3F-45BE-B83E-15EB8717CB94}"/>
              </a:ext>
            </a:extLst>
          </p:cNvPr>
          <p:cNvSpPr>
            <a:spLocks noGrp="1"/>
          </p:cNvSpPr>
          <p:nvPr/>
        </p:nvSpPr>
        <p:spPr>
          <a:xfrm>
            <a:off x="2828925" y="2286000"/>
            <a:ext cx="8963025" cy="647700"/>
          </a:xfrm>
          <a:prstGeom prst="rect">
            <a:avLst/>
          </a:prstGeom>
          <a:solidFill>
            <a:srgbClr val="F1F3F4"/>
          </a:solidFill>
          <a:ln w="0">
            <a:noFill/>
            <a:prstDash val="solid"/>
          </a:ln>
        </p:spPr>
        <p:txBody>
          <a:bodyPr/>
          <a:lstStyle/>
          <a:p>
            <a:endParaRPr/>
          </a:p>
        </p:txBody>
      </p:sp>
      <p:sp>
        <p:nvSpPr>
          <p:cNvPr id="13" name="Rectangle 12">
            <a:extLst>
              <a:ext uri="{FF2B5EF4-FFF2-40B4-BE49-F238E27FC236}">
                <a16:creationId xmlns:a16="http://schemas.microsoft.com/office/drawing/2014/main" id="{EC9155BD-73C9-4B0E-9174-F9127E5D1673}"/>
              </a:ext>
            </a:extLst>
          </p:cNvPr>
          <p:cNvSpPr>
            <a:spLocks noGrp="1"/>
          </p:cNvSpPr>
          <p:nvPr/>
        </p:nvSpPr>
        <p:spPr>
          <a:xfrm>
            <a:off x="3114675" y="2428875"/>
            <a:ext cx="8410575" cy="381000"/>
          </a:xfrm>
          <a:prstGeom prst="rect">
            <a:avLst/>
          </a:prstGeom>
          <a:noFill/>
          <a:ln w="0">
            <a:noFill/>
            <a:prstDash val="solid"/>
          </a:ln>
        </p:spPr>
        <p:txBody>
          <a:bodyPr anchor="ctr">
            <a:normAutofit/>
          </a:bodyPr>
          <a:lstStyle/>
          <a:p>
            <a:pPr>
              <a:defRPr sz="1500" b="1" i="0">
                <a:solidFill>
                  <a:srgbClr val="101820"/>
                </a:solidFill>
                <a:latin typeface="Helvetica Neue"/>
                <a:ea typeface="Helvetica Neue"/>
                <a:cs typeface="Helvetica Neue"/>
              </a:defRPr>
            </a:pPr>
            <a:r>
              <a:rPr sz="1500" b="1" i="0" dirty="0">
                <a:solidFill>
                  <a:srgbClr val="101820"/>
                </a:solidFill>
                <a:latin typeface="Helvetica Neue"/>
                <a:ea typeface="Helvetica Neue"/>
                <a:cs typeface="Helvetica Neue"/>
              </a:rPr>
              <a:t>Amazon · Walmart · </a:t>
            </a:r>
            <a:r>
              <a:rPr lang="en-CA" sz="1500" b="1" i="0" dirty="0">
                <a:solidFill>
                  <a:srgbClr val="101820"/>
                </a:solidFill>
                <a:latin typeface="Helvetica Neue"/>
                <a:ea typeface="Helvetica Neue"/>
                <a:cs typeface="Helvetica Neue"/>
              </a:rPr>
              <a:t>Uber </a:t>
            </a:r>
            <a:r>
              <a:rPr sz="1500" b="1" i="0" dirty="0">
                <a:solidFill>
                  <a:srgbClr val="101820"/>
                </a:solidFill>
                <a:latin typeface="Helvetica Neue"/>
                <a:ea typeface="Helvetica Neue"/>
                <a:cs typeface="Helvetica Neue"/>
              </a:rPr>
              <a:t>· Instacart</a:t>
            </a:r>
          </a:p>
        </p:txBody>
      </p:sp>
      <p:sp>
        <p:nvSpPr>
          <p:cNvPr id="14" name="Rectangle 13">
            <a:extLst>
              <a:ext uri="{FF2B5EF4-FFF2-40B4-BE49-F238E27FC236}">
                <a16:creationId xmlns:a16="http://schemas.microsoft.com/office/drawing/2014/main" id="{52DC46FE-1859-4E57-A932-97602D2F19D2}"/>
              </a:ext>
            </a:extLst>
          </p:cNvPr>
          <p:cNvSpPr>
            <a:spLocks noGrp="1"/>
          </p:cNvSpPr>
          <p:nvPr/>
        </p:nvSpPr>
        <p:spPr>
          <a:xfrm>
            <a:off x="400050" y="3133725"/>
            <a:ext cx="2428875" cy="647700"/>
          </a:xfrm>
          <a:prstGeom prst="rect">
            <a:avLst/>
          </a:prstGeom>
          <a:solidFill>
            <a:srgbClr val="6F61D9"/>
          </a:solidFill>
          <a:ln w="0">
            <a:noFill/>
            <a:prstDash val="solid"/>
          </a:ln>
        </p:spPr>
        <p:txBody>
          <a:bodyPr/>
          <a:lstStyle/>
          <a:p>
            <a:pPr>
              <a:buNone/>
              <a:defRPr sz="1425" b="1" i="0">
                <a:solidFill>
                  <a:srgbClr val="FFFFFF"/>
                </a:solidFill>
                <a:latin typeface="Helvetica Neue"/>
                <a:ea typeface="Helvetica Neue"/>
                <a:cs typeface="Helvetica Neue"/>
              </a:defRPr>
            </a:pPr>
            <a:r>
              <a:rPr b="1">
                <a:solidFill>
                  <a:srgbClr val="FFFFFF"/>
                </a:solidFill>
                <a:latin typeface="Helvetica Neue"/>
                <a:ea typeface="Helvetica Neue"/>
                <a:cs typeface="Helvetica Neue"/>
              </a:rPr>
              <a:t>Discovery &amp; agentic Orchestration</a:t>
            </a:r>
          </a:p>
        </p:txBody>
      </p:sp>
      <p:sp>
        <p:nvSpPr>
          <p:cNvPr id="15" name="Rectangle 14">
            <a:extLst>
              <a:ext uri="{FF2B5EF4-FFF2-40B4-BE49-F238E27FC236}">
                <a16:creationId xmlns:a16="http://schemas.microsoft.com/office/drawing/2014/main" id="{6ACD0FD5-F412-4FE4-B9CD-6DE27EE785DD}"/>
              </a:ext>
            </a:extLst>
          </p:cNvPr>
          <p:cNvSpPr>
            <a:spLocks noGrp="1"/>
          </p:cNvSpPr>
          <p:nvPr/>
        </p:nvSpPr>
        <p:spPr>
          <a:xfrm>
            <a:off x="571500" y="3305175"/>
            <a:ext cx="2095500" cy="333375"/>
          </a:xfrm>
          <a:prstGeom prst="rect">
            <a:avLst/>
          </a:prstGeom>
          <a:noFill/>
          <a:ln w="0">
            <a:noFill/>
            <a:prstDash val="solid"/>
          </a:ln>
        </p:spPr>
        <p:txBody>
          <a:bodyPr anchor="t">
            <a:normAutofit fontScale="93124"/>
          </a:bodyPr>
          <a:lstStyle/>
          <a:p>
            <a:pPr algn="l">
              <a:buNone/>
              <a:defRPr sz="1425" b="1" i="0">
                <a:solidFill>
                  <a:srgbClr val="FFFFFF"/>
                </a:solidFill>
                <a:latin typeface="Helvetica Neue"/>
                <a:ea typeface="Helvetica Neue"/>
                <a:cs typeface="Helvetica Neue"/>
              </a:defRPr>
            </a:pPr>
            <a:endParaRPr sz="1425" b="1" i="0">
              <a:solidFill>
                <a:srgbClr val="FFFFFF"/>
              </a:solidFill>
              <a:latin typeface="Helvetica Neue"/>
              <a:ea typeface="Helvetica Neue"/>
              <a:cs typeface="Helvetica Neue"/>
            </a:endParaRPr>
          </a:p>
        </p:txBody>
      </p:sp>
      <p:sp>
        <p:nvSpPr>
          <p:cNvPr id="16" name="Rectangle 15">
            <a:extLst>
              <a:ext uri="{FF2B5EF4-FFF2-40B4-BE49-F238E27FC236}">
                <a16:creationId xmlns:a16="http://schemas.microsoft.com/office/drawing/2014/main" id="{0DF800B6-0567-4E05-8644-816E994EE92E}"/>
              </a:ext>
            </a:extLst>
          </p:cNvPr>
          <p:cNvSpPr>
            <a:spLocks noGrp="1"/>
          </p:cNvSpPr>
          <p:nvPr/>
        </p:nvSpPr>
        <p:spPr>
          <a:xfrm>
            <a:off x="2828925" y="3133725"/>
            <a:ext cx="8963025" cy="647700"/>
          </a:xfrm>
          <a:prstGeom prst="rect">
            <a:avLst/>
          </a:prstGeom>
          <a:solidFill>
            <a:srgbClr val="EAF5FB"/>
          </a:solidFill>
          <a:ln w="0">
            <a:noFill/>
            <a:prstDash val="solid"/>
          </a:ln>
        </p:spPr>
        <p:txBody>
          <a:bodyPr/>
          <a:lstStyle/>
          <a:p>
            <a:endParaRPr/>
          </a:p>
        </p:txBody>
      </p:sp>
      <p:sp>
        <p:nvSpPr>
          <p:cNvPr id="17" name="Rectangle 16">
            <a:extLst>
              <a:ext uri="{FF2B5EF4-FFF2-40B4-BE49-F238E27FC236}">
                <a16:creationId xmlns:a16="http://schemas.microsoft.com/office/drawing/2014/main" id="{BCA5A454-CDDF-4C19-BABC-4EBC40B3B5FE}"/>
              </a:ext>
            </a:extLst>
          </p:cNvPr>
          <p:cNvSpPr>
            <a:spLocks noGrp="1"/>
          </p:cNvSpPr>
          <p:nvPr/>
        </p:nvSpPr>
        <p:spPr>
          <a:xfrm>
            <a:off x="3114675" y="3276600"/>
            <a:ext cx="8410575" cy="381000"/>
          </a:xfrm>
          <a:prstGeom prst="rect">
            <a:avLst/>
          </a:prstGeom>
          <a:noFill/>
          <a:ln w="0">
            <a:noFill/>
            <a:prstDash val="solid"/>
          </a:ln>
        </p:spPr>
        <p:txBody>
          <a:bodyPr anchor="ctr">
            <a:normAutofit/>
          </a:bodyPr>
          <a:lstStyle/>
          <a:p>
            <a:pPr algn="l">
              <a:buNone/>
              <a:defRPr sz="1350" b="1" i="0">
                <a:solidFill>
                  <a:srgbClr val="101820"/>
                </a:solidFill>
                <a:latin typeface="Helvetica Neue"/>
                <a:ea typeface="Helvetica Neue"/>
                <a:cs typeface="Helvetica Neue"/>
              </a:defRPr>
            </a:pPr>
            <a:r>
              <a:rPr sz="1350" b="1" i="0" dirty="0" err="1">
                <a:solidFill>
                  <a:srgbClr val="101820"/>
                </a:solidFill>
                <a:latin typeface="Helvetica Neue"/>
                <a:ea typeface="Helvetica Neue"/>
                <a:cs typeface="Helvetica Neue"/>
              </a:rPr>
              <a:t>Rezolve</a:t>
            </a:r>
            <a:r>
              <a:rPr sz="1350" b="1" i="0" dirty="0">
                <a:solidFill>
                  <a:srgbClr val="101820"/>
                </a:solidFill>
                <a:latin typeface="Helvetica Neue"/>
                <a:ea typeface="Helvetica Neue"/>
                <a:cs typeface="Helvetica Neue"/>
              </a:rPr>
              <a:t> AI · </a:t>
            </a:r>
            <a:r>
              <a:rPr sz="1350" b="1" i="0" dirty="0" err="1">
                <a:solidFill>
                  <a:srgbClr val="101820"/>
                </a:solidFill>
                <a:latin typeface="Helvetica Neue"/>
                <a:ea typeface="Helvetica Neue"/>
                <a:cs typeface="Helvetica Neue"/>
              </a:rPr>
              <a:t>Algolia</a:t>
            </a:r>
            <a:r>
              <a:rPr sz="1350" b="1" i="0" dirty="0">
                <a:solidFill>
                  <a:srgbClr val="101820"/>
                </a:solidFill>
                <a:latin typeface="Helvetica Neue"/>
                <a:ea typeface="Helvetica Neue"/>
                <a:cs typeface="Helvetica Neue"/>
              </a:rPr>
              <a:t> · </a:t>
            </a:r>
            <a:r>
              <a:rPr sz="1350" b="1" i="0" dirty="0" err="1">
                <a:solidFill>
                  <a:srgbClr val="101820"/>
                </a:solidFill>
                <a:latin typeface="Helvetica Neue"/>
                <a:ea typeface="Helvetica Neue"/>
                <a:cs typeface="Helvetica Neue"/>
              </a:rPr>
              <a:t>Bloomreach</a:t>
            </a:r>
            <a:r>
              <a:rPr sz="1350" b="1" i="0" dirty="0">
                <a:solidFill>
                  <a:srgbClr val="101820"/>
                </a:solidFill>
                <a:latin typeface="Helvetica Neue"/>
                <a:ea typeface="Helvetica Neue"/>
                <a:cs typeface="Helvetica Neue"/>
              </a:rPr>
              <a:t> · Constructor · </a:t>
            </a:r>
            <a:r>
              <a:rPr sz="1350" b="1" i="0" dirty="0" err="1">
                <a:solidFill>
                  <a:srgbClr val="101820"/>
                </a:solidFill>
                <a:latin typeface="Helvetica Neue"/>
                <a:ea typeface="Helvetica Neue"/>
                <a:cs typeface="Helvetica Neue"/>
              </a:rPr>
              <a:t>Coveo</a:t>
            </a:r>
            <a:endParaRPr sz="1350" b="1" i="0" dirty="0">
              <a:solidFill>
                <a:srgbClr val="101820"/>
              </a:solidFill>
              <a:latin typeface="Helvetica Neue"/>
              <a:ea typeface="Helvetica Neue"/>
              <a:cs typeface="Helvetica Neue"/>
            </a:endParaRPr>
          </a:p>
        </p:txBody>
      </p:sp>
      <p:sp>
        <p:nvSpPr>
          <p:cNvPr id="18" name="Rectangle 17">
            <a:extLst>
              <a:ext uri="{FF2B5EF4-FFF2-40B4-BE49-F238E27FC236}">
                <a16:creationId xmlns:a16="http://schemas.microsoft.com/office/drawing/2014/main" id="{B1AA33C5-30E1-4CAF-B622-16695481044E}"/>
              </a:ext>
            </a:extLst>
          </p:cNvPr>
          <p:cNvSpPr>
            <a:spLocks noGrp="1"/>
          </p:cNvSpPr>
          <p:nvPr/>
        </p:nvSpPr>
        <p:spPr>
          <a:xfrm>
            <a:off x="400050" y="3981450"/>
            <a:ext cx="2428875" cy="647700"/>
          </a:xfrm>
          <a:prstGeom prst="rect">
            <a:avLst/>
          </a:prstGeom>
          <a:solidFill>
            <a:srgbClr val="2E9B62"/>
          </a:solidFill>
          <a:ln w="0">
            <a:noFill/>
            <a:prstDash val="solid"/>
          </a:ln>
        </p:spPr>
        <p:txBody>
          <a:bodyPr/>
          <a:lstStyle/>
          <a:p>
            <a:pPr>
              <a:buNone/>
              <a:defRPr sz="1425" b="1" i="0">
                <a:solidFill>
                  <a:srgbClr val="FFFFFF"/>
                </a:solidFill>
                <a:latin typeface="Helvetica Neue"/>
                <a:ea typeface="Helvetica Neue"/>
                <a:cs typeface="Helvetica Neue"/>
              </a:defRPr>
            </a:pPr>
            <a:r>
              <a:rPr b="1">
                <a:solidFill>
                  <a:srgbClr val="FFFFFF"/>
                </a:solidFill>
                <a:latin typeface="Helvetica Neue"/>
                <a:ea typeface="Helvetica Neue"/>
                <a:cs typeface="Helvetica Neue"/>
              </a:rPr>
              <a:t>Commerce and catalog platforms</a:t>
            </a:r>
          </a:p>
        </p:txBody>
      </p:sp>
      <p:sp>
        <p:nvSpPr>
          <p:cNvPr id="19" name="Rectangle 18">
            <a:extLst>
              <a:ext uri="{FF2B5EF4-FFF2-40B4-BE49-F238E27FC236}">
                <a16:creationId xmlns:a16="http://schemas.microsoft.com/office/drawing/2014/main" id="{74C9B3D3-C322-466B-88AA-B1D43525D3DC}"/>
              </a:ext>
            </a:extLst>
          </p:cNvPr>
          <p:cNvSpPr>
            <a:spLocks noGrp="1"/>
          </p:cNvSpPr>
          <p:nvPr/>
        </p:nvSpPr>
        <p:spPr>
          <a:xfrm>
            <a:off x="571500" y="4152900"/>
            <a:ext cx="2095500" cy="333375"/>
          </a:xfrm>
          <a:prstGeom prst="rect">
            <a:avLst/>
          </a:prstGeom>
          <a:noFill/>
          <a:ln w="0">
            <a:noFill/>
            <a:prstDash val="solid"/>
          </a:ln>
        </p:spPr>
        <p:txBody>
          <a:bodyPr anchor="t">
            <a:normAutofit fontScale="96776"/>
          </a:bodyPr>
          <a:lstStyle/>
          <a:p>
            <a:pPr algn="l">
              <a:buNone/>
              <a:defRPr sz="1425" b="1" i="0">
                <a:solidFill>
                  <a:srgbClr val="FFFFFF"/>
                </a:solidFill>
                <a:latin typeface="Helvetica Neue"/>
                <a:ea typeface="Helvetica Neue"/>
                <a:cs typeface="Helvetica Neue"/>
              </a:defRPr>
            </a:pPr>
            <a:endParaRPr sz="1000" b="1" i="0">
              <a:solidFill>
                <a:srgbClr val="FFFFFF"/>
              </a:solidFill>
              <a:latin typeface="Helvetica Neue"/>
              <a:ea typeface="Helvetica Neue"/>
              <a:cs typeface="Helvetica Neue"/>
            </a:endParaRPr>
          </a:p>
        </p:txBody>
      </p:sp>
      <p:sp>
        <p:nvSpPr>
          <p:cNvPr id="20" name="Rectangle 19">
            <a:extLst>
              <a:ext uri="{FF2B5EF4-FFF2-40B4-BE49-F238E27FC236}">
                <a16:creationId xmlns:a16="http://schemas.microsoft.com/office/drawing/2014/main" id="{1734515B-0DBF-4F24-8FCD-29135C542FD3}"/>
              </a:ext>
            </a:extLst>
          </p:cNvPr>
          <p:cNvSpPr>
            <a:spLocks noGrp="1"/>
          </p:cNvSpPr>
          <p:nvPr/>
        </p:nvSpPr>
        <p:spPr>
          <a:xfrm>
            <a:off x="2828925" y="3981450"/>
            <a:ext cx="8963025" cy="647700"/>
          </a:xfrm>
          <a:prstGeom prst="rect">
            <a:avLst/>
          </a:prstGeom>
          <a:solidFill>
            <a:srgbClr val="F1F3F4"/>
          </a:solidFill>
          <a:ln w="0">
            <a:noFill/>
            <a:prstDash val="solid"/>
          </a:ln>
        </p:spPr>
        <p:txBody>
          <a:bodyPr/>
          <a:lstStyle/>
          <a:p>
            <a:endParaRPr/>
          </a:p>
        </p:txBody>
      </p:sp>
      <p:sp>
        <p:nvSpPr>
          <p:cNvPr id="21" name="Rectangle 20">
            <a:extLst>
              <a:ext uri="{FF2B5EF4-FFF2-40B4-BE49-F238E27FC236}">
                <a16:creationId xmlns:a16="http://schemas.microsoft.com/office/drawing/2014/main" id="{CBF5D3E8-5941-4A21-87FC-9FD5A80B9F99}"/>
              </a:ext>
            </a:extLst>
          </p:cNvPr>
          <p:cNvSpPr>
            <a:spLocks noGrp="1"/>
          </p:cNvSpPr>
          <p:nvPr/>
        </p:nvSpPr>
        <p:spPr>
          <a:xfrm>
            <a:off x="3114675" y="4124325"/>
            <a:ext cx="8410575" cy="381000"/>
          </a:xfrm>
          <a:prstGeom prst="rect">
            <a:avLst/>
          </a:prstGeom>
          <a:noFill/>
          <a:ln w="0">
            <a:noFill/>
            <a:prstDash val="solid"/>
          </a:ln>
        </p:spPr>
        <p:txBody>
          <a:bodyPr anchor="ctr">
            <a:normAutofit/>
          </a:bodyPr>
          <a:lstStyle/>
          <a:p>
            <a:pPr algn="l">
              <a:buNone/>
              <a:defRPr sz="1500" b="1" i="0">
                <a:solidFill>
                  <a:srgbClr val="101820"/>
                </a:solidFill>
                <a:latin typeface="Helvetica Neue"/>
                <a:ea typeface="Helvetica Neue"/>
                <a:cs typeface="Helvetica Neue"/>
              </a:defRPr>
            </a:pPr>
            <a:r>
              <a:rPr sz="1500" b="1" i="0" dirty="0">
                <a:solidFill>
                  <a:srgbClr val="101820"/>
                </a:solidFill>
                <a:latin typeface="Helvetica Neue"/>
                <a:ea typeface="Helvetica Neue"/>
                <a:cs typeface="Helvetica Neue"/>
              </a:rPr>
              <a:t>Shopify · Salesforce · Adobe · </a:t>
            </a:r>
            <a:r>
              <a:rPr sz="1500" b="1" i="0" dirty="0" err="1">
                <a:solidFill>
                  <a:srgbClr val="101820"/>
                </a:solidFill>
                <a:latin typeface="Helvetica Neue"/>
                <a:ea typeface="Helvetica Neue"/>
                <a:cs typeface="Helvetica Neue"/>
              </a:rPr>
              <a:t>commercetools</a:t>
            </a:r>
            <a:endParaRPr sz="1500" b="1" i="0" dirty="0">
              <a:solidFill>
                <a:srgbClr val="101820"/>
              </a:solidFill>
              <a:latin typeface="Helvetica Neue"/>
              <a:ea typeface="Helvetica Neue"/>
              <a:cs typeface="Helvetica Neue"/>
            </a:endParaRPr>
          </a:p>
        </p:txBody>
      </p:sp>
      <p:sp>
        <p:nvSpPr>
          <p:cNvPr id="22" name="Rectangle 21">
            <a:extLst>
              <a:ext uri="{FF2B5EF4-FFF2-40B4-BE49-F238E27FC236}">
                <a16:creationId xmlns:a16="http://schemas.microsoft.com/office/drawing/2014/main" id="{1FAA9DDC-FA2D-4245-A888-F70FE8EF6DB2}"/>
              </a:ext>
            </a:extLst>
          </p:cNvPr>
          <p:cNvSpPr>
            <a:spLocks noGrp="1"/>
          </p:cNvSpPr>
          <p:nvPr/>
        </p:nvSpPr>
        <p:spPr>
          <a:xfrm>
            <a:off x="400050" y="4829175"/>
            <a:ext cx="2428875" cy="647700"/>
          </a:xfrm>
          <a:prstGeom prst="rect">
            <a:avLst/>
          </a:prstGeom>
          <a:solidFill>
            <a:srgbClr val="E69A2D"/>
          </a:solidFill>
          <a:ln w="0">
            <a:noFill/>
            <a:prstDash val="solid"/>
          </a:ln>
        </p:spPr>
        <p:txBody>
          <a:bodyPr/>
          <a:lstStyle/>
          <a:p>
            <a:pPr>
              <a:buNone/>
              <a:defRPr sz="1425" b="1" i="0">
                <a:solidFill>
                  <a:srgbClr val="FFFFFF"/>
                </a:solidFill>
                <a:latin typeface="Helvetica Neue"/>
                <a:ea typeface="Helvetica Neue"/>
                <a:cs typeface="Helvetica Neue"/>
              </a:defRPr>
            </a:pPr>
            <a:r>
              <a:rPr b="1">
                <a:solidFill>
                  <a:srgbClr val="FFFFFF"/>
                </a:solidFill>
                <a:latin typeface="Helvetica Neue"/>
                <a:ea typeface="Helvetica Neue"/>
                <a:cs typeface="Helvetica Neue"/>
              </a:rPr>
              <a:t>Payments and agent identity</a:t>
            </a:r>
          </a:p>
        </p:txBody>
      </p:sp>
      <p:sp>
        <p:nvSpPr>
          <p:cNvPr id="23" name="Rectangle 22">
            <a:extLst>
              <a:ext uri="{FF2B5EF4-FFF2-40B4-BE49-F238E27FC236}">
                <a16:creationId xmlns:a16="http://schemas.microsoft.com/office/drawing/2014/main" id="{49B6A78F-E311-42EC-9D51-E5C25BCC0F34}"/>
              </a:ext>
            </a:extLst>
          </p:cNvPr>
          <p:cNvSpPr>
            <a:spLocks noGrp="1"/>
          </p:cNvSpPr>
          <p:nvPr/>
        </p:nvSpPr>
        <p:spPr>
          <a:xfrm>
            <a:off x="571500" y="5000625"/>
            <a:ext cx="2095500" cy="333375"/>
          </a:xfrm>
          <a:prstGeom prst="rect">
            <a:avLst/>
          </a:prstGeom>
          <a:noFill/>
          <a:ln w="0">
            <a:noFill/>
            <a:prstDash val="solid"/>
          </a:ln>
        </p:spPr>
        <p:txBody>
          <a:bodyPr anchor="t">
            <a:normAutofit fontScale="93124"/>
          </a:bodyPr>
          <a:lstStyle/>
          <a:p>
            <a:pPr algn="l">
              <a:buNone/>
              <a:defRPr sz="1425" b="1" i="0">
                <a:solidFill>
                  <a:srgbClr val="FFFFFF"/>
                </a:solidFill>
                <a:latin typeface="Helvetica Neue"/>
                <a:ea typeface="Helvetica Neue"/>
                <a:cs typeface="Helvetica Neue"/>
              </a:defRPr>
            </a:pPr>
            <a:endParaRPr sz="1425" b="1" i="0">
              <a:solidFill>
                <a:srgbClr val="FFFFFF"/>
              </a:solidFill>
              <a:latin typeface="Helvetica Neue"/>
              <a:ea typeface="Helvetica Neue"/>
              <a:cs typeface="Helvetica Neue"/>
            </a:endParaRPr>
          </a:p>
        </p:txBody>
      </p:sp>
      <p:sp>
        <p:nvSpPr>
          <p:cNvPr id="24" name="Rectangle 23">
            <a:extLst>
              <a:ext uri="{FF2B5EF4-FFF2-40B4-BE49-F238E27FC236}">
                <a16:creationId xmlns:a16="http://schemas.microsoft.com/office/drawing/2014/main" id="{E287B8D7-FAFE-4000-BEAD-F48E5A0A7FAF}"/>
              </a:ext>
            </a:extLst>
          </p:cNvPr>
          <p:cNvSpPr>
            <a:spLocks noGrp="1"/>
          </p:cNvSpPr>
          <p:nvPr/>
        </p:nvSpPr>
        <p:spPr>
          <a:xfrm>
            <a:off x="2828925" y="4829175"/>
            <a:ext cx="8963025" cy="647700"/>
          </a:xfrm>
          <a:prstGeom prst="rect">
            <a:avLst/>
          </a:prstGeom>
          <a:solidFill>
            <a:srgbClr val="EAF5FB"/>
          </a:solidFill>
          <a:ln w="0">
            <a:noFill/>
            <a:prstDash val="solid"/>
          </a:ln>
        </p:spPr>
        <p:txBody>
          <a:bodyPr/>
          <a:lstStyle/>
          <a:p>
            <a:endParaRPr/>
          </a:p>
        </p:txBody>
      </p:sp>
      <p:sp>
        <p:nvSpPr>
          <p:cNvPr id="25" name="Rectangle 24">
            <a:extLst>
              <a:ext uri="{FF2B5EF4-FFF2-40B4-BE49-F238E27FC236}">
                <a16:creationId xmlns:a16="http://schemas.microsoft.com/office/drawing/2014/main" id="{5DA0A3AD-E71E-47F9-A884-ED0F19AC5C75}"/>
              </a:ext>
            </a:extLst>
          </p:cNvPr>
          <p:cNvSpPr>
            <a:spLocks noGrp="1"/>
          </p:cNvSpPr>
          <p:nvPr/>
        </p:nvSpPr>
        <p:spPr>
          <a:xfrm>
            <a:off x="3114675" y="4972050"/>
            <a:ext cx="8410575" cy="381000"/>
          </a:xfrm>
          <a:prstGeom prst="rect">
            <a:avLst/>
          </a:prstGeom>
          <a:noFill/>
          <a:ln w="0">
            <a:noFill/>
            <a:prstDash val="solid"/>
          </a:ln>
        </p:spPr>
        <p:txBody>
          <a:bodyPr anchor="ctr">
            <a:normAutofit/>
          </a:bodyPr>
          <a:lstStyle/>
          <a:p>
            <a:pPr algn="l">
              <a:buNone/>
              <a:defRPr sz="1500" b="1" i="0">
                <a:solidFill>
                  <a:srgbClr val="101820"/>
                </a:solidFill>
                <a:latin typeface="Helvetica Neue"/>
                <a:ea typeface="Helvetica Neue"/>
                <a:cs typeface="Helvetica Neue"/>
              </a:defRPr>
            </a:pPr>
            <a:r>
              <a:rPr sz="1500" b="1" i="0" dirty="0">
                <a:solidFill>
                  <a:srgbClr val="101820"/>
                </a:solidFill>
                <a:latin typeface="Helvetica Neue"/>
                <a:ea typeface="Helvetica Neue"/>
                <a:cs typeface="Helvetica Neue"/>
              </a:rPr>
              <a:t>Visa · Mastercard · PayPal · Stripe</a:t>
            </a:r>
          </a:p>
        </p:txBody>
      </p:sp>
      <p:cxnSp>
        <p:nvCxnSpPr>
          <p:cNvPr id="262" name="Straight Arrow Connector 105"/>
          <p:cNvCxnSpPr/>
          <p:nvPr/>
        </p:nvCxnSpPr>
        <p:spPr>
          <a:xfrm>
            <a:off x="400050" y="5867400"/>
            <a:ext cx="11391900" cy="0"/>
          </a:xfrm>
          <a:prstGeom prst="straightConnector1">
            <a:avLst/>
          </a:prstGeom>
          <a:ln w="28575">
            <a:solidFill>
              <a:srgbClr val="3D8DFF"/>
            </a:solidFill>
            <a:prstDash val="solid"/>
          </a:ln>
        </p:spPr>
      </p:cxnSp>
      <p:sp>
        <p:nvSpPr>
          <p:cNvPr id="27" name="Rectangle 26">
            <a:extLst>
              <a:ext uri="{FF2B5EF4-FFF2-40B4-BE49-F238E27FC236}">
                <a16:creationId xmlns:a16="http://schemas.microsoft.com/office/drawing/2014/main" id="{23405BAF-77CB-4EB5-BD27-80A239658C54}"/>
              </a:ext>
            </a:extLst>
          </p:cNvPr>
          <p:cNvSpPr>
            <a:spLocks noGrp="1"/>
          </p:cNvSpPr>
          <p:nvPr/>
        </p:nvSpPr>
        <p:spPr>
          <a:xfrm>
            <a:off x="400050" y="5943600"/>
            <a:ext cx="1714500" cy="247650"/>
          </a:xfrm>
          <a:prstGeom prst="rect">
            <a:avLst/>
          </a:prstGeom>
          <a:noFill/>
          <a:ln w="0">
            <a:noFill/>
            <a:prstDash val="solid"/>
          </a:ln>
        </p:spPr>
        <p:txBody>
          <a:bodyPr anchor="t">
            <a:normAutofit fontScale="92917" lnSpcReduction="10000"/>
          </a:bodyPr>
          <a:lstStyle/>
          <a:p>
            <a:pPr algn="l">
              <a:buNone/>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Connective tissue</a:t>
            </a:r>
          </a:p>
        </p:txBody>
      </p:sp>
      <p:sp>
        <p:nvSpPr>
          <p:cNvPr id="28" name="Rectangle 27">
            <a:extLst>
              <a:ext uri="{FF2B5EF4-FFF2-40B4-BE49-F238E27FC236}">
                <a16:creationId xmlns:a16="http://schemas.microsoft.com/office/drawing/2014/main" id="{0B0B5BB8-DADD-4614-BAAD-BAD3A1098F0A}"/>
              </a:ext>
            </a:extLst>
          </p:cNvPr>
          <p:cNvSpPr>
            <a:spLocks noGrp="1"/>
          </p:cNvSpPr>
          <p:nvPr/>
        </p:nvSpPr>
        <p:spPr>
          <a:xfrm>
            <a:off x="2143125" y="5905500"/>
            <a:ext cx="8572500" cy="323850"/>
          </a:xfrm>
          <a:prstGeom prst="rect">
            <a:avLst/>
          </a:prstGeom>
          <a:noFill/>
          <a:ln w="0">
            <a:noFill/>
            <a:prstDash val="solid"/>
          </a:ln>
        </p:spPr>
        <p:txBody>
          <a:bodyPr anchor="t">
            <a:normAutofit/>
          </a:bodyPr>
          <a:lstStyle/>
          <a:p>
            <a:pPr>
              <a:buNone/>
              <a:defRPr sz="1425" b="1" i="0">
                <a:solidFill>
                  <a:srgbClr val="101820"/>
                </a:solidFill>
                <a:latin typeface="Helvetica Neue"/>
                <a:ea typeface="Helvetica Neue"/>
                <a:cs typeface="Helvetica Neue"/>
              </a:defRPr>
            </a:pPr>
            <a:r>
              <a:rPr sz="1425" b="1" i="0">
                <a:solidFill>
                  <a:srgbClr val="101820"/>
                </a:solidFill>
                <a:latin typeface="Helvetica Neue"/>
                <a:ea typeface="Helvetica Neue"/>
                <a:cs typeface="Helvetica Neue"/>
              </a:rPr>
              <a:t>GS1 Standards · </a:t>
            </a:r>
            <a:r>
              <a:rPr sz="1425" b="1">
                <a:solidFill>
                  <a:srgbClr val="101820"/>
                </a:solidFill>
                <a:latin typeface="Helvetica Neue"/>
                <a:ea typeface="Helvetica Neue"/>
                <a:cs typeface="Helvetica Neue"/>
              </a:rPr>
              <a:t>W3C · </a:t>
            </a:r>
            <a:r>
              <a:rPr sz="1425" b="1" i="0">
                <a:solidFill>
                  <a:srgbClr val="101820"/>
                </a:solidFill>
                <a:latin typeface="Helvetica Neue"/>
                <a:ea typeface="Helvetica Neue"/>
                <a:cs typeface="Helvetica Neue"/>
              </a:rPr>
              <a:t>product</a:t>
            </a:r>
            <a:r>
              <a:rPr sz="1425" b="1">
                <a:solidFill>
                  <a:srgbClr val="101820"/>
                </a:solidFill>
                <a:latin typeface="Helvetica Neue"/>
                <a:ea typeface="Helvetica Neue"/>
                <a:cs typeface="Helvetica Neue"/>
              </a:rPr>
              <a:t> and customer </a:t>
            </a:r>
            <a:r>
              <a:rPr sz="1425" b="1" i="0">
                <a:solidFill>
                  <a:srgbClr val="101820"/>
                </a:solidFill>
                <a:latin typeface="Helvetica Neue"/>
                <a:ea typeface="Helvetica Neue"/>
                <a:cs typeface="Helvetica Neue"/>
              </a:rPr>
              <a:t>semantics · UCP/ACP/AP2 · MCP/A2A · </a:t>
            </a:r>
            <a:r>
              <a:rPr sz="1425" b="1">
                <a:solidFill>
                  <a:srgbClr val="101820"/>
                </a:solidFill>
                <a:latin typeface="Helvetica Neue"/>
                <a:ea typeface="Helvetica Neue"/>
                <a:cs typeface="Helvetica Neue"/>
              </a:rPr>
              <a:t>XAI</a:t>
            </a:r>
            <a:endParaRPr sz="1425" b="1" i="0">
              <a:solidFill>
                <a:srgbClr val="101820"/>
              </a:solidFill>
              <a:latin typeface="Helvetica Neue"/>
              <a:ea typeface="Helvetica Neue"/>
              <a:cs typeface="Helvetica Neue"/>
            </a:endParaRPr>
          </a:p>
        </p:txBody>
      </p:sp>
    </p:spTree>
    <p:extLst>
      <p:ext uri="{BB962C8B-B14F-4D97-AF65-F5344CB8AC3E}">
        <p14:creationId xmlns:p14="http://schemas.microsoft.com/office/powerpoint/2010/main" val="2075767783"/>
      </p:ext>
    </p:extLst>
  </p:cSld>
  <p:clrMapOvr>
    <a:masterClrMapping/>
  </p:clrMapOvr>
  <mc:AlternateContent xmlns:mc="http://schemas.openxmlformats.org/markup-compatibility/2006" xmlns:p14="http://schemas.microsoft.com/office/powerpoint/2010/main">
    <mc:Choice Requires="p14">
      <p:transition spd="slow" p14:dur="2000" advTm="40190"/>
    </mc:Choice>
    <mc:Fallback xmlns="">
      <p:transition spd="slow" advTm="4019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F338BADA-8BCD-499F-A476-8DF3C182D207}"/>
              </a:ext>
            </a:extLst>
          </p:cNvPr>
          <p:cNvSpPr>
            <a:spLocks noGrp="1"/>
          </p:cNvSpPr>
          <p:nvPr/>
        </p:nvSpPr>
        <p:spPr>
          <a:xfrm>
            <a:off x="533400" y="285750"/>
            <a:ext cx="8096250" cy="228600"/>
          </a:xfrm>
          <a:prstGeom prst="rect">
            <a:avLst/>
          </a:prstGeom>
          <a:noFill/>
          <a:ln w="0">
            <a:noFill/>
            <a:prstDash val="solid"/>
          </a:ln>
        </p:spPr>
        <p:txBody>
          <a:bodyPr wrap="square" lIns="0" tIns="0" rIns="0" bIns="0" anchor="t">
            <a:normAutofit/>
          </a:bodyPr>
          <a:lstStyle/>
          <a:p>
            <a:pPr algn="l">
              <a:buNone/>
              <a:defRPr sz="975" b="1" i="0">
                <a:solidFill>
                  <a:srgbClr val="3D8DFF"/>
                </a:solidFill>
                <a:latin typeface="Helvetica Neue"/>
                <a:ea typeface="Helvetica Neue"/>
                <a:cs typeface="Helvetica Neue"/>
              </a:defRPr>
            </a:pPr>
            <a:r>
              <a:rPr sz="975" b="1" i="0">
                <a:solidFill>
                  <a:srgbClr val="3D8DFF"/>
                </a:solidFill>
                <a:latin typeface="Helvetica Neue"/>
                <a:ea typeface="Helvetica Neue"/>
                <a:cs typeface="Helvetica Neue"/>
              </a:rPr>
              <a:t>Agency</a:t>
            </a:r>
          </a:p>
        </p:txBody>
      </p:sp>
      <p:sp>
        <p:nvSpPr>
          <p:cNvPr id="2" name="Rectangle 1">
            <a:extLst>
              <a:ext uri="{FF2B5EF4-FFF2-40B4-BE49-F238E27FC236}">
                <a16:creationId xmlns:a16="http://schemas.microsoft.com/office/drawing/2014/main" id="{6C16FCA3-5904-4C1C-B71B-58A717AD7680}"/>
              </a:ext>
            </a:extLst>
          </p:cNvPr>
          <p:cNvSpPr>
            <a:spLocks noGrp="1"/>
          </p:cNvSpPr>
          <p:nvPr/>
        </p:nvSpPr>
        <p:spPr>
          <a:xfrm>
            <a:off x="533400" y="552450"/>
            <a:ext cx="11125200" cy="571500"/>
          </a:xfrm>
          <a:prstGeom prst="rect">
            <a:avLst/>
          </a:prstGeom>
          <a:noFill/>
          <a:ln w="0">
            <a:noFill/>
            <a:prstDash val="solid"/>
          </a:ln>
        </p:spPr>
        <p:txBody>
          <a:bodyPr wrap="square" lIns="0" tIns="0" rIns="0" bIns="0" anchor="t">
            <a:normAutofit/>
          </a:bodyPr>
          <a:lstStyle/>
          <a:p>
            <a:pPr algn="l">
              <a:buNone/>
              <a:defRPr sz="2700" b="1" i="0">
                <a:solidFill>
                  <a:srgbClr val="0B1220"/>
                </a:solidFill>
                <a:latin typeface="Helvetica Neue"/>
                <a:ea typeface="Helvetica Neue"/>
                <a:cs typeface="Helvetica Neue"/>
              </a:defRPr>
            </a:pPr>
            <a:r>
              <a:rPr sz="2700" b="1" i="0" dirty="0">
                <a:solidFill>
                  <a:srgbClr val="0B1220"/>
                </a:solidFill>
                <a:latin typeface="Helvetica Neue"/>
                <a:ea typeface="Helvetica Neue"/>
                <a:cs typeface="Helvetica Neue"/>
              </a:rPr>
              <a:t>Agency starts when AI can </a:t>
            </a:r>
            <a:r>
              <a:rPr lang="en-US" sz="2700" b="1" dirty="0">
                <a:solidFill>
                  <a:srgbClr val="0B1220"/>
                </a:solidFill>
                <a:latin typeface="Helvetica Neue"/>
                <a:ea typeface="Helvetica Neue"/>
                <a:cs typeface="Helvetica Neue"/>
              </a:rPr>
              <a:t>facilitate</a:t>
            </a:r>
            <a:r>
              <a:rPr sz="2700" b="1" i="0" dirty="0">
                <a:solidFill>
                  <a:srgbClr val="0B1220"/>
                </a:solidFill>
                <a:latin typeface="Helvetica Neue"/>
                <a:ea typeface="Helvetica Neue"/>
                <a:cs typeface="Helvetica Neue"/>
              </a:rPr>
              <a:t> </a:t>
            </a:r>
            <a:r>
              <a:rPr lang="en-US" sz="2700" b="1" i="0" dirty="0">
                <a:solidFill>
                  <a:srgbClr val="0B1220"/>
                </a:solidFill>
                <a:latin typeface="Helvetica Neue"/>
                <a:ea typeface="Helvetica Neue"/>
                <a:cs typeface="Helvetica Neue"/>
              </a:rPr>
              <a:t>Human </a:t>
            </a:r>
            <a:r>
              <a:rPr sz="2700" b="1" i="0" dirty="0">
                <a:solidFill>
                  <a:srgbClr val="0B1220"/>
                </a:solidFill>
                <a:latin typeface="Helvetica Neue"/>
                <a:ea typeface="Helvetica Neue"/>
                <a:cs typeface="Helvetica Neue"/>
              </a:rPr>
              <a:t>intent</a:t>
            </a:r>
          </a:p>
        </p:txBody>
      </p:sp>
      <p:sp>
        <p:nvSpPr>
          <p:cNvPr id="5" name="Rectangle 4">
            <a:extLst>
              <a:ext uri="{FF2B5EF4-FFF2-40B4-BE49-F238E27FC236}">
                <a16:creationId xmlns:a16="http://schemas.microsoft.com/office/drawing/2014/main" id="{AACB4A01-DC94-4A09-973D-B96D7CFD28C8}"/>
              </a:ext>
            </a:extLst>
          </p:cNvPr>
          <p:cNvSpPr>
            <a:spLocks noGrp="1"/>
          </p:cNvSpPr>
          <p:nvPr/>
        </p:nvSpPr>
        <p:spPr>
          <a:xfrm>
            <a:off x="11239500" y="6438900"/>
            <a:ext cx="419100" cy="190500"/>
          </a:xfrm>
          <a:prstGeom prst="rect">
            <a:avLst/>
          </a:prstGeom>
          <a:noFill/>
          <a:ln w="0">
            <a:noFill/>
            <a:prstDash val="solid"/>
          </a:ln>
        </p:spPr>
        <p:txBody>
          <a:bodyPr wrap="square" lIns="0" tIns="0" rIns="0" bIns="0" anchor="t">
            <a:noAutofit/>
          </a:bodyPr>
          <a:lstStyle/>
          <a:p>
            <a:pPr algn="r">
              <a:buNone/>
              <a:defRPr sz="900" b="0" i="0">
                <a:solidFill>
                  <a:srgbClr val="64748B"/>
                </a:solidFill>
                <a:latin typeface="Helvetica Neue"/>
                <a:ea typeface="Helvetica Neue"/>
                <a:cs typeface="Helvetica Neue"/>
              </a:defRPr>
            </a:pPr>
            <a:r>
              <a:rPr sz="900" b="0" i="0">
                <a:solidFill>
                  <a:srgbClr val="64748B"/>
                </a:solidFill>
                <a:latin typeface="Helvetica Neue"/>
                <a:ea typeface="Helvetica Neue"/>
                <a:cs typeface="Helvetica Neue"/>
              </a:rPr>
              <a:t>3</a:t>
            </a:r>
          </a:p>
        </p:txBody>
      </p:sp>
      <p:sp>
        <p:nvSpPr>
          <p:cNvPr id="6" name="Rectangle 5">
            <a:extLst>
              <a:ext uri="{FF2B5EF4-FFF2-40B4-BE49-F238E27FC236}">
                <a16:creationId xmlns:a16="http://schemas.microsoft.com/office/drawing/2014/main" id="{590E50D6-0E8F-46FF-B395-7460FD90B6CB}"/>
              </a:ext>
            </a:extLst>
          </p:cNvPr>
          <p:cNvSpPr>
            <a:spLocks noGrp="1"/>
          </p:cNvSpPr>
          <p:nvPr/>
        </p:nvSpPr>
        <p:spPr>
          <a:xfrm>
            <a:off x="533400" y="1466850"/>
            <a:ext cx="10572750" cy="419100"/>
          </a:xfrm>
          <a:prstGeom prst="rect">
            <a:avLst/>
          </a:prstGeom>
          <a:noFill/>
          <a:ln w="0">
            <a:noFill/>
            <a:prstDash val="solid"/>
          </a:ln>
        </p:spPr>
        <p:txBody>
          <a:bodyPr wrap="square" lIns="0" tIns="0" rIns="0" bIns="0" anchor="t">
            <a:normAutofit fontScale="96502"/>
          </a:bodyPr>
          <a:lstStyle/>
          <a:p>
            <a:pPr algn="l">
              <a:buNone/>
              <a:defRPr sz="1575" b="0" i="0">
                <a:solidFill>
                  <a:srgbClr val="475569"/>
                </a:solidFill>
                <a:latin typeface="Helvetica Neue"/>
                <a:ea typeface="Helvetica Neue"/>
                <a:cs typeface="Helvetica Neue"/>
              </a:defRPr>
            </a:pPr>
            <a:r>
              <a:rPr sz="1575" b="0" i="0">
                <a:solidFill>
                  <a:srgbClr val="475569"/>
                </a:solidFill>
                <a:latin typeface="Helvetica Neue"/>
                <a:ea typeface="Helvetica Neue"/>
                <a:cs typeface="Helvetica Neue"/>
              </a:rPr>
              <a:t>An agent becomes commercially consequential when it preserves intent across steps and can act within explicit constraints.</a:t>
            </a:r>
          </a:p>
        </p:txBody>
      </p:sp>
      <p:sp>
        <p:nvSpPr>
          <p:cNvPr id="7" name="Rectangle 6">
            <a:extLst>
              <a:ext uri="{FF2B5EF4-FFF2-40B4-BE49-F238E27FC236}">
                <a16:creationId xmlns:a16="http://schemas.microsoft.com/office/drawing/2014/main" id="{5D99DB5E-ED11-4DEE-8CD7-C56A0481C8BE}"/>
              </a:ext>
            </a:extLst>
          </p:cNvPr>
          <p:cNvSpPr>
            <a:spLocks noGrp="1"/>
          </p:cNvSpPr>
          <p:nvPr/>
        </p:nvSpPr>
        <p:spPr>
          <a:xfrm>
            <a:off x="1724025" y="2890838"/>
            <a:ext cx="8858250" cy="38100"/>
          </a:xfrm>
          <a:prstGeom prst="rect">
            <a:avLst/>
          </a:prstGeom>
          <a:solidFill>
            <a:srgbClr val="B8BCC4"/>
          </a:solidFill>
          <a:ln w="0">
            <a:solidFill>
              <a:srgbClr val="B8BCC4"/>
            </a:solidFill>
            <a:prstDash val="solid"/>
          </a:ln>
        </p:spPr>
        <p:txBody>
          <a:bodyPr/>
          <a:lstStyle/>
          <a:p>
            <a:endParaRPr/>
          </a:p>
        </p:txBody>
      </p:sp>
      <p:sp>
        <p:nvSpPr>
          <p:cNvPr id="8" name="Oval 7">
            <a:extLst>
              <a:ext uri="{FF2B5EF4-FFF2-40B4-BE49-F238E27FC236}">
                <a16:creationId xmlns:a16="http://schemas.microsoft.com/office/drawing/2014/main" id="{9C450280-490E-41DC-BC12-DDB7CBC64F0C}"/>
              </a:ext>
            </a:extLst>
          </p:cNvPr>
          <p:cNvSpPr>
            <a:spLocks noGrp="1"/>
          </p:cNvSpPr>
          <p:nvPr/>
        </p:nvSpPr>
        <p:spPr>
          <a:xfrm>
            <a:off x="1362075" y="2605088"/>
            <a:ext cx="609600" cy="609600"/>
          </a:xfrm>
          <a:prstGeom prst="ellipse">
            <a:avLst/>
          </a:prstGeom>
          <a:solidFill>
            <a:srgbClr val="D0EDFA"/>
          </a:solidFill>
          <a:ln w="0">
            <a:solidFill>
              <a:srgbClr val="D0EDFA"/>
            </a:solidFill>
            <a:prstDash val="solid"/>
          </a:ln>
        </p:spPr>
        <p:txBody>
          <a:bodyPr/>
          <a:lstStyle/>
          <a:p>
            <a:endParaRPr/>
          </a:p>
        </p:txBody>
      </p:sp>
      <p:sp>
        <p:nvSpPr>
          <p:cNvPr id="9" name="Rectangle 8">
            <a:extLst>
              <a:ext uri="{FF2B5EF4-FFF2-40B4-BE49-F238E27FC236}">
                <a16:creationId xmlns:a16="http://schemas.microsoft.com/office/drawing/2014/main" id="{239CBA39-1839-4977-A00D-167F9284EE74}"/>
              </a:ext>
            </a:extLst>
          </p:cNvPr>
          <p:cNvSpPr>
            <a:spLocks noGrp="1"/>
          </p:cNvSpPr>
          <p:nvPr/>
        </p:nvSpPr>
        <p:spPr>
          <a:xfrm>
            <a:off x="1362075" y="2738438"/>
            <a:ext cx="609600" cy="285750"/>
          </a:xfrm>
          <a:prstGeom prst="rect">
            <a:avLst/>
          </a:prstGeom>
          <a:noFill/>
          <a:ln w="0">
            <a:noFill/>
            <a:prstDash val="solid"/>
          </a:ln>
        </p:spPr>
        <p:txBody>
          <a:bodyPr wrap="square" lIns="0" tIns="0" rIns="0" bIns="0" anchor="t">
            <a:normAutofit/>
          </a:bodyPr>
          <a:lstStyle/>
          <a:p>
            <a:pPr algn="ctr">
              <a:buNone/>
              <a:defRPr sz="1725" b="1" i="0">
                <a:solidFill>
                  <a:srgbClr val="1256A3"/>
                </a:solidFill>
                <a:latin typeface="Helvetica Neue"/>
                <a:ea typeface="Helvetica Neue"/>
                <a:cs typeface="Helvetica Neue"/>
              </a:defRPr>
            </a:pPr>
            <a:r>
              <a:rPr sz="1725" b="1" i="0">
                <a:solidFill>
                  <a:srgbClr val="1256A3"/>
                </a:solidFill>
                <a:latin typeface="Helvetica Neue"/>
                <a:ea typeface="Helvetica Neue"/>
                <a:cs typeface="Helvetica Neue"/>
              </a:rPr>
              <a:t>1</a:t>
            </a:r>
          </a:p>
        </p:txBody>
      </p:sp>
      <p:sp>
        <p:nvSpPr>
          <p:cNvPr id="10" name="Rectangle 9">
            <a:extLst>
              <a:ext uri="{FF2B5EF4-FFF2-40B4-BE49-F238E27FC236}">
                <a16:creationId xmlns:a16="http://schemas.microsoft.com/office/drawing/2014/main" id="{29C5296F-F251-44E3-8E9C-260ADDD41BAF}"/>
              </a:ext>
            </a:extLst>
          </p:cNvPr>
          <p:cNvSpPr>
            <a:spLocks noGrp="1"/>
          </p:cNvSpPr>
          <p:nvPr/>
        </p:nvSpPr>
        <p:spPr>
          <a:xfrm>
            <a:off x="904875" y="3424238"/>
            <a:ext cx="1524000" cy="438150"/>
          </a:xfrm>
          <a:prstGeom prst="rect">
            <a:avLst/>
          </a:prstGeom>
          <a:noFill/>
          <a:ln w="0">
            <a:noFill/>
            <a:prstDash val="solid"/>
          </a:ln>
        </p:spPr>
        <p:txBody>
          <a:bodyPr wrap="square" lIns="0" tIns="0" rIns="0" bIns="0" anchor="t">
            <a:normAutofit/>
          </a:bodyPr>
          <a:lstStyle/>
          <a:p>
            <a:pPr algn="ctr">
              <a:buNone/>
              <a:defRPr sz="1650" b="1" i="0">
                <a:solidFill>
                  <a:srgbClr val="0B1220"/>
                </a:solidFill>
                <a:latin typeface="Helvetica Neue"/>
                <a:ea typeface="Helvetica Neue"/>
                <a:cs typeface="Helvetica Neue"/>
              </a:defRPr>
            </a:pPr>
            <a:r>
              <a:rPr sz="1650" b="1" i="0">
                <a:solidFill>
                  <a:srgbClr val="0B1220"/>
                </a:solidFill>
                <a:latin typeface="Helvetica Neue"/>
                <a:ea typeface="Helvetica Neue"/>
                <a:cs typeface="Helvetica Neue"/>
              </a:rPr>
              <a:t>Understand</a:t>
            </a:r>
          </a:p>
        </p:txBody>
      </p:sp>
      <p:sp>
        <p:nvSpPr>
          <p:cNvPr id="11" name="Rectangle 10">
            <a:extLst>
              <a:ext uri="{FF2B5EF4-FFF2-40B4-BE49-F238E27FC236}">
                <a16:creationId xmlns:a16="http://schemas.microsoft.com/office/drawing/2014/main" id="{70B338D5-2177-4326-813D-4E36A20FC4E3}"/>
              </a:ext>
            </a:extLst>
          </p:cNvPr>
          <p:cNvSpPr>
            <a:spLocks noGrp="1"/>
          </p:cNvSpPr>
          <p:nvPr/>
        </p:nvSpPr>
        <p:spPr>
          <a:xfrm>
            <a:off x="876300" y="3938588"/>
            <a:ext cx="1581150" cy="933450"/>
          </a:xfrm>
          <a:prstGeom prst="rect">
            <a:avLst/>
          </a:prstGeom>
          <a:noFill/>
          <a:ln w="0">
            <a:noFill/>
            <a:prstDash val="solid"/>
          </a:ln>
        </p:spPr>
        <p:txBody>
          <a:bodyPr wrap="square" lIns="0" tIns="0" rIns="0" bIns="0" anchor="t">
            <a:normAutofit/>
          </a:bodyPr>
          <a:lstStyle/>
          <a:p>
            <a:pPr algn="ctr">
              <a:buNone/>
              <a:defRPr sz="1088" b="0" i="0">
                <a:solidFill>
                  <a:srgbClr val="475569"/>
                </a:solidFill>
                <a:latin typeface="Helvetica Neue"/>
                <a:ea typeface="Helvetica Neue"/>
                <a:cs typeface="Helvetica Neue"/>
              </a:defRPr>
            </a:pPr>
            <a:r>
              <a:rPr sz="1088" b="0" i="0">
                <a:solidFill>
                  <a:srgbClr val="475569"/>
                </a:solidFill>
                <a:latin typeface="Helvetica Neue"/>
                <a:ea typeface="Helvetica Neue"/>
                <a:cs typeface="Helvetica Neue"/>
              </a:rPr>
              <a:t>Interpret needs, context, budget, diet, fit</a:t>
            </a:r>
          </a:p>
        </p:txBody>
      </p:sp>
      <p:sp>
        <p:nvSpPr>
          <p:cNvPr id="12" name="Oval 11">
            <a:extLst>
              <a:ext uri="{FF2B5EF4-FFF2-40B4-BE49-F238E27FC236}">
                <a16:creationId xmlns:a16="http://schemas.microsoft.com/office/drawing/2014/main" id="{7E800A0C-066E-41E1-8526-AB5F4959C489}"/>
              </a:ext>
            </a:extLst>
          </p:cNvPr>
          <p:cNvSpPr>
            <a:spLocks noGrp="1"/>
          </p:cNvSpPr>
          <p:nvPr/>
        </p:nvSpPr>
        <p:spPr>
          <a:xfrm>
            <a:off x="3571875" y="2605088"/>
            <a:ext cx="609600" cy="609600"/>
          </a:xfrm>
          <a:prstGeom prst="ellipse">
            <a:avLst/>
          </a:prstGeom>
          <a:solidFill>
            <a:srgbClr val="D0EDFA"/>
          </a:solidFill>
          <a:ln w="0">
            <a:solidFill>
              <a:srgbClr val="D0EDFA"/>
            </a:solidFill>
            <a:prstDash val="solid"/>
          </a:ln>
        </p:spPr>
        <p:txBody>
          <a:bodyPr/>
          <a:lstStyle/>
          <a:p>
            <a:endParaRPr/>
          </a:p>
        </p:txBody>
      </p:sp>
      <p:sp>
        <p:nvSpPr>
          <p:cNvPr id="13" name="Rectangle 12">
            <a:extLst>
              <a:ext uri="{FF2B5EF4-FFF2-40B4-BE49-F238E27FC236}">
                <a16:creationId xmlns:a16="http://schemas.microsoft.com/office/drawing/2014/main" id="{B8873226-C5DD-450A-BB6B-61C2BAEFB9FB}"/>
              </a:ext>
            </a:extLst>
          </p:cNvPr>
          <p:cNvSpPr>
            <a:spLocks noGrp="1"/>
          </p:cNvSpPr>
          <p:nvPr/>
        </p:nvSpPr>
        <p:spPr>
          <a:xfrm>
            <a:off x="3571875" y="2738438"/>
            <a:ext cx="609600" cy="285750"/>
          </a:xfrm>
          <a:prstGeom prst="rect">
            <a:avLst/>
          </a:prstGeom>
          <a:noFill/>
          <a:ln w="0">
            <a:noFill/>
            <a:prstDash val="solid"/>
          </a:ln>
        </p:spPr>
        <p:txBody>
          <a:bodyPr wrap="square" lIns="0" tIns="0" rIns="0" bIns="0" anchor="t">
            <a:normAutofit/>
          </a:bodyPr>
          <a:lstStyle/>
          <a:p>
            <a:pPr algn="ctr">
              <a:buNone/>
              <a:defRPr sz="1725" b="1" i="0">
                <a:solidFill>
                  <a:srgbClr val="1256A3"/>
                </a:solidFill>
                <a:latin typeface="Helvetica Neue"/>
                <a:ea typeface="Helvetica Neue"/>
                <a:cs typeface="Helvetica Neue"/>
              </a:defRPr>
            </a:pPr>
            <a:r>
              <a:rPr sz="1725" b="1" i="0">
                <a:solidFill>
                  <a:srgbClr val="1256A3"/>
                </a:solidFill>
                <a:latin typeface="Helvetica Neue"/>
                <a:ea typeface="Helvetica Neue"/>
                <a:cs typeface="Helvetica Neue"/>
              </a:rPr>
              <a:t>2</a:t>
            </a:r>
          </a:p>
        </p:txBody>
      </p:sp>
      <p:sp>
        <p:nvSpPr>
          <p:cNvPr id="14" name="Rectangle 13">
            <a:extLst>
              <a:ext uri="{FF2B5EF4-FFF2-40B4-BE49-F238E27FC236}">
                <a16:creationId xmlns:a16="http://schemas.microsoft.com/office/drawing/2014/main" id="{B2428DBF-0BAB-4CD4-9978-7B1B413A33C4}"/>
              </a:ext>
            </a:extLst>
          </p:cNvPr>
          <p:cNvSpPr>
            <a:spLocks noGrp="1"/>
          </p:cNvSpPr>
          <p:nvPr/>
        </p:nvSpPr>
        <p:spPr>
          <a:xfrm>
            <a:off x="3114675" y="3424238"/>
            <a:ext cx="1524000" cy="438150"/>
          </a:xfrm>
          <a:prstGeom prst="rect">
            <a:avLst/>
          </a:prstGeom>
          <a:noFill/>
          <a:ln w="0">
            <a:noFill/>
            <a:prstDash val="solid"/>
          </a:ln>
        </p:spPr>
        <p:txBody>
          <a:bodyPr wrap="square" lIns="0" tIns="0" rIns="0" bIns="0" anchor="t">
            <a:normAutofit/>
          </a:bodyPr>
          <a:lstStyle/>
          <a:p>
            <a:pPr algn="ctr">
              <a:buNone/>
              <a:defRPr sz="1650" b="1" i="0">
                <a:solidFill>
                  <a:srgbClr val="0B1220"/>
                </a:solidFill>
                <a:latin typeface="Helvetica Neue"/>
                <a:ea typeface="Helvetica Neue"/>
                <a:cs typeface="Helvetica Neue"/>
              </a:defRPr>
            </a:pPr>
            <a:r>
              <a:rPr sz="1650" b="1" i="0">
                <a:solidFill>
                  <a:srgbClr val="0B1220"/>
                </a:solidFill>
                <a:latin typeface="Helvetica Neue"/>
                <a:ea typeface="Helvetica Neue"/>
                <a:cs typeface="Helvetica Neue"/>
              </a:rPr>
              <a:t>Recommend</a:t>
            </a:r>
          </a:p>
        </p:txBody>
      </p:sp>
      <p:sp>
        <p:nvSpPr>
          <p:cNvPr id="15" name="Rectangle 14">
            <a:extLst>
              <a:ext uri="{FF2B5EF4-FFF2-40B4-BE49-F238E27FC236}">
                <a16:creationId xmlns:a16="http://schemas.microsoft.com/office/drawing/2014/main" id="{44631A15-0CA8-4A00-862E-09D6B19FF697}"/>
              </a:ext>
            </a:extLst>
          </p:cNvPr>
          <p:cNvSpPr>
            <a:spLocks noGrp="1"/>
          </p:cNvSpPr>
          <p:nvPr/>
        </p:nvSpPr>
        <p:spPr>
          <a:xfrm>
            <a:off x="3086100" y="3938588"/>
            <a:ext cx="1581150" cy="933450"/>
          </a:xfrm>
          <a:prstGeom prst="rect">
            <a:avLst/>
          </a:prstGeom>
          <a:noFill/>
          <a:ln w="0">
            <a:noFill/>
            <a:prstDash val="solid"/>
          </a:ln>
        </p:spPr>
        <p:txBody>
          <a:bodyPr wrap="square" lIns="0" tIns="0" rIns="0" bIns="0" anchor="t">
            <a:normAutofit/>
          </a:bodyPr>
          <a:lstStyle/>
          <a:p>
            <a:pPr algn="ctr">
              <a:buNone/>
              <a:defRPr sz="1088" b="0" i="0">
                <a:solidFill>
                  <a:srgbClr val="475569"/>
                </a:solidFill>
                <a:latin typeface="Helvetica Neue"/>
                <a:ea typeface="Helvetica Neue"/>
                <a:cs typeface="Helvetica Neue"/>
              </a:defRPr>
            </a:pPr>
            <a:r>
              <a:rPr sz="1088" b="0" i="0">
                <a:solidFill>
                  <a:srgbClr val="475569"/>
                </a:solidFill>
                <a:latin typeface="Helvetica Neue"/>
                <a:ea typeface="Helvetica Neue"/>
                <a:cs typeface="Helvetica Neue"/>
              </a:rPr>
              <a:t>Rank, explain, compare, and disclose trade-offs</a:t>
            </a:r>
          </a:p>
        </p:txBody>
      </p:sp>
      <p:sp>
        <p:nvSpPr>
          <p:cNvPr id="16" name="Oval 15">
            <a:extLst>
              <a:ext uri="{FF2B5EF4-FFF2-40B4-BE49-F238E27FC236}">
                <a16:creationId xmlns:a16="http://schemas.microsoft.com/office/drawing/2014/main" id="{42C0BAC1-0739-41E9-85E6-3D2C9A2E0614}"/>
              </a:ext>
            </a:extLst>
          </p:cNvPr>
          <p:cNvSpPr>
            <a:spLocks noGrp="1"/>
          </p:cNvSpPr>
          <p:nvPr/>
        </p:nvSpPr>
        <p:spPr>
          <a:xfrm>
            <a:off x="5781675" y="2605088"/>
            <a:ext cx="609600" cy="609600"/>
          </a:xfrm>
          <a:prstGeom prst="ellipse">
            <a:avLst/>
          </a:prstGeom>
          <a:solidFill>
            <a:srgbClr val="D0EDFA"/>
          </a:solidFill>
          <a:ln w="0">
            <a:solidFill>
              <a:srgbClr val="D0EDFA"/>
            </a:solidFill>
            <a:prstDash val="solid"/>
          </a:ln>
        </p:spPr>
        <p:txBody>
          <a:bodyPr/>
          <a:lstStyle/>
          <a:p>
            <a:endParaRPr/>
          </a:p>
        </p:txBody>
      </p:sp>
      <p:sp>
        <p:nvSpPr>
          <p:cNvPr id="17" name="Rectangle 16">
            <a:extLst>
              <a:ext uri="{FF2B5EF4-FFF2-40B4-BE49-F238E27FC236}">
                <a16:creationId xmlns:a16="http://schemas.microsoft.com/office/drawing/2014/main" id="{50A2910A-DA50-4E28-9A02-3BA0610EF5BF}"/>
              </a:ext>
            </a:extLst>
          </p:cNvPr>
          <p:cNvSpPr>
            <a:spLocks noGrp="1"/>
          </p:cNvSpPr>
          <p:nvPr/>
        </p:nvSpPr>
        <p:spPr>
          <a:xfrm>
            <a:off x="5781675" y="2738438"/>
            <a:ext cx="609600" cy="285750"/>
          </a:xfrm>
          <a:prstGeom prst="rect">
            <a:avLst/>
          </a:prstGeom>
          <a:noFill/>
          <a:ln w="0">
            <a:noFill/>
            <a:prstDash val="solid"/>
          </a:ln>
        </p:spPr>
        <p:txBody>
          <a:bodyPr wrap="square" lIns="0" tIns="0" rIns="0" bIns="0" anchor="t">
            <a:normAutofit/>
          </a:bodyPr>
          <a:lstStyle/>
          <a:p>
            <a:pPr algn="ctr">
              <a:buNone/>
              <a:defRPr sz="1725" b="1" i="0">
                <a:solidFill>
                  <a:srgbClr val="1256A3"/>
                </a:solidFill>
                <a:latin typeface="Helvetica Neue"/>
                <a:ea typeface="Helvetica Neue"/>
                <a:cs typeface="Helvetica Neue"/>
              </a:defRPr>
            </a:pPr>
            <a:r>
              <a:rPr sz="1725" b="1" i="0">
                <a:solidFill>
                  <a:srgbClr val="1256A3"/>
                </a:solidFill>
                <a:latin typeface="Helvetica Neue"/>
                <a:ea typeface="Helvetica Neue"/>
                <a:cs typeface="Helvetica Neue"/>
              </a:rPr>
              <a:t>3</a:t>
            </a:r>
          </a:p>
        </p:txBody>
      </p:sp>
      <p:sp>
        <p:nvSpPr>
          <p:cNvPr id="18" name="Rectangle 17">
            <a:extLst>
              <a:ext uri="{FF2B5EF4-FFF2-40B4-BE49-F238E27FC236}">
                <a16:creationId xmlns:a16="http://schemas.microsoft.com/office/drawing/2014/main" id="{B467CD19-0E7B-4BB4-9A99-CBF049C8EF31}"/>
              </a:ext>
            </a:extLst>
          </p:cNvPr>
          <p:cNvSpPr>
            <a:spLocks noGrp="1"/>
          </p:cNvSpPr>
          <p:nvPr/>
        </p:nvSpPr>
        <p:spPr>
          <a:xfrm>
            <a:off x="5324475" y="3424238"/>
            <a:ext cx="1524000" cy="438150"/>
          </a:xfrm>
          <a:prstGeom prst="rect">
            <a:avLst/>
          </a:prstGeom>
          <a:noFill/>
          <a:ln w="0">
            <a:noFill/>
            <a:prstDash val="solid"/>
          </a:ln>
        </p:spPr>
        <p:txBody>
          <a:bodyPr wrap="square" lIns="0" tIns="0" rIns="0" bIns="0" anchor="t">
            <a:normAutofit/>
          </a:bodyPr>
          <a:lstStyle/>
          <a:p>
            <a:pPr algn="ctr">
              <a:buNone/>
              <a:defRPr sz="1650" b="1" i="0">
                <a:solidFill>
                  <a:srgbClr val="0B1220"/>
                </a:solidFill>
                <a:latin typeface="Helvetica Neue"/>
                <a:ea typeface="Helvetica Neue"/>
                <a:cs typeface="Helvetica Neue"/>
              </a:defRPr>
            </a:pPr>
            <a:r>
              <a:rPr sz="1650" b="1" i="0">
                <a:solidFill>
                  <a:srgbClr val="0B1220"/>
                </a:solidFill>
                <a:latin typeface="Helvetica Neue"/>
                <a:ea typeface="Helvetica Neue"/>
                <a:cs typeface="Helvetica Neue"/>
              </a:rPr>
              <a:t>Assemble</a:t>
            </a:r>
          </a:p>
        </p:txBody>
      </p:sp>
      <p:sp>
        <p:nvSpPr>
          <p:cNvPr id="19" name="Rectangle 18">
            <a:extLst>
              <a:ext uri="{FF2B5EF4-FFF2-40B4-BE49-F238E27FC236}">
                <a16:creationId xmlns:a16="http://schemas.microsoft.com/office/drawing/2014/main" id="{04CEA3B2-6413-47B1-B203-0590181897DE}"/>
              </a:ext>
            </a:extLst>
          </p:cNvPr>
          <p:cNvSpPr>
            <a:spLocks noGrp="1"/>
          </p:cNvSpPr>
          <p:nvPr/>
        </p:nvSpPr>
        <p:spPr>
          <a:xfrm>
            <a:off x="5295900" y="3938588"/>
            <a:ext cx="1581150" cy="933450"/>
          </a:xfrm>
          <a:prstGeom prst="rect">
            <a:avLst/>
          </a:prstGeom>
          <a:noFill/>
          <a:ln w="0">
            <a:noFill/>
            <a:prstDash val="solid"/>
          </a:ln>
        </p:spPr>
        <p:txBody>
          <a:bodyPr wrap="square" lIns="0" tIns="0" rIns="0" bIns="0" anchor="t">
            <a:normAutofit/>
          </a:bodyPr>
          <a:lstStyle/>
          <a:p>
            <a:pPr algn="ctr">
              <a:buNone/>
              <a:defRPr sz="1088" b="0" i="0">
                <a:solidFill>
                  <a:srgbClr val="475569"/>
                </a:solidFill>
                <a:latin typeface="Helvetica Neue"/>
                <a:ea typeface="Helvetica Neue"/>
                <a:cs typeface="Helvetica Neue"/>
              </a:defRPr>
            </a:pPr>
            <a:r>
              <a:rPr sz="1088" b="0" i="0">
                <a:solidFill>
                  <a:srgbClr val="475569"/>
                </a:solidFill>
                <a:latin typeface="Helvetica Neue"/>
                <a:ea typeface="Helvetica Neue"/>
                <a:cs typeface="Helvetica Neue"/>
              </a:rPr>
              <a:t>Create a list, outfit, meal, or multi-item cart</a:t>
            </a:r>
          </a:p>
        </p:txBody>
      </p:sp>
      <p:sp>
        <p:nvSpPr>
          <p:cNvPr id="20" name="Oval 19">
            <a:extLst>
              <a:ext uri="{FF2B5EF4-FFF2-40B4-BE49-F238E27FC236}">
                <a16:creationId xmlns:a16="http://schemas.microsoft.com/office/drawing/2014/main" id="{53DD4B3C-F8ED-4A4F-894E-E4EC480B7CCA}"/>
              </a:ext>
            </a:extLst>
          </p:cNvPr>
          <p:cNvSpPr>
            <a:spLocks noGrp="1"/>
          </p:cNvSpPr>
          <p:nvPr/>
        </p:nvSpPr>
        <p:spPr>
          <a:xfrm>
            <a:off x="7991475" y="2605088"/>
            <a:ext cx="609600" cy="609600"/>
          </a:xfrm>
          <a:prstGeom prst="ellipse">
            <a:avLst/>
          </a:prstGeom>
          <a:solidFill>
            <a:srgbClr val="D0EDFA"/>
          </a:solidFill>
          <a:ln w="0">
            <a:solidFill>
              <a:srgbClr val="D0EDFA"/>
            </a:solidFill>
            <a:prstDash val="solid"/>
          </a:ln>
        </p:spPr>
        <p:txBody>
          <a:bodyPr/>
          <a:lstStyle/>
          <a:p>
            <a:endParaRPr/>
          </a:p>
        </p:txBody>
      </p:sp>
      <p:sp>
        <p:nvSpPr>
          <p:cNvPr id="21" name="Rectangle 20">
            <a:extLst>
              <a:ext uri="{FF2B5EF4-FFF2-40B4-BE49-F238E27FC236}">
                <a16:creationId xmlns:a16="http://schemas.microsoft.com/office/drawing/2014/main" id="{8140FA30-6E35-4A27-AE70-E0B2A5838E18}"/>
              </a:ext>
            </a:extLst>
          </p:cNvPr>
          <p:cNvSpPr>
            <a:spLocks noGrp="1"/>
          </p:cNvSpPr>
          <p:nvPr/>
        </p:nvSpPr>
        <p:spPr>
          <a:xfrm>
            <a:off x="7991475" y="2738438"/>
            <a:ext cx="609600" cy="285750"/>
          </a:xfrm>
          <a:prstGeom prst="rect">
            <a:avLst/>
          </a:prstGeom>
          <a:noFill/>
          <a:ln w="0">
            <a:noFill/>
            <a:prstDash val="solid"/>
          </a:ln>
        </p:spPr>
        <p:txBody>
          <a:bodyPr wrap="square" lIns="0" tIns="0" rIns="0" bIns="0" anchor="t">
            <a:normAutofit/>
          </a:bodyPr>
          <a:lstStyle/>
          <a:p>
            <a:pPr algn="ctr">
              <a:buNone/>
              <a:defRPr sz="1725" b="1" i="0">
                <a:solidFill>
                  <a:srgbClr val="1256A3"/>
                </a:solidFill>
                <a:latin typeface="Helvetica Neue"/>
                <a:ea typeface="Helvetica Neue"/>
                <a:cs typeface="Helvetica Neue"/>
              </a:defRPr>
            </a:pPr>
            <a:r>
              <a:rPr sz="1725" b="1" i="0">
                <a:solidFill>
                  <a:srgbClr val="1256A3"/>
                </a:solidFill>
                <a:latin typeface="Helvetica Neue"/>
                <a:ea typeface="Helvetica Neue"/>
                <a:cs typeface="Helvetica Neue"/>
              </a:rPr>
              <a:t>4</a:t>
            </a:r>
          </a:p>
        </p:txBody>
      </p:sp>
      <p:sp>
        <p:nvSpPr>
          <p:cNvPr id="22" name="Rectangle 21">
            <a:extLst>
              <a:ext uri="{FF2B5EF4-FFF2-40B4-BE49-F238E27FC236}">
                <a16:creationId xmlns:a16="http://schemas.microsoft.com/office/drawing/2014/main" id="{54FBE8F6-BBE0-49B3-8763-8A8DC6F9B10E}"/>
              </a:ext>
            </a:extLst>
          </p:cNvPr>
          <p:cNvSpPr>
            <a:spLocks noGrp="1"/>
          </p:cNvSpPr>
          <p:nvPr/>
        </p:nvSpPr>
        <p:spPr>
          <a:xfrm>
            <a:off x="7534275" y="3424238"/>
            <a:ext cx="1524000" cy="438150"/>
          </a:xfrm>
          <a:prstGeom prst="rect">
            <a:avLst/>
          </a:prstGeom>
          <a:noFill/>
          <a:ln w="0">
            <a:noFill/>
            <a:prstDash val="solid"/>
          </a:ln>
        </p:spPr>
        <p:txBody>
          <a:bodyPr wrap="square" lIns="0" tIns="0" rIns="0" bIns="0" anchor="t">
            <a:normAutofit/>
          </a:bodyPr>
          <a:lstStyle/>
          <a:p>
            <a:pPr algn="ctr">
              <a:buNone/>
              <a:defRPr sz="1650" b="1" i="0">
                <a:solidFill>
                  <a:srgbClr val="0B1220"/>
                </a:solidFill>
                <a:latin typeface="Helvetica Neue"/>
                <a:ea typeface="Helvetica Neue"/>
                <a:cs typeface="Helvetica Neue"/>
              </a:defRPr>
            </a:pPr>
            <a:r>
              <a:rPr sz="1650" b="1" i="0">
                <a:solidFill>
                  <a:srgbClr val="0B1220"/>
                </a:solidFill>
                <a:latin typeface="Helvetica Neue"/>
                <a:ea typeface="Helvetica Neue"/>
                <a:cs typeface="Helvetica Neue"/>
              </a:rPr>
              <a:t>Monitor</a:t>
            </a:r>
          </a:p>
        </p:txBody>
      </p:sp>
      <p:sp>
        <p:nvSpPr>
          <p:cNvPr id="23" name="Rectangle 22">
            <a:extLst>
              <a:ext uri="{FF2B5EF4-FFF2-40B4-BE49-F238E27FC236}">
                <a16:creationId xmlns:a16="http://schemas.microsoft.com/office/drawing/2014/main" id="{222CD6DD-5147-4D11-B511-16B9C125A0BF}"/>
              </a:ext>
            </a:extLst>
          </p:cNvPr>
          <p:cNvSpPr>
            <a:spLocks noGrp="1"/>
          </p:cNvSpPr>
          <p:nvPr/>
        </p:nvSpPr>
        <p:spPr>
          <a:xfrm>
            <a:off x="7505700" y="3938588"/>
            <a:ext cx="1581150" cy="933450"/>
          </a:xfrm>
          <a:prstGeom prst="rect">
            <a:avLst/>
          </a:prstGeom>
          <a:noFill/>
          <a:ln w="0">
            <a:noFill/>
            <a:prstDash val="solid"/>
          </a:ln>
        </p:spPr>
        <p:txBody>
          <a:bodyPr wrap="square" lIns="0" tIns="0" rIns="0" bIns="0" anchor="t">
            <a:normAutofit/>
          </a:bodyPr>
          <a:lstStyle/>
          <a:p>
            <a:pPr algn="ctr">
              <a:buNone/>
              <a:defRPr sz="1088" b="0" i="0">
                <a:solidFill>
                  <a:srgbClr val="475569"/>
                </a:solidFill>
                <a:latin typeface="Helvetica Neue"/>
                <a:ea typeface="Helvetica Neue"/>
                <a:cs typeface="Helvetica Neue"/>
              </a:defRPr>
            </a:pPr>
            <a:r>
              <a:rPr sz="1088" b="0" i="0">
                <a:solidFill>
                  <a:srgbClr val="475569"/>
                </a:solidFill>
                <a:latin typeface="Helvetica Neue"/>
                <a:ea typeface="Helvetica Neue"/>
                <a:cs typeface="Helvetica Neue"/>
              </a:rPr>
              <a:t>Watch price, availability, or replenishment signals</a:t>
            </a:r>
          </a:p>
        </p:txBody>
      </p:sp>
      <p:sp>
        <p:nvSpPr>
          <p:cNvPr id="24" name="Oval 23">
            <a:extLst>
              <a:ext uri="{FF2B5EF4-FFF2-40B4-BE49-F238E27FC236}">
                <a16:creationId xmlns:a16="http://schemas.microsoft.com/office/drawing/2014/main" id="{ED0461E2-884F-4C1E-8D16-414DE9E3E870}"/>
              </a:ext>
            </a:extLst>
          </p:cNvPr>
          <p:cNvSpPr>
            <a:spLocks noGrp="1"/>
          </p:cNvSpPr>
          <p:nvPr/>
        </p:nvSpPr>
        <p:spPr>
          <a:xfrm>
            <a:off x="10201275" y="2605088"/>
            <a:ext cx="609600" cy="609600"/>
          </a:xfrm>
          <a:prstGeom prst="ellipse">
            <a:avLst/>
          </a:prstGeom>
          <a:solidFill>
            <a:srgbClr val="3D8DFF"/>
          </a:solidFill>
          <a:ln w="0">
            <a:solidFill>
              <a:srgbClr val="3D8DFF"/>
            </a:solidFill>
            <a:prstDash val="solid"/>
          </a:ln>
        </p:spPr>
        <p:txBody>
          <a:bodyPr/>
          <a:lstStyle/>
          <a:p>
            <a:endParaRPr/>
          </a:p>
        </p:txBody>
      </p:sp>
      <p:sp>
        <p:nvSpPr>
          <p:cNvPr id="25" name="Rectangle 24">
            <a:extLst>
              <a:ext uri="{FF2B5EF4-FFF2-40B4-BE49-F238E27FC236}">
                <a16:creationId xmlns:a16="http://schemas.microsoft.com/office/drawing/2014/main" id="{C82641CA-AB0C-46FF-8D82-2638547BAD6C}"/>
              </a:ext>
            </a:extLst>
          </p:cNvPr>
          <p:cNvSpPr>
            <a:spLocks noGrp="1"/>
          </p:cNvSpPr>
          <p:nvPr/>
        </p:nvSpPr>
        <p:spPr>
          <a:xfrm>
            <a:off x="10201275" y="2738438"/>
            <a:ext cx="609600" cy="285750"/>
          </a:xfrm>
          <a:prstGeom prst="rect">
            <a:avLst/>
          </a:prstGeom>
          <a:noFill/>
          <a:ln w="0">
            <a:noFill/>
            <a:prstDash val="solid"/>
          </a:ln>
        </p:spPr>
        <p:txBody>
          <a:bodyPr wrap="square" lIns="0" tIns="0" rIns="0" bIns="0" anchor="t">
            <a:normAutofit/>
          </a:bodyPr>
          <a:lstStyle/>
          <a:p>
            <a:pPr algn="ctr">
              <a:buNone/>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5</a:t>
            </a:r>
          </a:p>
        </p:txBody>
      </p:sp>
      <p:sp>
        <p:nvSpPr>
          <p:cNvPr id="26" name="Rectangle 25">
            <a:extLst>
              <a:ext uri="{FF2B5EF4-FFF2-40B4-BE49-F238E27FC236}">
                <a16:creationId xmlns:a16="http://schemas.microsoft.com/office/drawing/2014/main" id="{79212A28-641C-4533-B696-7BD782C8D0C1}"/>
              </a:ext>
            </a:extLst>
          </p:cNvPr>
          <p:cNvSpPr>
            <a:spLocks noGrp="1"/>
          </p:cNvSpPr>
          <p:nvPr/>
        </p:nvSpPr>
        <p:spPr>
          <a:xfrm>
            <a:off x="9744075" y="3424238"/>
            <a:ext cx="1524000" cy="438150"/>
          </a:xfrm>
          <a:prstGeom prst="rect">
            <a:avLst/>
          </a:prstGeom>
          <a:noFill/>
          <a:ln w="0">
            <a:noFill/>
            <a:prstDash val="solid"/>
          </a:ln>
        </p:spPr>
        <p:txBody>
          <a:bodyPr wrap="square" lIns="0" tIns="0" rIns="0" bIns="0" anchor="t">
            <a:normAutofit fontScale="87121"/>
          </a:bodyPr>
          <a:lstStyle/>
          <a:p>
            <a:pPr algn="ctr">
              <a:buNone/>
              <a:defRPr sz="1650" b="1" i="0">
                <a:solidFill>
                  <a:srgbClr val="0B1220"/>
                </a:solidFill>
                <a:latin typeface="Helvetica Neue"/>
                <a:ea typeface="Helvetica Neue"/>
                <a:cs typeface="Helvetica Neue"/>
              </a:defRPr>
            </a:pPr>
            <a:r>
              <a:rPr sz="1650" b="1" i="0">
                <a:solidFill>
                  <a:srgbClr val="0B1220"/>
                </a:solidFill>
                <a:latin typeface="Helvetica Neue"/>
                <a:ea typeface="Helvetica Neue"/>
                <a:cs typeface="Helvetica Neue"/>
              </a:rPr>
              <a:t>Transact + recover</a:t>
            </a:r>
          </a:p>
        </p:txBody>
      </p:sp>
      <p:sp>
        <p:nvSpPr>
          <p:cNvPr id="27" name="Rectangle 26">
            <a:extLst>
              <a:ext uri="{FF2B5EF4-FFF2-40B4-BE49-F238E27FC236}">
                <a16:creationId xmlns:a16="http://schemas.microsoft.com/office/drawing/2014/main" id="{897D1743-4821-403C-A45F-EAE410BE8BAF}"/>
              </a:ext>
            </a:extLst>
          </p:cNvPr>
          <p:cNvSpPr>
            <a:spLocks noGrp="1"/>
          </p:cNvSpPr>
          <p:nvPr/>
        </p:nvSpPr>
        <p:spPr>
          <a:xfrm>
            <a:off x="9715500" y="3938588"/>
            <a:ext cx="1581150" cy="933450"/>
          </a:xfrm>
          <a:prstGeom prst="rect">
            <a:avLst/>
          </a:prstGeom>
          <a:noFill/>
          <a:ln w="0">
            <a:noFill/>
            <a:prstDash val="solid"/>
          </a:ln>
        </p:spPr>
        <p:txBody>
          <a:bodyPr wrap="square" lIns="0" tIns="0" rIns="0" bIns="0" anchor="t">
            <a:normAutofit/>
          </a:bodyPr>
          <a:lstStyle/>
          <a:p>
            <a:pPr algn="ctr">
              <a:buNone/>
              <a:defRPr sz="1088" b="0" i="0">
                <a:solidFill>
                  <a:srgbClr val="475569"/>
                </a:solidFill>
                <a:latin typeface="Helvetica Neue"/>
                <a:ea typeface="Helvetica Neue"/>
                <a:cs typeface="Helvetica Neue"/>
              </a:defRPr>
            </a:pPr>
            <a:r>
              <a:rPr sz="1088" b="0" i="0">
                <a:solidFill>
                  <a:srgbClr val="475569"/>
                </a:solidFill>
                <a:latin typeface="Helvetica Neue"/>
                <a:ea typeface="Helvetica Neue"/>
                <a:cs typeface="Helvetica Neue"/>
              </a:rPr>
              <a:t>Buy, substitute, track, return, or escalate</a:t>
            </a:r>
          </a:p>
        </p:txBody>
      </p:sp>
      <p:sp>
        <p:nvSpPr>
          <p:cNvPr id="28" name="Rectangle 27">
            <a:extLst>
              <a:ext uri="{FF2B5EF4-FFF2-40B4-BE49-F238E27FC236}">
                <a16:creationId xmlns:a16="http://schemas.microsoft.com/office/drawing/2014/main" id="{946E4ED8-3419-4B4C-91B5-49B7EE5A71CA}"/>
              </a:ext>
            </a:extLst>
          </p:cNvPr>
          <p:cNvSpPr>
            <a:spLocks noGrp="1"/>
          </p:cNvSpPr>
          <p:nvPr/>
        </p:nvSpPr>
        <p:spPr>
          <a:xfrm>
            <a:off x="533400" y="5362575"/>
            <a:ext cx="2095500" cy="304800"/>
          </a:xfrm>
          <a:prstGeom prst="rect">
            <a:avLst/>
          </a:prstGeom>
          <a:noFill/>
          <a:ln w="0">
            <a:noFill/>
            <a:prstDash val="solid"/>
          </a:ln>
        </p:spPr>
        <p:txBody>
          <a:bodyPr wrap="square" lIns="0" tIns="0" rIns="0" bIns="0" anchor="t">
            <a:normAutofit/>
          </a:bodyPr>
          <a:lstStyle/>
          <a:p>
            <a:pPr algn="l">
              <a:buNone/>
              <a:defRPr sz="1350" b="1" i="0">
                <a:solidFill>
                  <a:srgbClr val="0F766E"/>
                </a:solidFill>
                <a:latin typeface="Helvetica Neue"/>
                <a:ea typeface="Helvetica Neue"/>
                <a:cs typeface="Helvetica Neue"/>
              </a:defRPr>
            </a:pPr>
            <a:r>
              <a:rPr sz="1350" b="1" i="0">
                <a:solidFill>
                  <a:srgbClr val="0F766E"/>
                </a:solidFill>
                <a:latin typeface="Helvetica Neue"/>
                <a:ea typeface="Helvetica Neue"/>
                <a:cs typeface="Helvetica Neue"/>
              </a:rPr>
              <a:t>Human directs</a:t>
            </a:r>
          </a:p>
        </p:txBody>
      </p:sp>
      <p:sp>
        <p:nvSpPr>
          <p:cNvPr id="29" name="Rectangle 28">
            <a:extLst>
              <a:ext uri="{FF2B5EF4-FFF2-40B4-BE49-F238E27FC236}">
                <a16:creationId xmlns:a16="http://schemas.microsoft.com/office/drawing/2014/main" id="{0BFE04B8-B725-49AE-B219-254F81A6E002}"/>
              </a:ext>
            </a:extLst>
          </p:cNvPr>
          <p:cNvSpPr>
            <a:spLocks noGrp="1"/>
          </p:cNvSpPr>
          <p:nvPr/>
        </p:nvSpPr>
        <p:spPr>
          <a:xfrm>
            <a:off x="2095500" y="5486400"/>
            <a:ext cx="7810500" cy="28575"/>
          </a:xfrm>
          <a:prstGeom prst="rect">
            <a:avLst/>
          </a:prstGeom>
          <a:solidFill>
            <a:srgbClr val="B8BCC4"/>
          </a:solidFill>
          <a:ln w="0">
            <a:solidFill>
              <a:srgbClr val="B8BCC4"/>
            </a:solidFill>
            <a:prstDash val="solid"/>
          </a:ln>
        </p:spPr>
        <p:txBody>
          <a:bodyPr/>
          <a:lstStyle/>
          <a:p>
            <a:endParaRPr/>
          </a:p>
        </p:txBody>
      </p:sp>
      <p:sp>
        <p:nvSpPr>
          <p:cNvPr id="30" name="Rectangle 29">
            <a:extLst>
              <a:ext uri="{FF2B5EF4-FFF2-40B4-BE49-F238E27FC236}">
                <a16:creationId xmlns:a16="http://schemas.microsoft.com/office/drawing/2014/main" id="{3BB186FE-B1C7-4E39-A6B2-085E77DE1300}"/>
              </a:ext>
            </a:extLst>
          </p:cNvPr>
          <p:cNvSpPr>
            <a:spLocks noGrp="1"/>
          </p:cNvSpPr>
          <p:nvPr/>
        </p:nvSpPr>
        <p:spPr>
          <a:xfrm>
            <a:off x="9715500" y="5362575"/>
            <a:ext cx="1943100" cy="400050"/>
          </a:xfrm>
          <a:prstGeom prst="rect">
            <a:avLst/>
          </a:prstGeom>
          <a:noFill/>
          <a:ln w="0">
            <a:noFill/>
            <a:prstDash val="solid"/>
          </a:ln>
        </p:spPr>
        <p:txBody>
          <a:bodyPr wrap="square" lIns="0" tIns="0" rIns="0" bIns="0" anchor="t">
            <a:normAutofit fontScale="97222"/>
          </a:bodyPr>
          <a:lstStyle/>
          <a:p>
            <a:pPr algn="r">
              <a:buNone/>
              <a:defRPr sz="1350" b="1" i="0">
                <a:solidFill>
                  <a:srgbClr val="B42318"/>
                </a:solidFill>
                <a:latin typeface="Helvetica Neue"/>
                <a:ea typeface="Helvetica Neue"/>
                <a:cs typeface="Helvetica Neue"/>
              </a:defRPr>
            </a:pPr>
            <a:r>
              <a:rPr sz="1350" b="1" i="0">
                <a:solidFill>
                  <a:srgbClr val="B42318"/>
                </a:solidFill>
                <a:latin typeface="Helvetica Neue"/>
                <a:ea typeface="Helvetica Neue"/>
                <a:cs typeface="Helvetica Neue"/>
              </a:rPr>
              <a:t>Human sets policy + approvals</a:t>
            </a:r>
          </a:p>
        </p:txBody>
      </p:sp>
      <p:sp>
        <p:nvSpPr>
          <p:cNvPr id="31" name="Rectangle 30">
            <a:extLst>
              <a:ext uri="{FF2B5EF4-FFF2-40B4-BE49-F238E27FC236}">
                <a16:creationId xmlns:a16="http://schemas.microsoft.com/office/drawing/2014/main" id="{E9B7A3A5-E8A3-4CBD-8CC9-DB4E2D91BC42}"/>
              </a:ext>
            </a:extLst>
          </p:cNvPr>
          <p:cNvSpPr>
            <a:spLocks noGrp="1"/>
          </p:cNvSpPr>
          <p:nvPr/>
        </p:nvSpPr>
        <p:spPr>
          <a:xfrm>
            <a:off x="2114550" y="5753100"/>
            <a:ext cx="7772400" cy="304800"/>
          </a:xfrm>
          <a:prstGeom prst="rect">
            <a:avLst/>
          </a:prstGeom>
          <a:noFill/>
          <a:ln w="0">
            <a:noFill/>
            <a:prstDash val="solid"/>
          </a:ln>
        </p:spPr>
        <p:txBody>
          <a:bodyPr wrap="square" lIns="0" tIns="0" rIns="0" bIns="0" anchor="t">
            <a:normAutofit/>
          </a:bodyPr>
          <a:lstStyle/>
          <a:p>
            <a:pPr algn="ctr">
              <a:buNone/>
              <a:defRPr sz="1275" b="0" i="0">
                <a:solidFill>
                  <a:srgbClr val="64748B"/>
                </a:solidFill>
                <a:latin typeface="Helvetica Neue"/>
                <a:ea typeface="Helvetica Neue"/>
                <a:cs typeface="Helvetica Neue"/>
              </a:defRPr>
            </a:pPr>
            <a:r>
              <a:rPr sz="1275" b="0" i="0">
                <a:solidFill>
                  <a:srgbClr val="64748B"/>
                </a:solidFill>
                <a:latin typeface="Helvetica Neue"/>
                <a:ea typeface="Helvetica Neue"/>
                <a:cs typeface="Helvetica Neue"/>
              </a:rPr>
              <a:t>More access • more irreversible actions • more need for identity, consent, provenance, and recourse</a:t>
            </a:r>
          </a:p>
        </p:txBody>
      </p:sp>
    </p:spTree>
    <p:extLst>
      <p:ext uri="{BB962C8B-B14F-4D97-AF65-F5344CB8AC3E}">
        <p14:creationId xmlns:p14="http://schemas.microsoft.com/office/powerpoint/2010/main" val="605229167"/>
      </p:ext>
    </p:extLst>
  </p:cSld>
  <p:clrMapOvr>
    <a:masterClrMapping/>
  </p:clrMapOvr>
  <mc:AlternateContent xmlns:mc="http://schemas.openxmlformats.org/markup-compatibility/2006" xmlns:p14="http://schemas.microsoft.com/office/powerpoint/2010/main">
    <mc:Choice Requires="p14">
      <p:transition spd="slow" p14:dur="2000" advTm="56256"/>
    </mc:Choice>
    <mc:Fallback xmlns="">
      <p:transition spd="slow" advTm="56256"/>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853BCD7-4C39-4D80-BAF7-03DA8F733D61}"/>
              </a:ext>
            </a:extLst>
          </p:cNvPr>
          <p:cNvSpPr>
            <a:spLocks noGrp="1"/>
          </p:cNvSpPr>
          <p:nvPr/>
        </p:nvSpPr>
        <p:spPr>
          <a:xfrm>
            <a:off x="400050" y="266700"/>
            <a:ext cx="4000500" cy="190500"/>
          </a:xfrm>
          <a:prstGeom prst="rect">
            <a:avLst/>
          </a:prstGeom>
          <a:noFill/>
          <a:ln w="0">
            <a:noFill/>
            <a:prstDash val="solid"/>
          </a:ln>
        </p:spPr>
        <p:txBody>
          <a:bodyPr anchor="t">
            <a:normAutofit fontScale="87222" lnSpcReduction="20000"/>
          </a:bodyPr>
          <a:lstStyle/>
          <a:p>
            <a:pPr algn="l">
              <a:buNone/>
              <a:defRPr sz="900" b="1" i="0">
                <a:solidFill>
                  <a:srgbClr val="3D8DFF"/>
                </a:solidFill>
                <a:latin typeface="Helvetica Neue"/>
                <a:ea typeface="Helvetica Neue"/>
                <a:cs typeface="Helvetica Neue"/>
              </a:defRPr>
            </a:pPr>
            <a:r>
              <a:rPr sz="900" b="1" i="0">
                <a:solidFill>
                  <a:srgbClr val="3D8DFF"/>
                </a:solidFill>
                <a:latin typeface="Helvetica Neue"/>
                <a:ea typeface="Helvetica Neue"/>
                <a:cs typeface="Helvetica Neue"/>
              </a:rPr>
              <a:t>AGENTIC HARNESSES · CONTROL ARCHITECTURE</a:t>
            </a:r>
          </a:p>
        </p:txBody>
      </p:sp>
      <p:sp>
        <p:nvSpPr>
          <p:cNvPr id="2" name="Rectangle 1">
            <a:extLst>
              <a:ext uri="{FF2B5EF4-FFF2-40B4-BE49-F238E27FC236}">
                <a16:creationId xmlns:a16="http://schemas.microsoft.com/office/drawing/2014/main" id="{467E5761-E6CE-4B64-B95F-3C94E9832E9E}"/>
              </a:ext>
            </a:extLst>
          </p:cNvPr>
          <p:cNvSpPr>
            <a:spLocks noGrp="1"/>
          </p:cNvSpPr>
          <p:nvPr/>
        </p:nvSpPr>
        <p:spPr>
          <a:xfrm>
            <a:off x="400050" y="514350"/>
            <a:ext cx="11391900" cy="704850"/>
          </a:xfrm>
          <a:prstGeom prst="rect">
            <a:avLst/>
          </a:prstGeom>
          <a:noFill/>
          <a:ln w="0">
            <a:noFill/>
            <a:prstDash val="solid"/>
          </a:ln>
        </p:spPr>
        <p:txBody>
          <a:bodyPr anchor="t">
            <a:normAutofit/>
          </a:bodyPr>
          <a:lstStyle/>
          <a:p>
            <a:pPr algn="l">
              <a:buNone/>
              <a:defRPr sz="3000" b="1" i="0">
                <a:solidFill>
                  <a:srgbClr val="101820"/>
                </a:solidFill>
                <a:latin typeface="Helvetica Neue"/>
                <a:ea typeface="Helvetica Neue"/>
                <a:cs typeface="Helvetica Neue"/>
              </a:defRPr>
            </a:pPr>
            <a:r>
              <a:rPr sz="3000" b="1" i="0">
                <a:solidFill>
                  <a:srgbClr val="101820"/>
                </a:solidFill>
                <a:latin typeface="Helvetica Neue"/>
                <a:ea typeface="Helvetica Neue"/>
                <a:cs typeface="Helvetica Neue"/>
              </a:rPr>
              <a:t>Five controls turn probabilistic reasoning into trusted action</a:t>
            </a:r>
          </a:p>
        </p:txBody>
      </p:sp>
      <p:cxnSp>
        <p:nvCxnSpPr>
          <p:cNvPr id="239" name="Straight Arrow Connector 82"/>
          <p:cNvCxnSpPr/>
          <p:nvPr/>
        </p:nvCxnSpPr>
        <p:spPr>
          <a:xfrm>
            <a:off x="400050" y="6286500"/>
            <a:ext cx="11391900" cy="0"/>
          </a:xfrm>
          <a:prstGeom prst="straightConnector1">
            <a:avLst/>
          </a:prstGeom>
          <a:ln w="9525">
            <a:solidFill>
              <a:srgbClr val="C9CED3"/>
            </a:solidFill>
            <a:prstDash val="solid"/>
          </a:ln>
        </p:spPr>
      </p:cxnSp>
      <p:sp>
        <p:nvSpPr>
          <p:cNvPr id="4" name="Rectangle 3">
            <a:extLst>
              <a:ext uri="{FF2B5EF4-FFF2-40B4-BE49-F238E27FC236}">
                <a16:creationId xmlns:a16="http://schemas.microsoft.com/office/drawing/2014/main" id="{850B631F-7AFD-4BD3-A053-7B7EAB2BE357}"/>
              </a:ext>
            </a:extLst>
          </p:cNvPr>
          <p:cNvSpPr>
            <a:spLocks noGrp="1"/>
          </p:cNvSpPr>
          <p:nvPr/>
        </p:nvSpPr>
        <p:spPr>
          <a:xfrm>
            <a:off x="400050" y="6391275"/>
            <a:ext cx="4000500" cy="171450"/>
          </a:xfrm>
          <a:prstGeom prst="rect">
            <a:avLst/>
          </a:prstGeom>
          <a:noFill/>
          <a:ln w="0">
            <a:noFill/>
            <a:prstDash val="solid"/>
          </a:ln>
        </p:spPr>
        <p:txBody>
          <a:bodyPr anchor="t">
            <a:normAutofit fontScale="78636" lnSpcReduction="20000"/>
          </a:bodyPr>
          <a:lstStyle/>
          <a:p>
            <a:pPr algn="l">
              <a:buNone/>
              <a:defRPr sz="825" b="1" i="0">
                <a:solidFill>
                  <a:srgbClr val="5E6973"/>
                </a:solidFill>
                <a:latin typeface="Helvetica Neue"/>
                <a:ea typeface="Helvetica Neue"/>
                <a:cs typeface="Helvetica Neue"/>
              </a:defRPr>
            </a:pPr>
            <a:r>
              <a:rPr sz="825" b="1" i="0">
                <a:solidFill>
                  <a:srgbClr val="5E6973"/>
                </a:solidFill>
                <a:latin typeface="Helvetica Neue"/>
                <a:ea typeface="Helvetica Neue"/>
                <a:cs typeface="Helvetica Neue"/>
              </a:rPr>
              <a:t>TRUSTED AGENTIC COMMERCE</a:t>
            </a:r>
          </a:p>
        </p:txBody>
      </p:sp>
      <p:sp>
        <p:nvSpPr>
          <p:cNvPr id="5" name="Rectangle 4">
            <a:extLst>
              <a:ext uri="{FF2B5EF4-FFF2-40B4-BE49-F238E27FC236}">
                <a16:creationId xmlns:a16="http://schemas.microsoft.com/office/drawing/2014/main" id="{8B6F6335-19FB-49B5-8572-A87BFB8F798F}"/>
              </a:ext>
            </a:extLst>
          </p:cNvPr>
          <p:cNvSpPr>
            <a:spLocks noGrp="1"/>
          </p:cNvSpPr>
          <p:nvPr/>
        </p:nvSpPr>
        <p:spPr>
          <a:xfrm>
            <a:off x="11239500" y="6372225"/>
            <a:ext cx="552450" cy="190500"/>
          </a:xfrm>
          <a:prstGeom prst="rect">
            <a:avLst/>
          </a:prstGeom>
          <a:noFill/>
          <a:ln w="0">
            <a:noFill/>
            <a:prstDash val="solid"/>
          </a:ln>
        </p:spPr>
        <p:txBody>
          <a:bodyPr anchor="t">
            <a:normAutofit fontScale="87222" lnSpcReduction="20000"/>
          </a:bodyPr>
          <a:lstStyle/>
          <a:p>
            <a:pPr algn="r">
              <a:buNone/>
              <a:defRPr sz="900" b="1" i="0">
                <a:solidFill>
                  <a:srgbClr val="101820"/>
                </a:solidFill>
                <a:latin typeface="Helvetica Neue"/>
                <a:ea typeface="Helvetica Neue"/>
                <a:cs typeface="Helvetica Neue"/>
              </a:defRPr>
            </a:pPr>
            <a:r>
              <a:rPr sz="900" b="1" i="0">
                <a:solidFill>
                  <a:srgbClr val="101820"/>
                </a:solidFill>
                <a:latin typeface="Helvetica Neue"/>
                <a:ea typeface="Helvetica Neue"/>
                <a:cs typeface="Helvetica Neue"/>
              </a:rPr>
              <a:t>17</a:t>
            </a:r>
          </a:p>
        </p:txBody>
      </p:sp>
      <p:sp>
        <p:nvSpPr>
          <p:cNvPr id="6" name="Rectangle 5">
            <a:extLst>
              <a:ext uri="{FF2B5EF4-FFF2-40B4-BE49-F238E27FC236}">
                <a16:creationId xmlns:a16="http://schemas.microsoft.com/office/drawing/2014/main" id="{5EB0CFC8-150F-49F1-B7A4-62F0D59B2CF6}"/>
              </a:ext>
            </a:extLst>
          </p:cNvPr>
          <p:cNvSpPr>
            <a:spLocks noGrp="1"/>
          </p:cNvSpPr>
          <p:nvPr/>
        </p:nvSpPr>
        <p:spPr>
          <a:xfrm>
            <a:off x="400050" y="1438275"/>
            <a:ext cx="2428875" cy="647700"/>
          </a:xfrm>
          <a:prstGeom prst="rect">
            <a:avLst/>
          </a:prstGeom>
          <a:solidFill>
            <a:srgbClr val="3D8DFF"/>
          </a:solidFill>
          <a:ln w="0">
            <a:noFill/>
            <a:prstDash val="solid"/>
          </a:ln>
        </p:spPr>
        <p:txBody>
          <a:bodyPr anchor="ctr"/>
          <a:lstStyle/>
          <a:p>
            <a:pPr>
              <a:buNone/>
              <a:defRPr sz="1425" b="1" i="0">
                <a:solidFill>
                  <a:srgbClr val="FFFFFF"/>
                </a:solidFill>
                <a:latin typeface="Helvetica Neue"/>
                <a:ea typeface="Helvetica Neue"/>
                <a:cs typeface="Helvetica Neue"/>
              </a:defRPr>
            </a:pPr>
            <a:r>
              <a:rPr b="1">
                <a:solidFill>
                  <a:srgbClr val="FFFFFF"/>
                </a:solidFill>
                <a:latin typeface="Helvetica Neue"/>
                <a:ea typeface="Helvetica Neue"/>
                <a:cs typeface="Helvetica Neue"/>
              </a:rPr>
              <a:t>Verified evidence</a:t>
            </a:r>
          </a:p>
        </p:txBody>
      </p:sp>
      <p:sp>
        <p:nvSpPr>
          <p:cNvPr id="7" name="Rectangle 6">
            <a:extLst>
              <a:ext uri="{FF2B5EF4-FFF2-40B4-BE49-F238E27FC236}">
                <a16:creationId xmlns:a16="http://schemas.microsoft.com/office/drawing/2014/main" id="{E0868066-A0D3-49E5-951E-ED4A33580B29}"/>
              </a:ext>
            </a:extLst>
          </p:cNvPr>
          <p:cNvSpPr>
            <a:spLocks noGrp="1"/>
          </p:cNvSpPr>
          <p:nvPr/>
        </p:nvSpPr>
        <p:spPr>
          <a:xfrm>
            <a:off x="571500" y="1609725"/>
            <a:ext cx="2095500" cy="333375"/>
          </a:xfrm>
          <a:prstGeom prst="rect">
            <a:avLst/>
          </a:prstGeom>
          <a:noFill/>
          <a:ln w="0">
            <a:noFill/>
            <a:prstDash val="solid"/>
          </a:ln>
        </p:spPr>
        <p:txBody>
          <a:bodyPr anchor="t">
            <a:normAutofit fontScale="96645"/>
          </a:bodyPr>
          <a:lstStyle/>
          <a:p>
            <a:pPr algn="l">
              <a:buNone/>
              <a:defRPr sz="1425" b="1" i="0">
                <a:solidFill>
                  <a:srgbClr val="FFFFFF"/>
                </a:solidFill>
                <a:latin typeface="Helvetica Neue"/>
                <a:ea typeface="Helvetica Neue"/>
                <a:cs typeface="Helvetica Neue"/>
              </a:defRPr>
            </a:pPr>
            <a:endParaRPr sz="1425" b="1" i="0">
              <a:solidFill>
                <a:srgbClr val="FFFFFF"/>
              </a:solidFill>
              <a:latin typeface="Helvetica Neue"/>
              <a:ea typeface="Helvetica Neue"/>
              <a:cs typeface="Helvetica Neue"/>
            </a:endParaRPr>
          </a:p>
        </p:txBody>
      </p:sp>
      <p:sp>
        <p:nvSpPr>
          <p:cNvPr id="8" name="Rectangle 7">
            <a:extLst>
              <a:ext uri="{FF2B5EF4-FFF2-40B4-BE49-F238E27FC236}">
                <a16:creationId xmlns:a16="http://schemas.microsoft.com/office/drawing/2014/main" id="{AEEC275C-6B86-481B-917A-A72210C7892B}"/>
              </a:ext>
            </a:extLst>
          </p:cNvPr>
          <p:cNvSpPr>
            <a:spLocks noGrp="1"/>
          </p:cNvSpPr>
          <p:nvPr/>
        </p:nvSpPr>
        <p:spPr>
          <a:xfrm>
            <a:off x="2828925" y="1438275"/>
            <a:ext cx="8963025" cy="647700"/>
          </a:xfrm>
          <a:prstGeom prst="rect">
            <a:avLst/>
          </a:prstGeom>
          <a:solidFill>
            <a:srgbClr val="EAF5FB"/>
          </a:solidFill>
          <a:ln w="0">
            <a:noFill/>
            <a:prstDash val="solid"/>
          </a:ln>
        </p:spPr>
        <p:txBody>
          <a:bodyPr/>
          <a:lstStyle/>
          <a:p>
            <a:endParaRPr/>
          </a:p>
        </p:txBody>
      </p:sp>
      <p:sp>
        <p:nvSpPr>
          <p:cNvPr id="9" name="Rectangle 8">
            <a:extLst>
              <a:ext uri="{FF2B5EF4-FFF2-40B4-BE49-F238E27FC236}">
                <a16:creationId xmlns:a16="http://schemas.microsoft.com/office/drawing/2014/main" id="{E58E2F74-4C25-49D1-99AE-F588BA59EA34}"/>
              </a:ext>
            </a:extLst>
          </p:cNvPr>
          <p:cNvSpPr>
            <a:spLocks noGrp="1"/>
          </p:cNvSpPr>
          <p:nvPr/>
        </p:nvSpPr>
        <p:spPr>
          <a:xfrm>
            <a:off x="3114675" y="1581150"/>
            <a:ext cx="8410575" cy="381000"/>
          </a:xfrm>
          <a:prstGeom prst="rect">
            <a:avLst/>
          </a:prstGeom>
          <a:noFill/>
          <a:ln w="0">
            <a:noFill/>
            <a:prstDash val="solid"/>
          </a:ln>
        </p:spPr>
        <p:txBody>
          <a:bodyPr anchor="ctr">
            <a:normAutofit/>
          </a:bodyPr>
          <a:lstStyle/>
          <a:p>
            <a:pPr>
              <a:buNone/>
              <a:defRPr sz="1500" b="1" i="0">
                <a:solidFill>
                  <a:srgbClr val="101820"/>
                </a:solidFill>
                <a:latin typeface="Helvetica Neue"/>
                <a:ea typeface="Helvetica Neue"/>
                <a:cs typeface="Helvetica Neue"/>
              </a:defRPr>
            </a:pPr>
            <a:r>
              <a:rPr sz="1500" b="1" i="0">
                <a:solidFill>
                  <a:srgbClr val="101820"/>
                </a:solidFill>
                <a:latin typeface="Helvetica Neue"/>
                <a:ea typeface="Helvetica Neue"/>
                <a:cs typeface="Helvetica Neue"/>
              </a:rPr>
              <a:t>Identity, structured product attributes, claim provenance and freshness</a:t>
            </a:r>
          </a:p>
        </p:txBody>
      </p:sp>
      <p:sp>
        <p:nvSpPr>
          <p:cNvPr id="10" name="Rectangle 9">
            <a:extLst>
              <a:ext uri="{FF2B5EF4-FFF2-40B4-BE49-F238E27FC236}">
                <a16:creationId xmlns:a16="http://schemas.microsoft.com/office/drawing/2014/main" id="{606B9250-8347-462E-A4E1-3BFF72D26C19}"/>
              </a:ext>
            </a:extLst>
          </p:cNvPr>
          <p:cNvSpPr>
            <a:spLocks noGrp="1"/>
          </p:cNvSpPr>
          <p:nvPr/>
        </p:nvSpPr>
        <p:spPr>
          <a:xfrm>
            <a:off x="400050" y="2286000"/>
            <a:ext cx="2428875" cy="647700"/>
          </a:xfrm>
          <a:prstGeom prst="rect">
            <a:avLst/>
          </a:prstGeom>
          <a:solidFill>
            <a:srgbClr val="6DCBF4"/>
          </a:solidFill>
          <a:ln w="0">
            <a:noFill/>
            <a:prstDash val="solid"/>
          </a:ln>
        </p:spPr>
        <p:txBody>
          <a:bodyPr anchor="ctr"/>
          <a:lstStyle/>
          <a:p>
            <a:pPr>
              <a:buNone/>
              <a:defRPr sz="1425" b="1" i="0">
                <a:solidFill>
                  <a:srgbClr val="FFFFFF"/>
                </a:solidFill>
                <a:latin typeface="Helvetica Neue"/>
                <a:ea typeface="Helvetica Neue"/>
                <a:cs typeface="Helvetica Neue"/>
              </a:defRPr>
            </a:pPr>
            <a:r>
              <a:rPr b="1">
                <a:solidFill>
                  <a:srgbClr val="FFFFFF"/>
                </a:solidFill>
                <a:latin typeface="Helvetica Neue"/>
                <a:ea typeface="Helvetica Neue"/>
                <a:cs typeface="Helvetica Neue"/>
              </a:rPr>
              <a:t>Intent and authority</a:t>
            </a:r>
          </a:p>
        </p:txBody>
      </p:sp>
      <p:sp>
        <p:nvSpPr>
          <p:cNvPr id="11" name="Rectangle 10">
            <a:extLst>
              <a:ext uri="{FF2B5EF4-FFF2-40B4-BE49-F238E27FC236}">
                <a16:creationId xmlns:a16="http://schemas.microsoft.com/office/drawing/2014/main" id="{78230052-01C6-4EF9-A488-2C4B7B53B38C}"/>
              </a:ext>
            </a:extLst>
          </p:cNvPr>
          <p:cNvSpPr>
            <a:spLocks noGrp="1"/>
          </p:cNvSpPr>
          <p:nvPr/>
        </p:nvSpPr>
        <p:spPr>
          <a:xfrm>
            <a:off x="571500" y="2457450"/>
            <a:ext cx="2095500" cy="333375"/>
          </a:xfrm>
          <a:prstGeom prst="rect">
            <a:avLst/>
          </a:prstGeom>
          <a:noFill/>
          <a:ln w="0">
            <a:noFill/>
            <a:prstDash val="solid"/>
          </a:ln>
        </p:spPr>
        <p:txBody>
          <a:bodyPr anchor="t">
            <a:normAutofit fontScale="98671"/>
          </a:bodyPr>
          <a:lstStyle/>
          <a:p>
            <a:pPr algn="l">
              <a:buNone/>
              <a:defRPr sz="1425" b="1" i="0">
                <a:solidFill>
                  <a:srgbClr val="FFFFFF"/>
                </a:solidFill>
                <a:latin typeface="Helvetica Neue"/>
                <a:ea typeface="Helvetica Neue"/>
                <a:cs typeface="Helvetica Neue"/>
              </a:defRPr>
            </a:pPr>
            <a:endParaRPr sz="1425" b="1" i="0">
              <a:solidFill>
                <a:srgbClr val="FFFFFF"/>
              </a:solidFill>
              <a:latin typeface="Helvetica Neue"/>
              <a:ea typeface="Helvetica Neue"/>
              <a:cs typeface="Helvetica Neue"/>
            </a:endParaRPr>
          </a:p>
        </p:txBody>
      </p:sp>
      <p:sp>
        <p:nvSpPr>
          <p:cNvPr id="12" name="Rectangle 11">
            <a:extLst>
              <a:ext uri="{FF2B5EF4-FFF2-40B4-BE49-F238E27FC236}">
                <a16:creationId xmlns:a16="http://schemas.microsoft.com/office/drawing/2014/main" id="{2F57E7E2-5F3F-45BE-B83E-15EB8717CB94}"/>
              </a:ext>
            </a:extLst>
          </p:cNvPr>
          <p:cNvSpPr>
            <a:spLocks noGrp="1"/>
          </p:cNvSpPr>
          <p:nvPr/>
        </p:nvSpPr>
        <p:spPr>
          <a:xfrm>
            <a:off x="2828925" y="2286000"/>
            <a:ext cx="8963025" cy="647700"/>
          </a:xfrm>
          <a:prstGeom prst="rect">
            <a:avLst/>
          </a:prstGeom>
          <a:solidFill>
            <a:srgbClr val="F1F3F4"/>
          </a:solidFill>
          <a:ln w="0">
            <a:noFill/>
            <a:prstDash val="solid"/>
          </a:ln>
        </p:spPr>
        <p:txBody>
          <a:bodyPr/>
          <a:lstStyle/>
          <a:p>
            <a:endParaRPr/>
          </a:p>
        </p:txBody>
      </p:sp>
      <p:sp>
        <p:nvSpPr>
          <p:cNvPr id="13" name="Rectangle 12">
            <a:extLst>
              <a:ext uri="{FF2B5EF4-FFF2-40B4-BE49-F238E27FC236}">
                <a16:creationId xmlns:a16="http://schemas.microsoft.com/office/drawing/2014/main" id="{EC9155BD-73C9-4B0E-9174-F9127E5D1673}"/>
              </a:ext>
            </a:extLst>
          </p:cNvPr>
          <p:cNvSpPr>
            <a:spLocks noGrp="1"/>
          </p:cNvSpPr>
          <p:nvPr/>
        </p:nvSpPr>
        <p:spPr>
          <a:xfrm>
            <a:off x="3114675" y="2428875"/>
            <a:ext cx="8410575" cy="381000"/>
          </a:xfrm>
          <a:prstGeom prst="rect">
            <a:avLst/>
          </a:prstGeom>
          <a:noFill/>
          <a:ln w="0">
            <a:noFill/>
            <a:prstDash val="solid"/>
          </a:ln>
        </p:spPr>
        <p:txBody>
          <a:bodyPr anchor="ctr">
            <a:normAutofit/>
          </a:bodyPr>
          <a:lstStyle/>
          <a:p>
            <a:pPr algn="l">
              <a:buNone/>
              <a:defRPr sz="1500" b="1" i="0">
                <a:solidFill>
                  <a:srgbClr val="101820"/>
                </a:solidFill>
                <a:latin typeface="Helvetica Neue"/>
                <a:ea typeface="Helvetica Neue"/>
                <a:cs typeface="Helvetica Neue"/>
              </a:defRPr>
            </a:pPr>
            <a:r>
              <a:rPr sz="1500" b="1" i="0">
                <a:solidFill>
                  <a:srgbClr val="101820"/>
                </a:solidFill>
                <a:latin typeface="Helvetica Neue"/>
                <a:ea typeface="Helvetica Neue"/>
                <a:cs typeface="Helvetica Neue"/>
              </a:rPr>
              <a:t>Goals, constraints, budget, consent and approval limits</a:t>
            </a:r>
          </a:p>
        </p:txBody>
      </p:sp>
      <p:sp>
        <p:nvSpPr>
          <p:cNvPr id="14" name="Rectangle 13">
            <a:extLst>
              <a:ext uri="{FF2B5EF4-FFF2-40B4-BE49-F238E27FC236}">
                <a16:creationId xmlns:a16="http://schemas.microsoft.com/office/drawing/2014/main" id="{52DC46FE-1859-4E57-A932-97602D2F19D2}"/>
              </a:ext>
            </a:extLst>
          </p:cNvPr>
          <p:cNvSpPr>
            <a:spLocks noGrp="1"/>
          </p:cNvSpPr>
          <p:nvPr/>
        </p:nvSpPr>
        <p:spPr>
          <a:xfrm>
            <a:off x="400050" y="3133725"/>
            <a:ext cx="2428875" cy="647700"/>
          </a:xfrm>
          <a:prstGeom prst="rect">
            <a:avLst/>
          </a:prstGeom>
          <a:solidFill>
            <a:srgbClr val="6F61D9"/>
          </a:solidFill>
          <a:ln w="0">
            <a:noFill/>
            <a:prstDash val="solid"/>
          </a:ln>
        </p:spPr>
        <p:txBody>
          <a:bodyPr/>
          <a:lstStyle/>
          <a:p>
            <a:pPr>
              <a:buNone/>
              <a:defRPr sz="1425" b="1" i="0">
                <a:solidFill>
                  <a:srgbClr val="FFFFFF"/>
                </a:solidFill>
                <a:latin typeface="Helvetica Neue"/>
                <a:ea typeface="Helvetica Neue"/>
                <a:cs typeface="Helvetica Neue"/>
              </a:defRPr>
            </a:pPr>
            <a:r>
              <a:rPr b="1">
                <a:solidFill>
                  <a:srgbClr val="FFFFFF"/>
                </a:solidFill>
                <a:latin typeface="Helvetica Neue"/>
                <a:ea typeface="Helvetica Neue"/>
                <a:cs typeface="Helvetica Neue"/>
              </a:rPr>
              <a:t>Policy and risk checks</a:t>
            </a:r>
          </a:p>
        </p:txBody>
      </p:sp>
      <p:sp>
        <p:nvSpPr>
          <p:cNvPr id="15" name="Rectangle 14">
            <a:extLst>
              <a:ext uri="{FF2B5EF4-FFF2-40B4-BE49-F238E27FC236}">
                <a16:creationId xmlns:a16="http://schemas.microsoft.com/office/drawing/2014/main" id="{6ACD0FD5-F412-4FE4-B9CD-6DE27EE785DD}"/>
              </a:ext>
            </a:extLst>
          </p:cNvPr>
          <p:cNvSpPr>
            <a:spLocks noGrp="1"/>
          </p:cNvSpPr>
          <p:nvPr/>
        </p:nvSpPr>
        <p:spPr>
          <a:xfrm>
            <a:off x="571500" y="3305175"/>
            <a:ext cx="2095500" cy="333375"/>
          </a:xfrm>
          <a:prstGeom prst="rect">
            <a:avLst/>
          </a:prstGeom>
          <a:noFill/>
          <a:ln w="0">
            <a:noFill/>
            <a:prstDash val="solid"/>
          </a:ln>
        </p:spPr>
        <p:txBody>
          <a:bodyPr anchor="t">
            <a:normAutofit fontScale="93124"/>
          </a:bodyPr>
          <a:lstStyle/>
          <a:p>
            <a:pPr algn="l">
              <a:buNone/>
              <a:defRPr sz="1425" b="1" i="0">
                <a:solidFill>
                  <a:srgbClr val="FFFFFF"/>
                </a:solidFill>
                <a:latin typeface="Helvetica Neue"/>
                <a:ea typeface="Helvetica Neue"/>
                <a:cs typeface="Helvetica Neue"/>
              </a:defRPr>
            </a:pPr>
            <a:endParaRPr sz="1425" b="1" i="0">
              <a:solidFill>
                <a:srgbClr val="FFFFFF"/>
              </a:solidFill>
              <a:latin typeface="Helvetica Neue"/>
              <a:ea typeface="Helvetica Neue"/>
              <a:cs typeface="Helvetica Neue"/>
            </a:endParaRPr>
          </a:p>
        </p:txBody>
      </p:sp>
      <p:sp>
        <p:nvSpPr>
          <p:cNvPr id="16" name="Rectangle 15">
            <a:extLst>
              <a:ext uri="{FF2B5EF4-FFF2-40B4-BE49-F238E27FC236}">
                <a16:creationId xmlns:a16="http://schemas.microsoft.com/office/drawing/2014/main" id="{0DF800B6-0567-4E05-8644-816E994EE92E}"/>
              </a:ext>
            </a:extLst>
          </p:cNvPr>
          <p:cNvSpPr>
            <a:spLocks noGrp="1"/>
          </p:cNvSpPr>
          <p:nvPr/>
        </p:nvSpPr>
        <p:spPr>
          <a:xfrm>
            <a:off x="2828925" y="3133725"/>
            <a:ext cx="8963025" cy="647700"/>
          </a:xfrm>
          <a:prstGeom prst="rect">
            <a:avLst/>
          </a:prstGeom>
          <a:solidFill>
            <a:srgbClr val="EAF5FB"/>
          </a:solidFill>
          <a:ln w="0">
            <a:noFill/>
            <a:prstDash val="solid"/>
          </a:ln>
        </p:spPr>
        <p:txBody>
          <a:bodyPr/>
          <a:lstStyle/>
          <a:p>
            <a:endParaRPr/>
          </a:p>
        </p:txBody>
      </p:sp>
      <p:sp>
        <p:nvSpPr>
          <p:cNvPr id="17" name="Rectangle 16">
            <a:extLst>
              <a:ext uri="{FF2B5EF4-FFF2-40B4-BE49-F238E27FC236}">
                <a16:creationId xmlns:a16="http://schemas.microsoft.com/office/drawing/2014/main" id="{BCA5A454-CDDF-4C19-BABC-4EBC40B3B5FE}"/>
              </a:ext>
            </a:extLst>
          </p:cNvPr>
          <p:cNvSpPr>
            <a:spLocks noGrp="1"/>
          </p:cNvSpPr>
          <p:nvPr/>
        </p:nvSpPr>
        <p:spPr>
          <a:xfrm>
            <a:off x="3114675" y="3276600"/>
            <a:ext cx="8410575" cy="381000"/>
          </a:xfrm>
          <a:prstGeom prst="rect">
            <a:avLst/>
          </a:prstGeom>
          <a:noFill/>
          <a:ln w="0">
            <a:noFill/>
            <a:prstDash val="solid"/>
          </a:ln>
        </p:spPr>
        <p:txBody>
          <a:bodyPr anchor="ctr">
            <a:normAutofit/>
          </a:bodyPr>
          <a:lstStyle/>
          <a:p>
            <a:pPr algn="l">
              <a:buNone/>
              <a:defRPr sz="1350" b="1" i="0">
                <a:solidFill>
                  <a:srgbClr val="101820"/>
                </a:solidFill>
                <a:latin typeface="Helvetica Neue"/>
                <a:ea typeface="Helvetica Neue"/>
                <a:cs typeface="Helvetica Neue"/>
              </a:defRPr>
            </a:pPr>
            <a:r>
              <a:rPr sz="1350" b="1" i="0">
                <a:solidFill>
                  <a:srgbClr val="101820"/>
                </a:solidFill>
                <a:latin typeface="Helvetica Neue"/>
                <a:ea typeface="Helvetica Neue"/>
                <a:cs typeface="Helvetica Neue"/>
              </a:rPr>
              <a:t>Merchant rules, substitutions, thresholds and step-up conditions</a:t>
            </a:r>
          </a:p>
        </p:txBody>
      </p:sp>
      <p:sp>
        <p:nvSpPr>
          <p:cNvPr id="18" name="Rectangle 17">
            <a:extLst>
              <a:ext uri="{FF2B5EF4-FFF2-40B4-BE49-F238E27FC236}">
                <a16:creationId xmlns:a16="http://schemas.microsoft.com/office/drawing/2014/main" id="{B1AA33C5-30E1-4CAF-B622-16695481044E}"/>
              </a:ext>
            </a:extLst>
          </p:cNvPr>
          <p:cNvSpPr>
            <a:spLocks noGrp="1"/>
          </p:cNvSpPr>
          <p:nvPr/>
        </p:nvSpPr>
        <p:spPr>
          <a:xfrm>
            <a:off x="400050" y="3981450"/>
            <a:ext cx="2428875" cy="647700"/>
          </a:xfrm>
          <a:prstGeom prst="rect">
            <a:avLst/>
          </a:prstGeom>
          <a:solidFill>
            <a:srgbClr val="2E9B62"/>
          </a:solidFill>
          <a:ln w="0">
            <a:noFill/>
            <a:prstDash val="solid"/>
          </a:ln>
        </p:spPr>
        <p:txBody>
          <a:bodyPr/>
          <a:lstStyle/>
          <a:p>
            <a:pPr>
              <a:buNone/>
              <a:defRPr sz="1425" b="1" i="0">
                <a:solidFill>
                  <a:srgbClr val="FFFFFF"/>
                </a:solidFill>
                <a:latin typeface="Helvetica Neue"/>
                <a:ea typeface="Helvetica Neue"/>
                <a:cs typeface="Helvetica Neue"/>
              </a:defRPr>
            </a:pPr>
            <a:r>
              <a:rPr b="1">
                <a:solidFill>
                  <a:srgbClr val="FFFFFF"/>
                </a:solidFill>
                <a:latin typeface="Helvetica Neue"/>
                <a:ea typeface="Helvetica Neue"/>
                <a:cs typeface="Helvetica Neue"/>
              </a:rPr>
              <a:t>Approved commerce tools</a:t>
            </a:r>
          </a:p>
        </p:txBody>
      </p:sp>
      <p:sp>
        <p:nvSpPr>
          <p:cNvPr id="19" name="Rectangle 18">
            <a:extLst>
              <a:ext uri="{FF2B5EF4-FFF2-40B4-BE49-F238E27FC236}">
                <a16:creationId xmlns:a16="http://schemas.microsoft.com/office/drawing/2014/main" id="{74C9B3D3-C322-466B-88AA-B1D43525D3DC}"/>
              </a:ext>
            </a:extLst>
          </p:cNvPr>
          <p:cNvSpPr>
            <a:spLocks noGrp="1"/>
          </p:cNvSpPr>
          <p:nvPr/>
        </p:nvSpPr>
        <p:spPr>
          <a:xfrm>
            <a:off x="571500" y="4152900"/>
            <a:ext cx="2095500" cy="333375"/>
          </a:xfrm>
          <a:prstGeom prst="rect">
            <a:avLst/>
          </a:prstGeom>
          <a:noFill/>
          <a:ln w="0">
            <a:noFill/>
            <a:prstDash val="solid"/>
          </a:ln>
        </p:spPr>
        <p:txBody>
          <a:bodyPr anchor="t">
            <a:normAutofit fontScale="96776"/>
          </a:bodyPr>
          <a:lstStyle/>
          <a:p>
            <a:pPr algn="l">
              <a:buNone/>
              <a:defRPr sz="1425" b="1" i="0">
                <a:solidFill>
                  <a:srgbClr val="FFFFFF"/>
                </a:solidFill>
                <a:latin typeface="Helvetica Neue"/>
                <a:ea typeface="Helvetica Neue"/>
                <a:cs typeface="Helvetica Neue"/>
              </a:defRPr>
            </a:pPr>
            <a:endParaRPr sz="1000" b="1" i="0">
              <a:solidFill>
                <a:srgbClr val="FFFFFF"/>
              </a:solidFill>
              <a:latin typeface="Helvetica Neue"/>
              <a:ea typeface="Helvetica Neue"/>
              <a:cs typeface="Helvetica Neue"/>
            </a:endParaRPr>
          </a:p>
        </p:txBody>
      </p:sp>
      <p:sp>
        <p:nvSpPr>
          <p:cNvPr id="20" name="Rectangle 19">
            <a:extLst>
              <a:ext uri="{FF2B5EF4-FFF2-40B4-BE49-F238E27FC236}">
                <a16:creationId xmlns:a16="http://schemas.microsoft.com/office/drawing/2014/main" id="{1734515B-0DBF-4F24-8FCD-29135C542FD3}"/>
              </a:ext>
            </a:extLst>
          </p:cNvPr>
          <p:cNvSpPr>
            <a:spLocks noGrp="1"/>
          </p:cNvSpPr>
          <p:nvPr/>
        </p:nvSpPr>
        <p:spPr>
          <a:xfrm>
            <a:off x="2828925" y="3981450"/>
            <a:ext cx="8963025" cy="647700"/>
          </a:xfrm>
          <a:prstGeom prst="rect">
            <a:avLst/>
          </a:prstGeom>
          <a:solidFill>
            <a:srgbClr val="F1F3F4"/>
          </a:solidFill>
          <a:ln w="0">
            <a:noFill/>
            <a:prstDash val="solid"/>
          </a:ln>
        </p:spPr>
        <p:txBody>
          <a:bodyPr/>
          <a:lstStyle/>
          <a:p>
            <a:endParaRPr/>
          </a:p>
        </p:txBody>
      </p:sp>
      <p:sp>
        <p:nvSpPr>
          <p:cNvPr id="21" name="Rectangle 20">
            <a:extLst>
              <a:ext uri="{FF2B5EF4-FFF2-40B4-BE49-F238E27FC236}">
                <a16:creationId xmlns:a16="http://schemas.microsoft.com/office/drawing/2014/main" id="{CBF5D3E8-5941-4A21-87FC-9FD5A80B9F99}"/>
              </a:ext>
            </a:extLst>
          </p:cNvPr>
          <p:cNvSpPr>
            <a:spLocks noGrp="1"/>
          </p:cNvSpPr>
          <p:nvPr/>
        </p:nvSpPr>
        <p:spPr>
          <a:xfrm>
            <a:off x="3114675" y="4124325"/>
            <a:ext cx="8410575" cy="381000"/>
          </a:xfrm>
          <a:prstGeom prst="rect">
            <a:avLst/>
          </a:prstGeom>
          <a:noFill/>
          <a:ln w="0">
            <a:noFill/>
            <a:prstDash val="solid"/>
          </a:ln>
        </p:spPr>
        <p:txBody>
          <a:bodyPr anchor="ctr">
            <a:normAutofit/>
          </a:bodyPr>
          <a:lstStyle/>
          <a:p>
            <a:pPr algn="l">
              <a:buNone/>
              <a:defRPr sz="1500" b="1" i="0">
                <a:solidFill>
                  <a:srgbClr val="101820"/>
                </a:solidFill>
                <a:latin typeface="Helvetica Neue"/>
                <a:ea typeface="Helvetica Neue"/>
                <a:cs typeface="Helvetica Neue"/>
              </a:defRPr>
            </a:pPr>
            <a:r>
              <a:rPr sz="1500" b="1" i="0">
                <a:solidFill>
                  <a:srgbClr val="101820"/>
                </a:solidFill>
                <a:latin typeface="Helvetica Neue"/>
                <a:ea typeface="Helvetica Neue"/>
                <a:cs typeface="Helvetica Neue"/>
              </a:rPr>
              <a:t>Authenticated catalog, checkout, payment and fulfillment endpoints</a:t>
            </a:r>
          </a:p>
        </p:txBody>
      </p:sp>
      <p:sp>
        <p:nvSpPr>
          <p:cNvPr id="22" name="Rectangle 21">
            <a:extLst>
              <a:ext uri="{FF2B5EF4-FFF2-40B4-BE49-F238E27FC236}">
                <a16:creationId xmlns:a16="http://schemas.microsoft.com/office/drawing/2014/main" id="{1FAA9DDC-FA2D-4245-A888-F70FE8EF6DB2}"/>
              </a:ext>
            </a:extLst>
          </p:cNvPr>
          <p:cNvSpPr>
            <a:spLocks noGrp="1"/>
          </p:cNvSpPr>
          <p:nvPr/>
        </p:nvSpPr>
        <p:spPr>
          <a:xfrm>
            <a:off x="400050" y="4829175"/>
            <a:ext cx="2428875" cy="647700"/>
          </a:xfrm>
          <a:prstGeom prst="rect">
            <a:avLst/>
          </a:prstGeom>
          <a:solidFill>
            <a:srgbClr val="E69A2D"/>
          </a:solidFill>
          <a:ln w="0">
            <a:noFill/>
            <a:prstDash val="solid"/>
          </a:ln>
        </p:spPr>
        <p:txBody>
          <a:bodyPr/>
          <a:lstStyle/>
          <a:p>
            <a:pPr>
              <a:buNone/>
              <a:defRPr sz="1425" b="1" i="0">
                <a:solidFill>
                  <a:srgbClr val="FFFFFF"/>
                </a:solidFill>
                <a:latin typeface="Helvetica Neue"/>
                <a:ea typeface="Helvetica Neue"/>
                <a:cs typeface="Helvetica Neue"/>
              </a:defRPr>
            </a:pPr>
            <a:r>
              <a:rPr b="1">
                <a:solidFill>
                  <a:srgbClr val="FFFFFF"/>
                </a:solidFill>
                <a:latin typeface="Helvetica Neue"/>
                <a:ea typeface="Helvetica Neue"/>
                <a:cs typeface="Helvetica Neue"/>
              </a:rPr>
              <a:t>Audit and recovery</a:t>
            </a:r>
          </a:p>
        </p:txBody>
      </p:sp>
      <p:sp>
        <p:nvSpPr>
          <p:cNvPr id="23" name="Rectangle 22">
            <a:extLst>
              <a:ext uri="{FF2B5EF4-FFF2-40B4-BE49-F238E27FC236}">
                <a16:creationId xmlns:a16="http://schemas.microsoft.com/office/drawing/2014/main" id="{49B6A78F-E311-42EC-9D51-E5C25BCC0F34}"/>
              </a:ext>
            </a:extLst>
          </p:cNvPr>
          <p:cNvSpPr>
            <a:spLocks noGrp="1"/>
          </p:cNvSpPr>
          <p:nvPr/>
        </p:nvSpPr>
        <p:spPr>
          <a:xfrm>
            <a:off x="571500" y="5000625"/>
            <a:ext cx="2095500" cy="333375"/>
          </a:xfrm>
          <a:prstGeom prst="rect">
            <a:avLst/>
          </a:prstGeom>
          <a:noFill/>
          <a:ln w="0">
            <a:noFill/>
            <a:prstDash val="solid"/>
          </a:ln>
        </p:spPr>
        <p:txBody>
          <a:bodyPr anchor="t">
            <a:normAutofit fontScale="93124"/>
          </a:bodyPr>
          <a:lstStyle/>
          <a:p>
            <a:pPr algn="l">
              <a:buNone/>
              <a:defRPr sz="1425" b="1" i="0">
                <a:solidFill>
                  <a:srgbClr val="FFFFFF"/>
                </a:solidFill>
                <a:latin typeface="Helvetica Neue"/>
                <a:ea typeface="Helvetica Neue"/>
                <a:cs typeface="Helvetica Neue"/>
              </a:defRPr>
            </a:pPr>
            <a:endParaRPr sz="1425" b="1" i="0">
              <a:solidFill>
                <a:srgbClr val="FFFFFF"/>
              </a:solidFill>
              <a:latin typeface="Helvetica Neue"/>
              <a:ea typeface="Helvetica Neue"/>
              <a:cs typeface="Helvetica Neue"/>
            </a:endParaRPr>
          </a:p>
        </p:txBody>
      </p:sp>
      <p:sp>
        <p:nvSpPr>
          <p:cNvPr id="24" name="Rectangle 23">
            <a:extLst>
              <a:ext uri="{FF2B5EF4-FFF2-40B4-BE49-F238E27FC236}">
                <a16:creationId xmlns:a16="http://schemas.microsoft.com/office/drawing/2014/main" id="{E287B8D7-FAFE-4000-BEAD-F48E5A0A7FAF}"/>
              </a:ext>
            </a:extLst>
          </p:cNvPr>
          <p:cNvSpPr>
            <a:spLocks noGrp="1"/>
          </p:cNvSpPr>
          <p:nvPr/>
        </p:nvSpPr>
        <p:spPr>
          <a:xfrm>
            <a:off x="2828925" y="4829175"/>
            <a:ext cx="8963025" cy="647700"/>
          </a:xfrm>
          <a:prstGeom prst="rect">
            <a:avLst/>
          </a:prstGeom>
          <a:solidFill>
            <a:srgbClr val="EAF5FB"/>
          </a:solidFill>
          <a:ln w="0">
            <a:noFill/>
            <a:prstDash val="solid"/>
          </a:ln>
        </p:spPr>
        <p:txBody>
          <a:bodyPr/>
          <a:lstStyle/>
          <a:p>
            <a:endParaRPr/>
          </a:p>
        </p:txBody>
      </p:sp>
      <p:sp>
        <p:nvSpPr>
          <p:cNvPr id="25" name="Rectangle 24">
            <a:extLst>
              <a:ext uri="{FF2B5EF4-FFF2-40B4-BE49-F238E27FC236}">
                <a16:creationId xmlns:a16="http://schemas.microsoft.com/office/drawing/2014/main" id="{5DA0A3AD-E71E-47F9-A884-ED0F19AC5C75}"/>
              </a:ext>
            </a:extLst>
          </p:cNvPr>
          <p:cNvSpPr>
            <a:spLocks noGrp="1"/>
          </p:cNvSpPr>
          <p:nvPr/>
        </p:nvSpPr>
        <p:spPr>
          <a:xfrm>
            <a:off x="3114675" y="4972050"/>
            <a:ext cx="8410575" cy="381000"/>
          </a:xfrm>
          <a:prstGeom prst="rect">
            <a:avLst/>
          </a:prstGeom>
          <a:noFill/>
          <a:ln w="0">
            <a:noFill/>
            <a:prstDash val="solid"/>
          </a:ln>
        </p:spPr>
        <p:txBody>
          <a:bodyPr anchor="ctr">
            <a:normAutofit/>
          </a:bodyPr>
          <a:lstStyle/>
          <a:p>
            <a:pPr algn="l">
              <a:buNone/>
              <a:defRPr sz="1500" b="1" i="0">
                <a:solidFill>
                  <a:srgbClr val="101820"/>
                </a:solidFill>
                <a:latin typeface="Helvetica Neue"/>
                <a:ea typeface="Helvetica Neue"/>
                <a:cs typeface="Helvetica Neue"/>
              </a:defRPr>
            </a:pPr>
            <a:r>
              <a:rPr sz="1500" b="1" i="0">
                <a:solidFill>
                  <a:srgbClr val="101820"/>
                </a:solidFill>
                <a:latin typeface="Helvetica Neue"/>
                <a:ea typeface="Helvetica Neue"/>
                <a:cs typeface="Helvetica Neue"/>
              </a:rPr>
              <a:t>Source trail, action log, receipt, correction, cancellation and return</a:t>
            </a:r>
          </a:p>
        </p:txBody>
      </p:sp>
      <p:cxnSp>
        <p:nvCxnSpPr>
          <p:cNvPr id="262" name="Straight Arrow Connector 105"/>
          <p:cNvCxnSpPr/>
          <p:nvPr/>
        </p:nvCxnSpPr>
        <p:spPr>
          <a:xfrm>
            <a:off x="400050" y="5867400"/>
            <a:ext cx="11391900" cy="0"/>
          </a:xfrm>
          <a:prstGeom prst="straightConnector1">
            <a:avLst/>
          </a:prstGeom>
          <a:ln w="28575">
            <a:solidFill>
              <a:srgbClr val="3D8DFF"/>
            </a:solidFill>
            <a:prstDash val="solid"/>
          </a:ln>
        </p:spPr>
      </p:cxnSp>
      <p:sp>
        <p:nvSpPr>
          <p:cNvPr id="27" name="Rectangle 26">
            <a:extLst>
              <a:ext uri="{FF2B5EF4-FFF2-40B4-BE49-F238E27FC236}">
                <a16:creationId xmlns:a16="http://schemas.microsoft.com/office/drawing/2014/main" id="{23405BAF-77CB-4EB5-BD27-80A239658C54}"/>
              </a:ext>
            </a:extLst>
          </p:cNvPr>
          <p:cNvSpPr>
            <a:spLocks noGrp="1"/>
          </p:cNvSpPr>
          <p:nvPr/>
        </p:nvSpPr>
        <p:spPr>
          <a:xfrm>
            <a:off x="400050" y="5943600"/>
            <a:ext cx="1714500" cy="247650"/>
          </a:xfrm>
          <a:prstGeom prst="rect">
            <a:avLst/>
          </a:prstGeom>
          <a:noFill/>
          <a:ln w="0">
            <a:noFill/>
            <a:prstDash val="solid"/>
          </a:ln>
        </p:spPr>
        <p:txBody>
          <a:bodyPr anchor="t">
            <a:normAutofit fontScale="92917" lnSpcReduction="10000"/>
          </a:bodyPr>
          <a:lstStyle/>
          <a:p>
            <a:pPr algn="l">
              <a:buNone/>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Design principle</a:t>
            </a:r>
          </a:p>
        </p:txBody>
      </p:sp>
      <p:sp>
        <p:nvSpPr>
          <p:cNvPr id="28" name="Rectangle 27">
            <a:extLst>
              <a:ext uri="{FF2B5EF4-FFF2-40B4-BE49-F238E27FC236}">
                <a16:creationId xmlns:a16="http://schemas.microsoft.com/office/drawing/2014/main" id="{0B0B5BB8-DADD-4614-BAAD-BAD3A1098F0A}"/>
              </a:ext>
            </a:extLst>
          </p:cNvPr>
          <p:cNvSpPr>
            <a:spLocks noGrp="1"/>
          </p:cNvSpPr>
          <p:nvPr/>
        </p:nvSpPr>
        <p:spPr>
          <a:xfrm>
            <a:off x="2143125" y="5905500"/>
            <a:ext cx="8572500" cy="323850"/>
          </a:xfrm>
          <a:prstGeom prst="rect">
            <a:avLst/>
          </a:prstGeom>
          <a:noFill/>
          <a:ln w="0">
            <a:noFill/>
            <a:prstDash val="solid"/>
          </a:ln>
        </p:spPr>
        <p:txBody>
          <a:bodyPr anchor="t">
            <a:normAutofit/>
          </a:bodyPr>
          <a:lstStyle/>
          <a:p>
            <a:pPr>
              <a:buNone/>
              <a:defRPr sz="1425" b="1" i="0">
                <a:solidFill>
                  <a:srgbClr val="101820"/>
                </a:solidFill>
                <a:latin typeface="Helvetica Neue"/>
                <a:ea typeface="Helvetica Neue"/>
                <a:cs typeface="Helvetica Neue"/>
              </a:defRPr>
            </a:pPr>
            <a:r>
              <a:rPr sz="1425" b="1" i="0">
                <a:solidFill>
                  <a:srgbClr val="101820"/>
                </a:solidFill>
                <a:latin typeface="Helvetica Neue"/>
                <a:ea typeface="Helvetica Neue"/>
                <a:cs typeface="Helvetica Neue"/>
              </a:rPr>
              <a:t>The model proposes; the harness verifies, constrains and records.</a:t>
            </a:r>
          </a:p>
        </p:txBody>
      </p:sp>
    </p:spTree>
    <p:extLst>
      <p:ext uri="{BB962C8B-B14F-4D97-AF65-F5344CB8AC3E}">
        <p14:creationId xmlns:p14="http://schemas.microsoft.com/office/powerpoint/2010/main" val="2075767783"/>
      </p:ext>
    </p:extLst>
  </p:cSld>
  <p:clrMapOvr>
    <a:masterClrMapping/>
  </p:clrMapOvr>
  <mc:AlternateContent xmlns:mc="http://schemas.openxmlformats.org/markup-compatibility/2006" xmlns:p14="http://schemas.microsoft.com/office/powerpoint/2010/main">
    <mc:Choice Requires="p14">
      <p:transition spd="slow" p14:dur="2000" advTm="61305"/>
    </mc:Choice>
    <mc:Fallback xmlns="">
      <p:transition spd="slow" advTm="61305"/>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EE21C75-6D5C-4C21-A6D1-796B26A393A8}"/>
              </a:ext>
            </a:extLst>
          </p:cNvPr>
          <p:cNvSpPr>
            <a:spLocks noGrp="1"/>
          </p:cNvSpPr>
          <p:nvPr/>
        </p:nvSpPr>
        <p:spPr>
          <a:xfrm>
            <a:off x="400050" y="266700"/>
            <a:ext cx="4000500" cy="190500"/>
          </a:xfrm>
          <a:prstGeom prst="rect">
            <a:avLst/>
          </a:prstGeom>
          <a:noFill/>
          <a:ln w="0">
            <a:noFill/>
            <a:prstDash val="solid"/>
          </a:ln>
        </p:spPr>
        <p:txBody>
          <a:bodyPr anchor="t">
            <a:normAutofit fontScale="87222" lnSpcReduction="20000"/>
          </a:bodyPr>
          <a:lstStyle/>
          <a:p>
            <a:pPr algn="l">
              <a:buNone/>
              <a:defRPr sz="900" b="1" i="0">
                <a:solidFill>
                  <a:srgbClr val="3D8DFF"/>
                </a:solidFill>
                <a:latin typeface="Helvetica Neue"/>
                <a:ea typeface="Helvetica Neue"/>
                <a:cs typeface="Helvetica Neue"/>
              </a:defRPr>
            </a:pPr>
            <a:r>
              <a:rPr sz="900" b="1" i="0">
                <a:solidFill>
                  <a:srgbClr val="3D8DFF"/>
                </a:solidFill>
                <a:latin typeface="Helvetica Neue"/>
                <a:ea typeface="Helvetica Neue"/>
                <a:cs typeface="Helvetica Neue"/>
              </a:rPr>
              <a:t>HARNESS · DUAL SURFACES</a:t>
            </a:r>
          </a:p>
        </p:txBody>
      </p:sp>
      <p:sp>
        <p:nvSpPr>
          <p:cNvPr id="2" name="Rectangle 1">
            <a:extLst>
              <a:ext uri="{FF2B5EF4-FFF2-40B4-BE49-F238E27FC236}">
                <a16:creationId xmlns:a16="http://schemas.microsoft.com/office/drawing/2014/main" id="{ADFC096A-BD05-497A-95A0-260FD994679F}"/>
              </a:ext>
            </a:extLst>
          </p:cNvPr>
          <p:cNvSpPr>
            <a:spLocks noGrp="1"/>
          </p:cNvSpPr>
          <p:nvPr/>
        </p:nvSpPr>
        <p:spPr>
          <a:xfrm>
            <a:off x="400050" y="514350"/>
            <a:ext cx="11391900" cy="704850"/>
          </a:xfrm>
          <a:prstGeom prst="rect">
            <a:avLst/>
          </a:prstGeom>
          <a:noFill/>
          <a:ln w="0">
            <a:noFill/>
            <a:prstDash val="solid"/>
          </a:ln>
        </p:spPr>
        <p:txBody>
          <a:bodyPr anchor="t">
            <a:normAutofit/>
          </a:bodyPr>
          <a:lstStyle/>
          <a:p>
            <a:pPr algn="l">
              <a:buNone/>
              <a:defRPr sz="3000" b="1" i="0">
                <a:solidFill>
                  <a:srgbClr val="101820"/>
                </a:solidFill>
                <a:latin typeface="Helvetica Neue"/>
                <a:ea typeface="Helvetica Neue"/>
                <a:cs typeface="Helvetica Neue"/>
              </a:defRPr>
            </a:pPr>
            <a:r>
              <a:rPr sz="3000" b="1" i="0" dirty="0">
                <a:solidFill>
                  <a:srgbClr val="101820"/>
                </a:solidFill>
                <a:latin typeface="Helvetica Neue"/>
                <a:ea typeface="Helvetica Neue"/>
                <a:cs typeface="Helvetica Neue"/>
              </a:rPr>
              <a:t>Serve machines efficiently—and humans transparently</a:t>
            </a:r>
          </a:p>
        </p:txBody>
      </p:sp>
      <p:cxnSp>
        <p:nvCxnSpPr>
          <p:cNvPr id="139" name="Straight Arrow Connector 24"/>
          <p:cNvCxnSpPr/>
          <p:nvPr/>
        </p:nvCxnSpPr>
        <p:spPr>
          <a:xfrm>
            <a:off x="400050" y="6286500"/>
            <a:ext cx="11391900" cy="0"/>
          </a:xfrm>
          <a:prstGeom prst="straightConnector1">
            <a:avLst/>
          </a:prstGeom>
          <a:ln w="9525">
            <a:solidFill>
              <a:srgbClr val="C9CED3"/>
            </a:solidFill>
            <a:prstDash val="solid"/>
          </a:ln>
        </p:spPr>
      </p:cxnSp>
      <p:sp>
        <p:nvSpPr>
          <p:cNvPr id="4" name="Rectangle 3">
            <a:extLst>
              <a:ext uri="{FF2B5EF4-FFF2-40B4-BE49-F238E27FC236}">
                <a16:creationId xmlns:a16="http://schemas.microsoft.com/office/drawing/2014/main" id="{A4D09EC8-6AEC-4483-89A7-2955E62164A9}"/>
              </a:ext>
            </a:extLst>
          </p:cNvPr>
          <p:cNvSpPr>
            <a:spLocks noGrp="1"/>
          </p:cNvSpPr>
          <p:nvPr/>
        </p:nvSpPr>
        <p:spPr>
          <a:xfrm>
            <a:off x="400050" y="6391275"/>
            <a:ext cx="4000500" cy="171450"/>
          </a:xfrm>
          <a:prstGeom prst="rect">
            <a:avLst/>
          </a:prstGeom>
          <a:noFill/>
          <a:ln w="0">
            <a:noFill/>
            <a:prstDash val="solid"/>
          </a:ln>
        </p:spPr>
        <p:txBody>
          <a:bodyPr anchor="t">
            <a:normAutofit fontScale="78636" lnSpcReduction="20000"/>
          </a:bodyPr>
          <a:lstStyle/>
          <a:p>
            <a:pPr algn="l">
              <a:buNone/>
              <a:defRPr sz="825" b="1" i="0">
                <a:solidFill>
                  <a:srgbClr val="5E6973"/>
                </a:solidFill>
                <a:latin typeface="Helvetica Neue"/>
                <a:ea typeface="Helvetica Neue"/>
                <a:cs typeface="Helvetica Neue"/>
              </a:defRPr>
            </a:pPr>
            <a:r>
              <a:rPr sz="825" b="1" i="0">
                <a:solidFill>
                  <a:srgbClr val="5E6973"/>
                </a:solidFill>
                <a:latin typeface="Helvetica Neue"/>
                <a:ea typeface="Helvetica Neue"/>
                <a:cs typeface="Helvetica Neue"/>
              </a:rPr>
              <a:t>TRUSTED AGENTIC COMMERCE</a:t>
            </a:r>
          </a:p>
        </p:txBody>
      </p:sp>
      <p:sp>
        <p:nvSpPr>
          <p:cNvPr id="5" name="Rectangle 4">
            <a:extLst>
              <a:ext uri="{FF2B5EF4-FFF2-40B4-BE49-F238E27FC236}">
                <a16:creationId xmlns:a16="http://schemas.microsoft.com/office/drawing/2014/main" id="{9E953998-9E96-45BF-B212-D71309C97A51}"/>
              </a:ext>
            </a:extLst>
          </p:cNvPr>
          <p:cNvSpPr>
            <a:spLocks noGrp="1"/>
          </p:cNvSpPr>
          <p:nvPr/>
        </p:nvSpPr>
        <p:spPr>
          <a:xfrm>
            <a:off x="11239500" y="6372225"/>
            <a:ext cx="552450" cy="190500"/>
          </a:xfrm>
          <a:prstGeom prst="rect">
            <a:avLst/>
          </a:prstGeom>
          <a:noFill/>
          <a:ln w="0">
            <a:noFill/>
            <a:prstDash val="solid"/>
          </a:ln>
        </p:spPr>
        <p:txBody>
          <a:bodyPr anchor="t">
            <a:normAutofit fontScale="87222" lnSpcReduction="20000"/>
          </a:bodyPr>
          <a:lstStyle/>
          <a:p>
            <a:pPr algn="r">
              <a:buNone/>
              <a:defRPr sz="900" b="1" i="0">
                <a:solidFill>
                  <a:srgbClr val="101820"/>
                </a:solidFill>
                <a:latin typeface="Helvetica Neue"/>
                <a:ea typeface="Helvetica Neue"/>
                <a:cs typeface="Helvetica Neue"/>
              </a:defRPr>
            </a:pPr>
            <a:r>
              <a:rPr sz="900" b="1" i="0">
                <a:solidFill>
                  <a:srgbClr val="101820"/>
                </a:solidFill>
                <a:latin typeface="Helvetica Neue"/>
                <a:ea typeface="Helvetica Neue"/>
                <a:cs typeface="Helvetica Neue"/>
              </a:rPr>
              <a:t>18</a:t>
            </a:r>
          </a:p>
        </p:txBody>
      </p:sp>
      <p:sp>
        <p:nvSpPr>
          <p:cNvPr id="6" name="Rectangle 5">
            <a:extLst>
              <a:ext uri="{FF2B5EF4-FFF2-40B4-BE49-F238E27FC236}">
                <a16:creationId xmlns:a16="http://schemas.microsoft.com/office/drawing/2014/main" id="{24FF8CFF-301B-42FC-B95C-1C95D54A9C14}"/>
              </a:ext>
            </a:extLst>
          </p:cNvPr>
          <p:cNvSpPr>
            <a:spLocks noGrp="1"/>
          </p:cNvSpPr>
          <p:nvPr/>
        </p:nvSpPr>
        <p:spPr>
          <a:xfrm>
            <a:off x="400050" y="1524000"/>
            <a:ext cx="3448050" cy="3857625"/>
          </a:xfrm>
          <a:prstGeom prst="rect">
            <a:avLst/>
          </a:prstGeom>
          <a:solidFill>
            <a:srgbClr val="F1F3F4"/>
          </a:solidFill>
          <a:ln w="0">
            <a:noFill/>
            <a:prstDash val="solid"/>
          </a:ln>
        </p:spPr>
        <p:txBody>
          <a:bodyPr/>
          <a:lstStyle/>
          <a:p>
            <a:endParaRPr/>
          </a:p>
        </p:txBody>
      </p:sp>
      <p:sp>
        <p:nvSpPr>
          <p:cNvPr id="7" name="Rectangle 6">
            <a:extLst>
              <a:ext uri="{FF2B5EF4-FFF2-40B4-BE49-F238E27FC236}">
                <a16:creationId xmlns:a16="http://schemas.microsoft.com/office/drawing/2014/main" id="{DFCD2644-D059-4850-B520-774EA11E622F}"/>
              </a:ext>
            </a:extLst>
          </p:cNvPr>
          <p:cNvSpPr>
            <a:spLocks noGrp="1"/>
          </p:cNvSpPr>
          <p:nvPr/>
        </p:nvSpPr>
        <p:spPr>
          <a:xfrm>
            <a:off x="628650" y="1790700"/>
            <a:ext cx="2990850" cy="685800"/>
          </a:xfrm>
          <a:prstGeom prst="rect">
            <a:avLst/>
          </a:prstGeom>
          <a:noFill/>
          <a:ln w="0">
            <a:noFill/>
            <a:prstDash val="solid"/>
          </a:ln>
        </p:spPr>
        <p:txBody>
          <a:bodyPr anchor="t">
            <a:normAutofit/>
          </a:bodyPr>
          <a:lstStyle/>
          <a:p>
            <a:pPr algn="l">
              <a:buNone/>
              <a:defRPr sz="2175" b="1" i="0">
                <a:solidFill>
                  <a:srgbClr val="101820"/>
                </a:solidFill>
                <a:latin typeface="Helvetica Neue"/>
                <a:ea typeface="Helvetica Neue"/>
                <a:cs typeface="Helvetica Neue"/>
              </a:defRPr>
            </a:pPr>
            <a:r>
              <a:rPr sz="2175" b="1" i="0">
                <a:solidFill>
                  <a:srgbClr val="101820"/>
                </a:solidFill>
                <a:latin typeface="Helvetica Neue"/>
                <a:ea typeface="Helvetica Neue"/>
                <a:cs typeface="Helvetica Neue"/>
              </a:rPr>
              <a:t>Agent endpoint</a:t>
            </a:r>
          </a:p>
        </p:txBody>
      </p:sp>
      <p:sp>
        <p:nvSpPr>
          <p:cNvPr id="8" name="Rectangle 7">
            <a:extLst>
              <a:ext uri="{FF2B5EF4-FFF2-40B4-BE49-F238E27FC236}">
                <a16:creationId xmlns:a16="http://schemas.microsoft.com/office/drawing/2014/main" id="{CB0B5D59-1281-47AF-98B1-97EB1DBD69EF}"/>
              </a:ext>
            </a:extLst>
          </p:cNvPr>
          <p:cNvSpPr>
            <a:spLocks noGrp="1"/>
          </p:cNvSpPr>
          <p:nvPr/>
        </p:nvSpPr>
        <p:spPr>
          <a:xfrm>
            <a:off x="628650" y="2676525"/>
            <a:ext cx="2990850" cy="1362075"/>
          </a:xfrm>
          <a:prstGeom prst="rect">
            <a:avLst/>
          </a:prstGeom>
          <a:noFill/>
          <a:ln w="0">
            <a:noFill/>
            <a:prstDash val="solid"/>
          </a:ln>
        </p:spPr>
        <p:txBody>
          <a:bodyPr anchor="t">
            <a:normAutofit/>
          </a:bodyPr>
          <a:lstStyle/>
          <a:p>
            <a:pPr algn="l">
              <a:buNone/>
              <a:defRPr sz="1425" b="0" i="0">
                <a:solidFill>
                  <a:srgbClr val="5E6973"/>
                </a:solidFill>
                <a:latin typeface="Helvetica Neue"/>
                <a:ea typeface="Helvetica Neue"/>
                <a:cs typeface="Helvetica Neue"/>
              </a:defRPr>
            </a:pPr>
            <a:r>
              <a:rPr sz="1425" b="0" i="0">
                <a:solidFill>
                  <a:srgbClr val="5E6973"/>
                </a:solidFill>
                <a:latin typeface="Helvetica Neue"/>
                <a:ea typeface="Helvetica Neue"/>
                <a:cs typeface="Helvetica Neue"/>
              </a:rPr>
              <a:t>Returns structured product and offer data with identity, freshness, claim scope and source.</a:t>
            </a:r>
          </a:p>
        </p:txBody>
      </p:sp>
      <p:cxnSp>
        <p:nvCxnSpPr>
          <p:cNvPr id="145" name="Straight Arrow Connector 30"/>
          <p:cNvCxnSpPr/>
          <p:nvPr/>
        </p:nvCxnSpPr>
        <p:spPr>
          <a:xfrm>
            <a:off x="628650" y="4248150"/>
            <a:ext cx="2990850" cy="0"/>
          </a:xfrm>
          <a:prstGeom prst="straightConnector1">
            <a:avLst/>
          </a:prstGeom>
          <a:ln w="9525">
            <a:solidFill>
              <a:srgbClr val="C9CED3"/>
            </a:solidFill>
            <a:prstDash val="solid"/>
          </a:ln>
        </p:spPr>
      </p:cxnSp>
      <p:sp>
        <p:nvSpPr>
          <p:cNvPr id="10" name="Rectangle 9">
            <a:extLst>
              <a:ext uri="{FF2B5EF4-FFF2-40B4-BE49-F238E27FC236}">
                <a16:creationId xmlns:a16="http://schemas.microsoft.com/office/drawing/2014/main" id="{6F6FA05B-B67B-4894-9041-7C64342E3A4F}"/>
              </a:ext>
            </a:extLst>
          </p:cNvPr>
          <p:cNvSpPr>
            <a:spLocks noGrp="1"/>
          </p:cNvSpPr>
          <p:nvPr/>
        </p:nvSpPr>
        <p:spPr>
          <a:xfrm>
            <a:off x="628650" y="4457700"/>
            <a:ext cx="2990850" cy="552450"/>
          </a:xfrm>
          <a:prstGeom prst="rect">
            <a:avLst/>
          </a:prstGeom>
          <a:noFill/>
          <a:ln w="0">
            <a:noFill/>
            <a:prstDash val="solid"/>
          </a:ln>
        </p:spPr>
        <p:txBody>
          <a:bodyPr anchor="t">
            <a:normAutofit/>
          </a:bodyPr>
          <a:lstStyle/>
          <a:p>
            <a:pPr algn="l">
              <a:buNone/>
              <a:defRPr sz="1275" b="1" i="0">
                <a:solidFill>
                  <a:srgbClr val="101820"/>
                </a:solidFill>
                <a:latin typeface="Helvetica Neue"/>
                <a:ea typeface="Helvetica Neue"/>
                <a:cs typeface="Helvetica Neue"/>
              </a:defRPr>
            </a:pPr>
            <a:r>
              <a:rPr sz="1275" b="1" i="0">
                <a:solidFill>
                  <a:srgbClr val="101820"/>
                </a:solidFill>
                <a:latin typeface="Helvetica Neue"/>
                <a:ea typeface="Helvetica Neue"/>
                <a:cs typeface="Helvetica Neue"/>
              </a:rPr>
              <a:t>RETRIEVE → COMPARE</a:t>
            </a:r>
          </a:p>
        </p:txBody>
      </p:sp>
      <p:sp>
        <p:nvSpPr>
          <p:cNvPr id="11" name="Rectangle 10">
            <a:extLst>
              <a:ext uri="{FF2B5EF4-FFF2-40B4-BE49-F238E27FC236}">
                <a16:creationId xmlns:a16="http://schemas.microsoft.com/office/drawing/2014/main" id="{98B141D9-6DB2-4888-8651-C7418508C1CD}"/>
              </a:ext>
            </a:extLst>
          </p:cNvPr>
          <p:cNvSpPr>
            <a:spLocks noGrp="1"/>
          </p:cNvSpPr>
          <p:nvPr/>
        </p:nvSpPr>
        <p:spPr>
          <a:xfrm>
            <a:off x="4267200" y="1524000"/>
            <a:ext cx="3448050" cy="3857625"/>
          </a:xfrm>
          <a:prstGeom prst="rect">
            <a:avLst/>
          </a:prstGeom>
          <a:solidFill>
            <a:srgbClr val="EAF5FB"/>
          </a:solidFill>
          <a:ln w="0">
            <a:noFill/>
            <a:prstDash val="solid"/>
          </a:ln>
        </p:spPr>
        <p:txBody>
          <a:bodyPr/>
          <a:lstStyle/>
          <a:p>
            <a:endParaRPr/>
          </a:p>
        </p:txBody>
      </p:sp>
      <p:sp>
        <p:nvSpPr>
          <p:cNvPr id="12" name="Rectangle 11">
            <a:extLst>
              <a:ext uri="{FF2B5EF4-FFF2-40B4-BE49-F238E27FC236}">
                <a16:creationId xmlns:a16="http://schemas.microsoft.com/office/drawing/2014/main" id="{091DEFE6-E5AD-469D-936B-7C1F0C6427A8}"/>
              </a:ext>
            </a:extLst>
          </p:cNvPr>
          <p:cNvSpPr>
            <a:spLocks noGrp="1"/>
          </p:cNvSpPr>
          <p:nvPr/>
        </p:nvSpPr>
        <p:spPr>
          <a:xfrm>
            <a:off x="4495800" y="1790700"/>
            <a:ext cx="2990850" cy="685800"/>
          </a:xfrm>
          <a:prstGeom prst="rect">
            <a:avLst/>
          </a:prstGeom>
          <a:noFill/>
          <a:ln w="0">
            <a:noFill/>
            <a:prstDash val="solid"/>
          </a:ln>
        </p:spPr>
        <p:txBody>
          <a:bodyPr anchor="t">
            <a:normAutofit/>
          </a:bodyPr>
          <a:lstStyle/>
          <a:p>
            <a:pPr algn="l">
              <a:buNone/>
              <a:defRPr sz="2175" b="1" i="0">
                <a:solidFill>
                  <a:srgbClr val="101820"/>
                </a:solidFill>
                <a:latin typeface="Helvetica Neue"/>
                <a:ea typeface="Helvetica Neue"/>
                <a:cs typeface="Helvetica Neue"/>
              </a:defRPr>
            </a:pPr>
            <a:r>
              <a:rPr sz="2175" b="1" i="0">
                <a:solidFill>
                  <a:srgbClr val="101820"/>
                </a:solidFill>
                <a:latin typeface="Helvetica Neue"/>
                <a:ea typeface="Helvetica Neue"/>
                <a:cs typeface="Helvetica Neue"/>
              </a:rPr>
              <a:t>Decision harness</a:t>
            </a:r>
          </a:p>
        </p:txBody>
      </p:sp>
      <p:sp>
        <p:nvSpPr>
          <p:cNvPr id="13" name="Rectangle 12">
            <a:extLst>
              <a:ext uri="{FF2B5EF4-FFF2-40B4-BE49-F238E27FC236}">
                <a16:creationId xmlns:a16="http://schemas.microsoft.com/office/drawing/2014/main" id="{FEB79D80-9190-47BB-B34C-FA7F243A2129}"/>
              </a:ext>
            </a:extLst>
          </p:cNvPr>
          <p:cNvSpPr>
            <a:spLocks noGrp="1"/>
          </p:cNvSpPr>
          <p:nvPr/>
        </p:nvSpPr>
        <p:spPr>
          <a:xfrm>
            <a:off x="4495800" y="2676525"/>
            <a:ext cx="2990850" cy="1362075"/>
          </a:xfrm>
          <a:prstGeom prst="rect">
            <a:avLst/>
          </a:prstGeom>
          <a:noFill/>
          <a:ln w="0">
            <a:noFill/>
            <a:prstDash val="solid"/>
          </a:ln>
        </p:spPr>
        <p:txBody>
          <a:bodyPr anchor="t">
            <a:normAutofit/>
          </a:bodyPr>
          <a:lstStyle/>
          <a:p>
            <a:pPr algn="l">
              <a:buNone/>
              <a:defRPr sz="1425" b="0" i="0">
                <a:solidFill>
                  <a:srgbClr val="5E6973"/>
                </a:solidFill>
                <a:latin typeface="Helvetica Neue"/>
                <a:ea typeface="Helvetica Neue"/>
                <a:cs typeface="Helvetica Neue"/>
              </a:defRPr>
            </a:pPr>
            <a:r>
              <a:rPr sz="1425" b="0" i="0">
                <a:solidFill>
                  <a:srgbClr val="5E6973"/>
                </a:solidFill>
                <a:latin typeface="Helvetica Neue"/>
                <a:ea typeface="Helvetica Neue"/>
                <a:cs typeface="Helvetica Neue"/>
              </a:rPr>
              <a:t>Resolves evidence, applies policy and determines whether human confirmation is required.</a:t>
            </a:r>
          </a:p>
        </p:txBody>
      </p:sp>
      <p:cxnSp>
        <p:nvCxnSpPr>
          <p:cNvPr id="150" name="Straight Arrow Connector 35"/>
          <p:cNvCxnSpPr/>
          <p:nvPr/>
        </p:nvCxnSpPr>
        <p:spPr>
          <a:xfrm>
            <a:off x="4495800" y="4248150"/>
            <a:ext cx="2990850" cy="0"/>
          </a:xfrm>
          <a:prstGeom prst="straightConnector1">
            <a:avLst/>
          </a:prstGeom>
          <a:ln w="28575">
            <a:solidFill>
              <a:srgbClr val="3D8DFF"/>
            </a:solidFill>
            <a:prstDash val="solid"/>
          </a:ln>
        </p:spPr>
      </p:cxnSp>
      <p:sp>
        <p:nvSpPr>
          <p:cNvPr id="15" name="Rectangle 14">
            <a:extLst>
              <a:ext uri="{FF2B5EF4-FFF2-40B4-BE49-F238E27FC236}">
                <a16:creationId xmlns:a16="http://schemas.microsoft.com/office/drawing/2014/main" id="{E65C61A6-FBC4-41CE-8FB2-6483CC70E4AB}"/>
              </a:ext>
            </a:extLst>
          </p:cNvPr>
          <p:cNvSpPr>
            <a:spLocks noGrp="1"/>
          </p:cNvSpPr>
          <p:nvPr/>
        </p:nvSpPr>
        <p:spPr>
          <a:xfrm>
            <a:off x="4495800" y="4457700"/>
            <a:ext cx="2990850" cy="552450"/>
          </a:xfrm>
          <a:prstGeom prst="rect">
            <a:avLst/>
          </a:prstGeom>
          <a:noFill/>
          <a:ln w="0">
            <a:noFill/>
            <a:prstDash val="solid"/>
          </a:ln>
        </p:spPr>
        <p:txBody>
          <a:bodyPr anchor="t">
            <a:normAutofit/>
          </a:bodyPr>
          <a:lstStyle/>
          <a:p>
            <a:pPr algn="l">
              <a:buNone/>
              <a:defRPr sz="1275" b="1" i="0">
                <a:solidFill>
                  <a:srgbClr val="3D8DFF"/>
                </a:solidFill>
                <a:latin typeface="Helvetica Neue"/>
                <a:ea typeface="Helvetica Neue"/>
                <a:cs typeface="Helvetica Neue"/>
              </a:defRPr>
            </a:pPr>
            <a:r>
              <a:rPr sz="1275" b="1" i="0">
                <a:solidFill>
                  <a:srgbClr val="3D8DFF"/>
                </a:solidFill>
                <a:latin typeface="Helvetica Neue"/>
                <a:ea typeface="Helvetica Neue"/>
                <a:cs typeface="Helvetica Neue"/>
              </a:rPr>
              <a:t>VERIFY → CONSTRAIN</a:t>
            </a:r>
          </a:p>
        </p:txBody>
      </p:sp>
      <p:sp>
        <p:nvSpPr>
          <p:cNvPr id="16" name="Rectangle 15">
            <a:extLst>
              <a:ext uri="{FF2B5EF4-FFF2-40B4-BE49-F238E27FC236}">
                <a16:creationId xmlns:a16="http://schemas.microsoft.com/office/drawing/2014/main" id="{894B843E-D0EB-4A23-B604-32C1D3C5D1A9}"/>
              </a:ext>
            </a:extLst>
          </p:cNvPr>
          <p:cNvSpPr>
            <a:spLocks noGrp="1"/>
          </p:cNvSpPr>
          <p:nvPr/>
        </p:nvSpPr>
        <p:spPr>
          <a:xfrm>
            <a:off x="8134350" y="1524000"/>
            <a:ext cx="3448050" cy="3857625"/>
          </a:xfrm>
          <a:prstGeom prst="rect">
            <a:avLst/>
          </a:prstGeom>
          <a:solidFill>
            <a:srgbClr val="F1F3F4"/>
          </a:solidFill>
          <a:ln w="0">
            <a:noFill/>
            <a:prstDash val="solid"/>
          </a:ln>
        </p:spPr>
        <p:txBody>
          <a:bodyPr/>
          <a:lstStyle/>
          <a:p>
            <a:endParaRPr/>
          </a:p>
        </p:txBody>
      </p:sp>
      <p:sp>
        <p:nvSpPr>
          <p:cNvPr id="17" name="Rectangle 16">
            <a:extLst>
              <a:ext uri="{FF2B5EF4-FFF2-40B4-BE49-F238E27FC236}">
                <a16:creationId xmlns:a16="http://schemas.microsoft.com/office/drawing/2014/main" id="{993CB0BD-0831-4CEF-AE87-42BA57246E52}"/>
              </a:ext>
            </a:extLst>
          </p:cNvPr>
          <p:cNvSpPr>
            <a:spLocks noGrp="1"/>
          </p:cNvSpPr>
          <p:nvPr/>
        </p:nvSpPr>
        <p:spPr>
          <a:xfrm>
            <a:off x="8362950" y="1790700"/>
            <a:ext cx="2990850" cy="685800"/>
          </a:xfrm>
          <a:prstGeom prst="rect">
            <a:avLst/>
          </a:prstGeom>
          <a:noFill/>
          <a:ln w="0">
            <a:noFill/>
            <a:prstDash val="solid"/>
          </a:ln>
        </p:spPr>
        <p:txBody>
          <a:bodyPr anchor="t">
            <a:normAutofit/>
          </a:bodyPr>
          <a:lstStyle/>
          <a:p>
            <a:pPr algn="l">
              <a:buNone/>
              <a:defRPr sz="2175" b="1" i="0">
                <a:solidFill>
                  <a:srgbClr val="101820"/>
                </a:solidFill>
                <a:latin typeface="Helvetica Neue"/>
                <a:ea typeface="Helvetica Neue"/>
                <a:cs typeface="Helvetica Neue"/>
              </a:defRPr>
            </a:pPr>
            <a:r>
              <a:rPr sz="2175" b="1" i="0">
                <a:solidFill>
                  <a:srgbClr val="101820"/>
                </a:solidFill>
                <a:latin typeface="Helvetica Neue"/>
                <a:ea typeface="Helvetica Neue"/>
                <a:cs typeface="Helvetica Neue"/>
              </a:rPr>
              <a:t>Human surface</a:t>
            </a:r>
          </a:p>
        </p:txBody>
      </p:sp>
      <p:sp>
        <p:nvSpPr>
          <p:cNvPr id="18" name="Rectangle 17">
            <a:extLst>
              <a:ext uri="{FF2B5EF4-FFF2-40B4-BE49-F238E27FC236}">
                <a16:creationId xmlns:a16="http://schemas.microsoft.com/office/drawing/2014/main" id="{7D0E3D38-3001-42E9-A0E7-FDE30E26273E}"/>
              </a:ext>
            </a:extLst>
          </p:cNvPr>
          <p:cNvSpPr>
            <a:spLocks noGrp="1"/>
          </p:cNvSpPr>
          <p:nvPr/>
        </p:nvSpPr>
        <p:spPr>
          <a:xfrm>
            <a:off x="8362950" y="2676525"/>
            <a:ext cx="2990850" cy="1362075"/>
          </a:xfrm>
          <a:prstGeom prst="rect">
            <a:avLst/>
          </a:prstGeom>
          <a:noFill/>
          <a:ln w="0">
            <a:noFill/>
            <a:prstDash val="solid"/>
          </a:ln>
        </p:spPr>
        <p:txBody>
          <a:bodyPr anchor="t">
            <a:normAutofit/>
          </a:bodyPr>
          <a:lstStyle/>
          <a:p>
            <a:pPr algn="l">
              <a:buNone/>
              <a:defRPr sz="1425" b="0" i="0">
                <a:solidFill>
                  <a:srgbClr val="5E6973"/>
                </a:solidFill>
                <a:latin typeface="Helvetica Neue"/>
                <a:ea typeface="Helvetica Neue"/>
                <a:cs typeface="Helvetica Neue"/>
              </a:defRPr>
            </a:pPr>
            <a:r>
              <a:rPr sz="1425" b="0" i="0">
                <a:solidFill>
                  <a:srgbClr val="5E6973"/>
                </a:solidFill>
                <a:latin typeface="Helvetica Neue"/>
                <a:ea typeface="Helvetica Neue"/>
                <a:cs typeface="Helvetica Neue"/>
              </a:rPr>
              <a:t>Shows price, merchant, proof and controls so the shopper can review, approve or recover.</a:t>
            </a:r>
          </a:p>
        </p:txBody>
      </p:sp>
      <p:cxnSp>
        <p:nvCxnSpPr>
          <p:cNvPr id="155" name="Straight Arrow Connector 40"/>
          <p:cNvCxnSpPr/>
          <p:nvPr/>
        </p:nvCxnSpPr>
        <p:spPr>
          <a:xfrm>
            <a:off x="8362950" y="4248150"/>
            <a:ext cx="2990850" cy="0"/>
          </a:xfrm>
          <a:prstGeom prst="straightConnector1">
            <a:avLst/>
          </a:prstGeom>
          <a:ln w="9525">
            <a:solidFill>
              <a:srgbClr val="C9CED3"/>
            </a:solidFill>
            <a:prstDash val="solid"/>
          </a:ln>
        </p:spPr>
      </p:cxnSp>
      <p:sp>
        <p:nvSpPr>
          <p:cNvPr id="20" name="Rectangle 19">
            <a:extLst>
              <a:ext uri="{FF2B5EF4-FFF2-40B4-BE49-F238E27FC236}">
                <a16:creationId xmlns:a16="http://schemas.microsoft.com/office/drawing/2014/main" id="{08DAC101-A7C3-4054-AF0F-37EBD54E09B8}"/>
              </a:ext>
            </a:extLst>
          </p:cNvPr>
          <p:cNvSpPr>
            <a:spLocks noGrp="1"/>
          </p:cNvSpPr>
          <p:nvPr/>
        </p:nvSpPr>
        <p:spPr>
          <a:xfrm>
            <a:off x="8362950" y="4457700"/>
            <a:ext cx="2990850" cy="552450"/>
          </a:xfrm>
          <a:prstGeom prst="rect">
            <a:avLst/>
          </a:prstGeom>
          <a:noFill/>
          <a:ln w="0">
            <a:noFill/>
            <a:prstDash val="solid"/>
          </a:ln>
        </p:spPr>
        <p:txBody>
          <a:bodyPr anchor="t">
            <a:normAutofit/>
          </a:bodyPr>
          <a:lstStyle/>
          <a:p>
            <a:pPr algn="l">
              <a:buNone/>
              <a:defRPr sz="1275" b="1" i="0">
                <a:solidFill>
                  <a:srgbClr val="101820"/>
                </a:solidFill>
                <a:latin typeface="Helvetica Neue"/>
                <a:ea typeface="Helvetica Neue"/>
                <a:cs typeface="Helvetica Neue"/>
              </a:defRPr>
            </a:pPr>
            <a:r>
              <a:rPr sz="1275" b="1" i="0">
                <a:solidFill>
                  <a:srgbClr val="101820"/>
                </a:solidFill>
                <a:latin typeface="Helvetica Neue"/>
                <a:ea typeface="Helvetica Neue"/>
                <a:cs typeface="Helvetica Neue"/>
              </a:rPr>
              <a:t>REVIEW → APPROVE</a:t>
            </a:r>
          </a:p>
        </p:txBody>
      </p:sp>
      <p:sp>
        <p:nvSpPr>
          <p:cNvPr id="21" name="Rectangle 20">
            <a:extLst>
              <a:ext uri="{FF2B5EF4-FFF2-40B4-BE49-F238E27FC236}">
                <a16:creationId xmlns:a16="http://schemas.microsoft.com/office/drawing/2014/main" id="{DBD7FFAB-8190-400D-90E9-E521542CBDC8}"/>
              </a:ext>
            </a:extLst>
          </p:cNvPr>
          <p:cNvSpPr>
            <a:spLocks noGrp="1"/>
          </p:cNvSpPr>
          <p:nvPr/>
        </p:nvSpPr>
        <p:spPr>
          <a:xfrm>
            <a:off x="400050" y="5619750"/>
            <a:ext cx="1047750" cy="247650"/>
          </a:xfrm>
          <a:prstGeom prst="rect">
            <a:avLst/>
          </a:prstGeom>
          <a:noFill/>
          <a:ln w="0">
            <a:noFill/>
            <a:prstDash val="solid"/>
          </a:ln>
        </p:spPr>
        <p:txBody>
          <a:bodyPr anchor="t">
            <a:normAutofit fontScale="65936" lnSpcReduction="20000"/>
          </a:bodyPr>
          <a:lstStyle/>
          <a:p>
            <a:pPr algn="l">
              <a:buNone/>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Why it matters</a:t>
            </a:r>
          </a:p>
        </p:txBody>
      </p:sp>
      <p:sp>
        <p:nvSpPr>
          <p:cNvPr id="22" name="Rectangle 21">
            <a:extLst>
              <a:ext uri="{FF2B5EF4-FFF2-40B4-BE49-F238E27FC236}">
                <a16:creationId xmlns:a16="http://schemas.microsoft.com/office/drawing/2014/main" id="{2801D6F4-8CA5-46B5-9F11-40AE3F4397C5}"/>
              </a:ext>
            </a:extLst>
          </p:cNvPr>
          <p:cNvSpPr>
            <a:spLocks noGrp="1"/>
          </p:cNvSpPr>
          <p:nvPr/>
        </p:nvSpPr>
        <p:spPr>
          <a:xfrm>
            <a:off x="1524000" y="5581650"/>
            <a:ext cx="10048875" cy="381000"/>
          </a:xfrm>
          <a:prstGeom prst="rect">
            <a:avLst/>
          </a:prstGeom>
          <a:noFill/>
          <a:ln w="0">
            <a:noFill/>
            <a:prstDash val="solid"/>
          </a:ln>
        </p:spPr>
        <p:txBody>
          <a:bodyPr anchor="t">
            <a:normAutofit/>
          </a:bodyPr>
          <a:lstStyle/>
          <a:p>
            <a:pPr algn="l">
              <a:buNone/>
              <a:defRPr sz="1500" b="1" i="0">
                <a:solidFill>
                  <a:srgbClr val="101820"/>
                </a:solidFill>
                <a:latin typeface="Helvetica Neue"/>
                <a:ea typeface="Helvetica Neue"/>
                <a:cs typeface="Helvetica Neue"/>
              </a:defRPr>
            </a:pPr>
            <a:r>
              <a:rPr sz="1500" b="1" i="0">
                <a:solidFill>
                  <a:srgbClr val="101820"/>
                </a:solidFill>
                <a:latin typeface="Helvetica Neue"/>
                <a:ea typeface="Helvetica Neue"/>
                <a:cs typeface="Helvetica Neue"/>
              </a:rPr>
              <a:t>The agent stays fast; the person sees the decision when consequence rises.</a:t>
            </a:r>
          </a:p>
        </p:txBody>
      </p:sp>
    </p:spTree>
    <p:extLst>
      <p:ext uri="{BB962C8B-B14F-4D97-AF65-F5344CB8AC3E}">
        <p14:creationId xmlns:p14="http://schemas.microsoft.com/office/powerpoint/2010/main" val="302718642"/>
      </p:ext>
    </p:extLst>
  </p:cSld>
  <p:clrMapOvr>
    <a:masterClrMapping/>
  </p:clrMapOvr>
  <mc:AlternateContent xmlns:mc="http://schemas.openxmlformats.org/markup-compatibility/2006" xmlns:p14="http://schemas.microsoft.com/office/powerpoint/2010/main">
    <mc:Choice Requires="p14">
      <p:transition spd="slow" p14:dur="2000" advTm="1349"/>
    </mc:Choice>
    <mc:Fallback xmlns="">
      <p:transition spd="slow" advTm="1349"/>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28241A14-BE8D-482C-B957-6C8D45C4D647}"/>
              </a:ext>
            </a:extLst>
          </p:cNvPr>
          <p:cNvSpPr>
            <a:spLocks noGrp="1"/>
          </p:cNvSpPr>
          <p:nvPr/>
        </p:nvSpPr>
        <p:spPr>
          <a:xfrm>
            <a:off x="400050" y="266700"/>
            <a:ext cx="4000500" cy="190500"/>
          </a:xfrm>
          <a:prstGeom prst="rect">
            <a:avLst/>
          </a:prstGeom>
          <a:noFill/>
          <a:ln w="0">
            <a:noFill/>
            <a:prstDash val="solid"/>
          </a:ln>
        </p:spPr>
        <p:txBody>
          <a:bodyPr anchor="t">
            <a:normAutofit fontScale="87222" lnSpcReduction="20000"/>
          </a:bodyPr>
          <a:lstStyle/>
          <a:p>
            <a:pPr algn="l">
              <a:buNone/>
              <a:defRPr sz="900" b="1" i="0">
                <a:solidFill>
                  <a:srgbClr val="3D8DFF"/>
                </a:solidFill>
                <a:latin typeface="Helvetica Neue"/>
                <a:ea typeface="Helvetica Neue"/>
                <a:cs typeface="Helvetica Neue"/>
              </a:defRPr>
            </a:pPr>
            <a:r>
              <a:rPr sz="900" b="1" i="0">
                <a:solidFill>
                  <a:srgbClr val="3D8DFF"/>
                </a:solidFill>
                <a:latin typeface="Helvetica Neue"/>
                <a:ea typeface="Helvetica Neue"/>
                <a:cs typeface="Helvetica Neue"/>
              </a:rPr>
              <a:t>GS1 Standards</a:t>
            </a:r>
          </a:p>
        </p:txBody>
      </p:sp>
      <p:sp>
        <p:nvSpPr>
          <p:cNvPr id="2" name="Rectangle 1">
            <a:extLst>
              <a:ext uri="{FF2B5EF4-FFF2-40B4-BE49-F238E27FC236}">
                <a16:creationId xmlns:a16="http://schemas.microsoft.com/office/drawing/2014/main" id="{8AE2850A-B1AC-49A0-B71D-46E7D5834F4D}"/>
              </a:ext>
            </a:extLst>
          </p:cNvPr>
          <p:cNvSpPr>
            <a:spLocks noGrp="1"/>
          </p:cNvSpPr>
          <p:nvPr/>
        </p:nvSpPr>
        <p:spPr>
          <a:xfrm>
            <a:off x="400050" y="514350"/>
            <a:ext cx="11391900" cy="704850"/>
          </a:xfrm>
          <a:prstGeom prst="rect">
            <a:avLst/>
          </a:prstGeom>
          <a:noFill/>
          <a:ln w="0">
            <a:noFill/>
            <a:prstDash val="solid"/>
          </a:ln>
        </p:spPr>
        <p:txBody>
          <a:bodyPr anchor="t">
            <a:normAutofit fontScale="97811"/>
          </a:bodyPr>
          <a:lstStyle/>
          <a:p>
            <a:pPr algn="l">
              <a:buNone/>
              <a:defRPr sz="3000" b="1" i="0">
                <a:solidFill>
                  <a:srgbClr val="101820"/>
                </a:solidFill>
                <a:latin typeface="Helvetica Neue"/>
                <a:ea typeface="Helvetica Neue"/>
                <a:cs typeface="Helvetica Neue"/>
              </a:defRPr>
            </a:pPr>
            <a:r>
              <a:rPr sz="3000" b="1" i="0">
                <a:solidFill>
                  <a:srgbClr val="101820"/>
                </a:solidFill>
                <a:latin typeface="Helvetica Neue"/>
                <a:ea typeface="Helvetica Neue"/>
                <a:cs typeface="Helvetica Neue"/>
              </a:rPr>
              <a:t>GS1 standards: Agents, Retailers, and Brands can leverage</a:t>
            </a:r>
          </a:p>
        </p:txBody>
      </p:sp>
      <p:cxnSp>
        <p:nvCxnSpPr>
          <p:cNvPr id="242" name="Straight Arrow Connector 85"/>
          <p:cNvCxnSpPr/>
          <p:nvPr/>
        </p:nvCxnSpPr>
        <p:spPr>
          <a:xfrm>
            <a:off x="400050" y="6286500"/>
            <a:ext cx="11391900" cy="0"/>
          </a:xfrm>
          <a:prstGeom prst="straightConnector1">
            <a:avLst/>
          </a:prstGeom>
          <a:ln w="9525">
            <a:solidFill>
              <a:srgbClr val="C9CED3"/>
            </a:solidFill>
            <a:prstDash val="solid"/>
          </a:ln>
        </p:spPr>
      </p:cxnSp>
      <p:sp>
        <p:nvSpPr>
          <p:cNvPr id="4" name="Rectangle 3">
            <a:extLst>
              <a:ext uri="{FF2B5EF4-FFF2-40B4-BE49-F238E27FC236}">
                <a16:creationId xmlns:a16="http://schemas.microsoft.com/office/drawing/2014/main" id="{09A88FA6-4ACE-4BFC-82E7-CA15997CA126}"/>
              </a:ext>
            </a:extLst>
          </p:cNvPr>
          <p:cNvSpPr>
            <a:spLocks noGrp="1"/>
          </p:cNvSpPr>
          <p:nvPr/>
        </p:nvSpPr>
        <p:spPr>
          <a:xfrm>
            <a:off x="400050" y="6391275"/>
            <a:ext cx="4000500" cy="171450"/>
          </a:xfrm>
          <a:prstGeom prst="rect">
            <a:avLst/>
          </a:prstGeom>
          <a:noFill/>
          <a:ln w="0">
            <a:noFill/>
            <a:prstDash val="solid"/>
          </a:ln>
        </p:spPr>
        <p:txBody>
          <a:bodyPr anchor="t">
            <a:normAutofit fontScale="78636" lnSpcReduction="20000"/>
          </a:bodyPr>
          <a:lstStyle/>
          <a:p>
            <a:pPr algn="l">
              <a:buNone/>
              <a:defRPr sz="825" b="1" i="0">
                <a:solidFill>
                  <a:srgbClr val="5E6973"/>
                </a:solidFill>
                <a:latin typeface="Helvetica Neue"/>
                <a:ea typeface="Helvetica Neue"/>
                <a:cs typeface="Helvetica Neue"/>
              </a:defRPr>
            </a:pPr>
            <a:r>
              <a:rPr sz="825" b="1" i="0">
                <a:solidFill>
                  <a:srgbClr val="5E6973"/>
                </a:solidFill>
                <a:latin typeface="Helvetica Neue"/>
                <a:ea typeface="Helvetica Neue"/>
                <a:cs typeface="Helvetica Neue"/>
              </a:rPr>
              <a:t>TRUSTED AGENTIC COMMERCE</a:t>
            </a:r>
          </a:p>
        </p:txBody>
      </p:sp>
      <p:sp>
        <p:nvSpPr>
          <p:cNvPr id="5" name="Rectangle 4">
            <a:extLst>
              <a:ext uri="{FF2B5EF4-FFF2-40B4-BE49-F238E27FC236}">
                <a16:creationId xmlns:a16="http://schemas.microsoft.com/office/drawing/2014/main" id="{78ABB7C0-07C7-458A-A08A-C547B4D6F63C}"/>
              </a:ext>
            </a:extLst>
          </p:cNvPr>
          <p:cNvSpPr>
            <a:spLocks noGrp="1"/>
          </p:cNvSpPr>
          <p:nvPr/>
        </p:nvSpPr>
        <p:spPr>
          <a:xfrm>
            <a:off x="11239500" y="6372225"/>
            <a:ext cx="552450" cy="190500"/>
          </a:xfrm>
          <a:prstGeom prst="rect">
            <a:avLst/>
          </a:prstGeom>
          <a:noFill/>
          <a:ln w="0">
            <a:noFill/>
            <a:prstDash val="solid"/>
          </a:ln>
        </p:spPr>
        <p:txBody>
          <a:bodyPr anchor="t">
            <a:normAutofit fontScale="87222" lnSpcReduction="20000"/>
          </a:bodyPr>
          <a:lstStyle/>
          <a:p>
            <a:pPr algn="r">
              <a:buNone/>
              <a:defRPr sz="900" b="1" i="0">
                <a:solidFill>
                  <a:srgbClr val="101820"/>
                </a:solidFill>
                <a:latin typeface="Helvetica Neue"/>
                <a:ea typeface="Helvetica Neue"/>
                <a:cs typeface="Helvetica Neue"/>
              </a:defRPr>
            </a:pPr>
            <a:r>
              <a:rPr sz="900" b="1" i="0">
                <a:solidFill>
                  <a:srgbClr val="101820"/>
                </a:solidFill>
                <a:latin typeface="Helvetica Neue"/>
                <a:ea typeface="Helvetica Neue"/>
                <a:cs typeface="Helvetica Neue"/>
              </a:rPr>
              <a:t>08</a:t>
            </a:r>
          </a:p>
        </p:txBody>
      </p:sp>
      <p:cxnSp>
        <p:nvCxnSpPr>
          <p:cNvPr id="245" name="Straight Arrow Connector 88"/>
          <p:cNvCxnSpPr/>
          <p:nvPr/>
        </p:nvCxnSpPr>
        <p:spPr>
          <a:xfrm>
            <a:off x="400050" y="1514475"/>
            <a:ext cx="3390900" cy="0"/>
          </a:xfrm>
          <a:prstGeom prst="straightConnector1">
            <a:avLst/>
          </a:prstGeom>
          <a:ln w="28575">
            <a:solidFill>
              <a:srgbClr val="3D8DFF"/>
            </a:solidFill>
            <a:prstDash val="solid"/>
          </a:ln>
        </p:spPr>
      </p:cxnSp>
      <p:sp>
        <p:nvSpPr>
          <p:cNvPr id="7" name="Rectangle 6">
            <a:extLst>
              <a:ext uri="{FF2B5EF4-FFF2-40B4-BE49-F238E27FC236}">
                <a16:creationId xmlns:a16="http://schemas.microsoft.com/office/drawing/2014/main" id="{11CA21C7-D740-4AE7-B81D-C2CFB9B5690A}"/>
              </a:ext>
            </a:extLst>
          </p:cNvPr>
          <p:cNvSpPr>
            <a:spLocks noGrp="1"/>
          </p:cNvSpPr>
          <p:nvPr/>
        </p:nvSpPr>
        <p:spPr>
          <a:xfrm>
            <a:off x="400050" y="1666875"/>
            <a:ext cx="419100" cy="247650"/>
          </a:xfrm>
          <a:prstGeom prst="rect">
            <a:avLst/>
          </a:prstGeom>
          <a:noFill/>
          <a:ln w="0">
            <a:noFill/>
            <a:prstDash val="solid"/>
          </a:ln>
        </p:spPr>
        <p:txBody>
          <a:bodyPr anchor="t">
            <a:normAutofit fontScale="98611" lnSpcReduction="10000"/>
          </a:bodyPr>
          <a:lstStyle/>
          <a:p>
            <a:pPr algn="l">
              <a:buNone/>
              <a:defRPr sz="1125" b="1" i="0">
                <a:solidFill>
                  <a:srgbClr val="3D8DFF"/>
                </a:solidFill>
                <a:latin typeface="Helvetica Neue"/>
                <a:ea typeface="Helvetica Neue"/>
                <a:cs typeface="Helvetica Neue"/>
              </a:defRPr>
            </a:pPr>
            <a:r>
              <a:rPr sz="1125" b="1" i="0">
                <a:solidFill>
                  <a:srgbClr val="3D8DFF"/>
                </a:solidFill>
                <a:latin typeface="Helvetica Neue"/>
                <a:ea typeface="Helvetica Neue"/>
                <a:cs typeface="Helvetica Neue"/>
              </a:rPr>
              <a:t>01</a:t>
            </a:r>
          </a:p>
        </p:txBody>
      </p:sp>
      <p:sp>
        <p:nvSpPr>
          <p:cNvPr id="8" name="Rectangle 7">
            <a:extLst>
              <a:ext uri="{FF2B5EF4-FFF2-40B4-BE49-F238E27FC236}">
                <a16:creationId xmlns:a16="http://schemas.microsoft.com/office/drawing/2014/main" id="{2897893A-FC30-46F5-A439-992A2C25B87A}"/>
              </a:ext>
            </a:extLst>
          </p:cNvPr>
          <p:cNvSpPr>
            <a:spLocks noGrp="1"/>
          </p:cNvSpPr>
          <p:nvPr/>
        </p:nvSpPr>
        <p:spPr>
          <a:xfrm>
            <a:off x="895350" y="1628775"/>
            <a:ext cx="2895600" cy="400050"/>
          </a:xfrm>
          <a:prstGeom prst="rect">
            <a:avLst/>
          </a:prstGeom>
          <a:noFill/>
          <a:ln w="0">
            <a:noFill/>
            <a:prstDash val="solid"/>
          </a:ln>
        </p:spPr>
        <p:txBody>
          <a:bodyPr anchor="t">
            <a:normAutofit/>
          </a:bodyPr>
          <a:lstStyle/>
          <a:p>
            <a:pPr algn="l">
              <a:buNone/>
              <a:defRPr sz="1725" b="1" i="0">
                <a:solidFill>
                  <a:srgbClr val="101820"/>
                </a:solidFill>
                <a:latin typeface="Helvetica Neue"/>
                <a:ea typeface="Helvetica Neue"/>
                <a:cs typeface="Helvetica Neue"/>
              </a:defRPr>
            </a:pPr>
            <a:r>
              <a:rPr sz="1725" b="1" i="0">
                <a:solidFill>
                  <a:srgbClr val="101820"/>
                </a:solidFill>
                <a:latin typeface="Helvetica Neue"/>
                <a:ea typeface="Helvetica Neue"/>
                <a:cs typeface="Helvetica Neue"/>
              </a:rPr>
              <a:t>Identify</a:t>
            </a:r>
          </a:p>
        </p:txBody>
      </p:sp>
      <p:sp>
        <p:nvSpPr>
          <p:cNvPr id="9" name="Rectangle 8">
            <a:extLst>
              <a:ext uri="{FF2B5EF4-FFF2-40B4-BE49-F238E27FC236}">
                <a16:creationId xmlns:a16="http://schemas.microsoft.com/office/drawing/2014/main" id="{DD681AF9-5BD3-4B3C-9265-A8B4A71054A4}"/>
              </a:ext>
            </a:extLst>
          </p:cNvPr>
          <p:cNvSpPr>
            <a:spLocks noGrp="1"/>
          </p:cNvSpPr>
          <p:nvPr/>
        </p:nvSpPr>
        <p:spPr>
          <a:xfrm>
            <a:off x="895350" y="2143125"/>
            <a:ext cx="2895600" cy="838200"/>
          </a:xfrm>
          <a:prstGeom prst="rect">
            <a:avLst/>
          </a:prstGeom>
          <a:noFill/>
          <a:ln w="0">
            <a:noFill/>
            <a:prstDash val="solid"/>
          </a:ln>
        </p:spPr>
        <p:txBody>
          <a:bodyPr anchor="t">
            <a:normAutofit/>
          </a:bodyPr>
          <a:lstStyle/>
          <a:p>
            <a:pPr algn="l">
              <a:buNone/>
              <a:defRPr sz="1275" b="0" i="0">
                <a:solidFill>
                  <a:srgbClr val="5E6973"/>
                </a:solidFill>
                <a:latin typeface="Helvetica Neue"/>
                <a:ea typeface="Helvetica Neue"/>
                <a:cs typeface="Helvetica Neue"/>
              </a:defRPr>
            </a:pPr>
            <a:r>
              <a:rPr sz="1275" b="0" i="0">
                <a:solidFill>
                  <a:srgbClr val="5E6973"/>
                </a:solidFill>
                <a:latin typeface="Helvetica Neue"/>
                <a:ea typeface="Helvetica Neue"/>
                <a:cs typeface="Helvetica Neue"/>
              </a:rPr>
              <a:t>GTIN, GLN and persistent product identity</a:t>
            </a:r>
          </a:p>
        </p:txBody>
      </p:sp>
      <p:cxnSp>
        <p:nvCxnSpPr>
          <p:cNvPr id="249" name="Straight Arrow Connector 92"/>
          <p:cNvCxnSpPr/>
          <p:nvPr/>
        </p:nvCxnSpPr>
        <p:spPr>
          <a:xfrm>
            <a:off x="4171950" y="1514475"/>
            <a:ext cx="3390900" cy="0"/>
          </a:xfrm>
          <a:prstGeom prst="straightConnector1">
            <a:avLst/>
          </a:prstGeom>
          <a:ln w="28575">
            <a:solidFill>
              <a:srgbClr val="3D8DFF"/>
            </a:solidFill>
            <a:prstDash val="solid"/>
          </a:ln>
        </p:spPr>
      </p:cxnSp>
      <p:sp>
        <p:nvSpPr>
          <p:cNvPr id="11" name="Rectangle 10">
            <a:extLst>
              <a:ext uri="{FF2B5EF4-FFF2-40B4-BE49-F238E27FC236}">
                <a16:creationId xmlns:a16="http://schemas.microsoft.com/office/drawing/2014/main" id="{CAC9AD75-4D23-4A00-9507-392EB507DF60}"/>
              </a:ext>
            </a:extLst>
          </p:cNvPr>
          <p:cNvSpPr>
            <a:spLocks noGrp="1"/>
          </p:cNvSpPr>
          <p:nvPr/>
        </p:nvSpPr>
        <p:spPr>
          <a:xfrm>
            <a:off x="4171950" y="1666875"/>
            <a:ext cx="419100" cy="247650"/>
          </a:xfrm>
          <a:prstGeom prst="rect">
            <a:avLst/>
          </a:prstGeom>
          <a:noFill/>
          <a:ln w="0">
            <a:noFill/>
            <a:prstDash val="solid"/>
          </a:ln>
        </p:spPr>
        <p:txBody>
          <a:bodyPr anchor="t">
            <a:normAutofit fontScale="98611" lnSpcReduction="10000"/>
          </a:bodyPr>
          <a:lstStyle/>
          <a:p>
            <a:pPr algn="l">
              <a:buNone/>
              <a:defRPr sz="1125" b="1" i="0">
                <a:solidFill>
                  <a:srgbClr val="3D8DFF"/>
                </a:solidFill>
                <a:latin typeface="Helvetica Neue"/>
                <a:ea typeface="Helvetica Neue"/>
                <a:cs typeface="Helvetica Neue"/>
              </a:defRPr>
            </a:pPr>
            <a:r>
              <a:rPr sz="1125" b="1" i="0">
                <a:solidFill>
                  <a:srgbClr val="3D8DFF"/>
                </a:solidFill>
                <a:latin typeface="Helvetica Neue"/>
                <a:ea typeface="Helvetica Neue"/>
                <a:cs typeface="Helvetica Neue"/>
              </a:rPr>
              <a:t>02</a:t>
            </a:r>
          </a:p>
        </p:txBody>
      </p:sp>
      <p:sp>
        <p:nvSpPr>
          <p:cNvPr id="12" name="Rectangle 11">
            <a:extLst>
              <a:ext uri="{FF2B5EF4-FFF2-40B4-BE49-F238E27FC236}">
                <a16:creationId xmlns:a16="http://schemas.microsoft.com/office/drawing/2014/main" id="{0D4869EB-CD10-4BB1-AA17-306532BE149B}"/>
              </a:ext>
            </a:extLst>
          </p:cNvPr>
          <p:cNvSpPr>
            <a:spLocks noGrp="1"/>
          </p:cNvSpPr>
          <p:nvPr/>
        </p:nvSpPr>
        <p:spPr>
          <a:xfrm>
            <a:off x="4667250" y="1628775"/>
            <a:ext cx="2895600" cy="400050"/>
          </a:xfrm>
          <a:prstGeom prst="rect">
            <a:avLst/>
          </a:prstGeom>
          <a:noFill/>
          <a:ln w="0">
            <a:noFill/>
            <a:prstDash val="solid"/>
          </a:ln>
        </p:spPr>
        <p:txBody>
          <a:bodyPr anchor="t">
            <a:normAutofit/>
          </a:bodyPr>
          <a:lstStyle/>
          <a:p>
            <a:pPr algn="l">
              <a:buNone/>
              <a:defRPr sz="1725" b="1" i="0">
                <a:solidFill>
                  <a:srgbClr val="101820"/>
                </a:solidFill>
                <a:latin typeface="Helvetica Neue"/>
                <a:ea typeface="Helvetica Neue"/>
                <a:cs typeface="Helvetica Neue"/>
              </a:defRPr>
            </a:pPr>
            <a:r>
              <a:rPr sz="1725" b="1" i="0">
                <a:solidFill>
                  <a:srgbClr val="101820"/>
                </a:solidFill>
                <a:latin typeface="Helvetica Neue"/>
                <a:ea typeface="Helvetica Neue"/>
                <a:cs typeface="Helvetica Neue"/>
              </a:rPr>
              <a:t>Describe</a:t>
            </a:r>
          </a:p>
        </p:txBody>
      </p:sp>
      <p:sp>
        <p:nvSpPr>
          <p:cNvPr id="13" name="Rectangle 12">
            <a:extLst>
              <a:ext uri="{FF2B5EF4-FFF2-40B4-BE49-F238E27FC236}">
                <a16:creationId xmlns:a16="http://schemas.microsoft.com/office/drawing/2014/main" id="{DC554413-2E10-4B99-B29F-9A0B7FBF92B4}"/>
              </a:ext>
            </a:extLst>
          </p:cNvPr>
          <p:cNvSpPr>
            <a:spLocks noGrp="1"/>
          </p:cNvSpPr>
          <p:nvPr/>
        </p:nvSpPr>
        <p:spPr>
          <a:xfrm>
            <a:off x="4667250" y="2143125"/>
            <a:ext cx="2895600" cy="838200"/>
          </a:xfrm>
          <a:prstGeom prst="rect">
            <a:avLst/>
          </a:prstGeom>
          <a:noFill/>
          <a:ln w="0">
            <a:noFill/>
            <a:prstDash val="solid"/>
          </a:ln>
        </p:spPr>
        <p:txBody>
          <a:bodyPr anchor="t">
            <a:normAutofit/>
          </a:bodyPr>
          <a:lstStyle/>
          <a:p>
            <a:pPr algn="l">
              <a:buNone/>
              <a:defRPr sz="1275" b="0" i="0">
                <a:solidFill>
                  <a:srgbClr val="5E6973"/>
                </a:solidFill>
                <a:latin typeface="Helvetica Neue"/>
                <a:ea typeface="Helvetica Neue"/>
                <a:cs typeface="Helvetica Neue"/>
              </a:defRPr>
            </a:pPr>
            <a:r>
              <a:rPr sz="1275" b="0" i="0">
                <a:solidFill>
                  <a:srgbClr val="5E6973"/>
                </a:solidFill>
                <a:latin typeface="Helvetica Neue"/>
                <a:ea typeface="Helvetica Neue"/>
                <a:cs typeface="Helvetica Neue"/>
              </a:rPr>
              <a:t>GS1 Web Vocabulary and structured attributes</a:t>
            </a:r>
          </a:p>
        </p:txBody>
      </p:sp>
      <p:cxnSp>
        <p:nvCxnSpPr>
          <p:cNvPr id="253" name="Straight Arrow Connector 96"/>
          <p:cNvCxnSpPr/>
          <p:nvPr/>
        </p:nvCxnSpPr>
        <p:spPr>
          <a:xfrm>
            <a:off x="7943850" y="1514475"/>
            <a:ext cx="3390900" cy="0"/>
          </a:xfrm>
          <a:prstGeom prst="straightConnector1">
            <a:avLst/>
          </a:prstGeom>
          <a:ln w="28575">
            <a:solidFill>
              <a:srgbClr val="3D8DFF"/>
            </a:solidFill>
            <a:prstDash val="solid"/>
          </a:ln>
        </p:spPr>
      </p:cxnSp>
      <p:sp>
        <p:nvSpPr>
          <p:cNvPr id="15" name="Rectangle 14">
            <a:extLst>
              <a:ext uri="{FF2B5EF4-FFF2-40B4-BE49-F238E27FC236}">
                <a16:creationId xmlns:a16="http://schemas.microsoft.com/office/drawing/2014/main" id="{12F4705E-11AA-4F27-83DE-ACFD5345388E}"/>
              </a:ext>
            </a:extLst>
          </p:cNvPr>
          <p:cNvSpPr>
            <a:spLocks noGrp="1"/>
          </p:cNvSpPr>
          <p:nvPr/>
        </p:nvSpPr>
        <p:spPr>
          <a:xfrm>
            <a:off x="7943850" y="1666875"/>
            <a:ext cx="419100" cy="247650"/>
          </a:xfrm>
          <a:prstGeom prst="rect">
            <a:avLst/>
          </a:prstGeom>
          <a:noFill/>
          <a:ln w="0">
            <a:noFill/>
            <a:prstDash val="solid"/>
          </a:ln>
        </p:spPr>
        <p:txBody>
          <a:bodyPr anchor="t">
            <a:normAutofit fontScale="98611" lnSpcReduction="10000"/>
          </a:bodyPr>
          <a:lstStyle/>
          <a:p>
            <a:pPr algn="l">
              <a:buNone/>
              <a:defRPr sz="1125" b="1" i="0">
                <a:solidFill>
                  <a:srgbClr val="3D8DFF"/>
                </a:solidFill>
                <a:latin typeface="Helvetica Neue"/>
                <a:ea typeface="Helvetica Neue"/>
                <a:cs typeface="Helvetica Neue"/>
              </a:defRPr>
            </a:pPr>
            <a:r>
              <a:rPr sz="1125" b="1" i="0">
                <a:solidFill>
                  <a:srgbClr val="3D8DFF"/>
                </a:solidFill>
                <a:latin typeface="Helvetica Neue"/>
                <a:ea typeface="Helvetica Neue"/>
                <a:cs typeface="Helvetica Neue"/>
              </a:rPr>
              <a:t>03</a:t>
            </a:r>
          </a:p>
        </p:txBody>
      </p:sp>
      <p:sp>
        <p:nvSpPr>
          <p:cNvPr id="16" name="Rectangle 15">
            <a:extLst>
              <a:ext uri="{FF2B5EF4-FFF2-40B4-BE49-F238E27FC236}">
                <a16:creationId xmlns:a16="http://schemas.microsoft.com/office/drawing/2014/main" id="{2DD1CDE8-3B65-4EC4-9072-52D2C7E4D326}"/>
              </a:ext>
            </a:extLst>
          </p:cNvPr>
          <p:cNvSpPr>
            <a:spLocks noGrp="1"/>
          </p:cNvSpPr>
          <p:nvPr/>
        </p:nvSpPr>
        <p:spPr>
          <a:xfrm>
            <a:off x="8439150" y="1628775"/>
            <a:ext cx="2895600" cy="400050"/>
          </a:xfrm>
          <a:prstGeom prst="rect">
            <a:avLst/>
          </a:prstGeom>
          <a:noFill/>
          <a:ln w="0">
            <a:noFill/>
            <a:prstDash val="solid"/>
          </a:ln>
        </p:spPr>
        <p:txBody>
          <a:bodyPr anchor="t">
            <a:normAutofit/>
          </a:bodyPr>
          <a:lstStyle/>
          <a:p>
            <a:pPr algn="l">
              <a:buNone/>
              <a:defRPr sz="1725" b="1" i="0">
                <a:solidFill>
                  <a:srgbClr val="101820"/>
                </a:solidFill>
                <a:latin typeface="Helvetica Neue"/>
                <a:ea typeface="Helvetica Neue"/>
                <a:cs typeface="Helvetica Neue"/>
              </a:defRPr>
            </a:pPr>
            <a:r>
              <a:rPr sz="1725" b="1" i="0">
                <a:solidFill>
                  <a:srgbClr val="101820"/>
                </a:solidFill>
                <a:latin typeface="Helvetica Neue"/>
                <a:ea typeface="Helvetica Neue"/>
                <a:cs typeface="Helvetica Neue"/>
              </a:rPr>
              <a:t>Connect</a:t>
            </a:r>
          </a:p>
        </p:txBody>
      </p:sp>
      <p:sp>
        <p:nvSpPr>
          <p:cNvPr id="17" name="Rectangle 16">
            <a:extLst>
              <a:ext uri="{FF2B5EF4-FFF2-40B4-BE49-F238E27FC236}">
                <a16:creationId xmlns:a16="http://schemas.microsoft.com/office/drawing/2014/main" id="{98A66C8B-3BDA-4D59-97B1-7C9F68E876AF}"/>
              </a:ext>
            </a:extLst>
          </p:cNvPr>
          <p:cNvSpPr>
            <a:spLocks noGrp="1"/>
          </p:cNvSpPr>
          <p:nvPr/>
        </p:nvSpPr>
        <p:spPr>
          <a:xfrm>
            <a:off x="8439150" y="2143125"/>
            <a:ext cx="2895600" cy="838200"/>
          </a:xfrm>
          <a:prstGeom prst="rect">
            <a:avLst/>
          </a:prstGeom>
          <a:noFill/>
          <a:ln w="0">
            <a:noFill/>
            <a:prstDash val="solid"/>
          </a:ln>
        </p:spPr>
        <p:txBody>
          <a:bodyPr anchor="t">
            <a:normAutofit/>
          </a:bodyPr>
          <a:lstStyle/>
          <a:p>
            <a:pPr algn="l">
              <a:buNone/>
              <a:defRPr sz="1275" b="0" i="0">
                <a:solidFill>
                  <a:srgbClr val="5E6973"/>
                </a:solidFill>
                <a:latin typeface="Helvetica Neue"/>
                <a:ea typeface="Helvetica Neue"/>
                <a:cs typeface="Helvetica Neue"/>
              </a:defRPr>
            </a:pPr>
            <a:r>
              <a:rPr sz="1275" b="0" i="0">
                <a:solidFill>
                  <a:srgbClr val="5E6973"/>
                </a:solidFill>
                <a:latin typeface="Helvetica Neue"/>
                <a:ea typeface="Helvetica Neue"/>
                <a:cs typeface="Helvetica Neue"/>
              </a:rPr>
              <a:t>Digital Link to authoritative Web resources</a:t>
            </a:r>
          </a:p>
        </p:txBody>
      </p:sp>
      <p:cxnSp>
        <p:nvCxnSpPr>
          <p:cNvPr id="257" name="Straight Arrow Connector 100"/>
          <p:cNvCxnSpPr/>
          <p:nvPr/>
        </p:nvCxnSpPr>
        <p:spPr>
          <a:xfrm>
            <a:off x="400050" y="3543300"/>
            <a:ext cx="3390900" cy="0"/>
          </a:xfrm>
          <a:prstGeom prst="straightConnector1">
            <a:avLst/>
          </a:prstGeom>
          <a:ln w="9525">
            <a:solidFill>
              <a:srgbClr val="C9CED3"/>
            </a:solidFill>
            <a:prstDash val="solid"/>
          </a:ln>
        </p:spPr>
      </p:cxnSp>
      <p:sp>
        <p:nvSpPr>
          <p:cNvPr id="19" name="Rectangle 18">
            <a:extLst>
              <a:ext uri="{FF2B5EF4-FFF2-40B4-BE49-F238E27FC236}">
                <a16:creationId xmlns:a16="http://schemas.microsoft.com/office/drawing/2014/main" id="{33857404-A66B-4E12-B3A2-CE81A5EC3AA2}"/>
              </a:ext>
            </a:extLst>
          </p:cNvPr>
          <p:cNvSpPr>
            <a:spLocks noGrp="1"/>
          </p:cNvSpPr>
          <p:nvPr/>
        </p:nvSpPr>
        <p:spPr>
          <a:xfrm>
            <a:off x="400050" y="3695700"/>
            <a:ext cx="419100" cy="247650"/>
          </a:xfrm>
          <a:prstGeom prst="rect">
            <a:avLst/>
          </a:prstGeom>
          <a:noFill/>
          <a:ln w="0">
            <a:noFill/>
            <a:prstDash val="solid"/>
          </a:ln>
        </p:spPr>
        <p:txBody>
          <a:bodyPr anchor="t">
            <a:normAutofit fontScale="98611" lnSpcReduction="10000"/>
          </a:bodyPr>
          <a:lstStyle/>
          <a:p>
            <a:pPr algn="l">
              <a:buNone/>
              <a:defRPr sz="1125" b="1" i="0">
                <a:solidFill>
                  <a:srgbClr val="3D8DFF"/>
                </a:solidFill>
                <a:latin typeface="Helvetica Neue"/>
                <a:ea typeface="Helvetica Neue"/>
                <a:cs typeface="Helvetica Neue"/>
              </a:defRPr>
            </a:pPr>
            <a:r>
              <a:rPr sz="1125" b="1" i="0">
                <a:solidFill>
                  <a:srgbClr val="3D8DFF"/>
                </a:solidFill>
                <a:latin typeface="Helvetica Neue"/>
                <a:ea typeface="Helvetica Neue"/>
                <a:cs typeface="Helvetica Neue"/>
              </a:rPr>
              <a:t>04</a:t>
            </a:r>
          </a:p>
        </p:txBody>
      </p:sp>
      <p:sp>
        <p:nvSpPr>
          <p:cNvPr id="20" name="Rectangle 19">
            <a:extLst>
              <a:ext uri="{FF2B5EF4-FFF2-40B4-BE49-F238E27FC236}">
                <a16:creationId xmlns:a16="http://schemas.microsoft.com/office/drawing/2014/main" id="{68D51B3F-C2E5-4EFC-BEC4-7282AA27824B}"/>
              </a:ext>
            </a:extLst>
          </p:cNvPr>
          <p:cNvSpPr>
            <a:spLocks noGrp="1"/>
          </p:cNvSpPr>
          <p:nvPr/>
        </p:nvSpPr>
        <p:spPr>
          <a:xfrm>
            <a:off x="895350" y="3657600"/>
            <a:ext cx="2895600" cy="400050"/>
          </a:xfrm>
          <a:prstGeom prst="rect">
            <a:avLst/>
          </a:prstGeom>
          <a:noFill/>
          <a:ln w="0">
            <a:noFill/>
            <a:prstDash val="solid"/>
          </a:ln>
        </p:spPr>
        <p:txBody>
          <a:bodyPr anchor="t">
            <a:normAutofit/>
          </a:bodyPr>
          <a:lstStyle/>
          <a:p>
            <a:pPr algn="l">
              <a:buNone/>
              <a:defRPr sz="1725" b="1" i="0">
                <a:solidFill>
                  <a:srgbClr val="101820"/>
                </a:solidFill>
                <a:latin typeface="Helvetica Neue"/>
                <a:ea typeface="Helvetica Neue"/>
                <a:cs typeface="Helvetica Neue"/>
              </a:defRPr>
            </a:pPr>
            <a:r>
              <a:rPr sz="1725" b="1" i="0">
                <a:solidFill>
                  <a:srgbClr val="101820"/>
                </a:solidFill>
                <a:latin typeface="Helvetica Neue"/>
                <a:ea typeface="Helvetica Neue"/>
                <a:cs typeface="Helvetica Neue"/>
              </a:rPr>
              <a:t>Verify</a:t>
            </a:r>
          </a:p>
        </p:txBody>
      </p:sp>
      <p:sp>
        <p:nvSpPr>
          <p:cNvPr id="21" name="Rectangle 20">
            <a:extLst>
              <a:ext uri="{FF2B5EF4-FFF2-40B4-BE49-F238E27FC236}">
                <a16:creationId xmlns:a16="http://schemas.microsoft.com/office/drawing/2014/main" id="{002E361C-6276-4B8A-A205-63E0C1097F1E}"/>
              </a:ext>
            </a:extLst>
          </p:cNvPr>
          <p:cNvSpPr>
            <a:spLocks noGrp="1"/>
          </p:cNvSpPr>
          <p:nvPr/>
        </p:nvSpPr>
        <p:spPr>
          <a:xfrm>
            <a:off x="895350" y="4171950"/>
            <a:ext cx="2895600" cy="838200"/>
          </a:xfrm>
          <a:prstGeom prst="rect">
            <a:avLst/>
          </a:prstGeom>
          <a:noFill/>
          <a:ln w="0">
            <a:noFill/>
            <a:prstDash val="solid"/>
          </a:ln>
        </p:spPr>
        <p:txBody>
          <a:bodyPr anchor="t">
            <a:normAutofit/>
          </a:bodyPr>
          <a:lstStyle/>
          <a:p>
            <a:pPr algn="l">
              <a:buNone/>
              <a:defRPr sz="1275" b="0" i="0">
                <a:solidFill>
                  <a:srgbClr val="5E6973"/>
                </a:solidFill>
                <a:latin typeface="Helvetica Neue"/>
                <a:ea typeface="Helvetica Neue"/>
                <a:cs typeface="Helvetica Neue"/>
              </a:defRPr>
            </a:pPr>
            <a:r>
              <a:rPr sz="1275" b="0" i="0">
                <a:solidFill>
                  <a:srgbClr val="5E6973"/>
                </a:solidFill>
                <a:latin typeface="Helvetica Neue"/>
                <a:ea typeface="Helvetica Neue"/>
                <a:cs typeface="Helvetica Neue"/>
              </a:rPr>
              <a:t>Registries and issued-identity checks</a:t>
            </a:r>
          </a:p>
        </p:txBody>
      </p:sp>
      <p:cxnSp>
        <p:nvCxnSpPr>
          <p:cNvPr id="261" name="Straight Arrow Connector 104"/>
          <p:cNvCxnSpPr/>
          <p:nvPr/>
        </p:nvCxnSpPr>
        <p:spPr>
          <a:xfrm>
            <a:off x="4171950" y="3543300"/>
            <a:ext cx="3390900" cy="0"/>
          </a:xfrm>
          <a:prstGeom prst="straightConnector1">
            <a:avLst/>
          </a:prstGeom>
          <a:ln w="9525">
            <a:solidFill>
              <a:srgbClr val="C9CED3"/>
            </a:solidFill>
            <a:prstDash val="solid"/>
          </a:ln>
        </p:spPr>
      </p:cxnSp>
      <p:sp>
        <p:nvSpPr>
          <p:cNvPr id="23" name="Rectangle 22">
            <a:extLst>
              <a:ext uri="{FF2B5EF4-FFF2-40B4-BE49-F238E27FC236}">
                <a16:creationId xmlns:a16="http://schemas.microsoft.com/office/drawing/2014/main" id="{D78A13B9-DA43-4229-B115-0CFCB0CF10FB}"/>
              </a:ext>
            </a:extLst>
          </p:cNvPr>
          <p:cNvSpPr>
            <a:spLocks noGrp="1"/>
          </p:cNvSpPr>
          <p:nvPr/>
        </p:nvSpPr>
        <p:spPr>
          <a:xfrm>
            <a:off x="4171950" y="3695700"/>
            <a:ext cx="419100" cy="247650"/>
          </a:xfrm>
          <a:prstGeom prst="rect">
            <a:avLst/>
          </a:prstGeom>
          <a:noFill/>
          <a:ln w="0">
            <a:noFill/>
            <a:prstDash val="solid"/>
          </a:ln>
        </p:spPr>
        <p:txBody>
          <a:bodyPr anchor="t">
            <a:normAutofit fontScale="98611" lnSpcReduction="10000"/>
          </a:bodyPr>
          <a:lstStyle/>
          <a:p>
            <a:pPr algn="l">
              <a:buNone/>
              <a:defRPr sz="1125" b="1" i="0">
                <a:solidFill>
                  <a:srgbClr val="3D8DFF"/>
                </a:solidFill>
                <a:latin typeface="Helvetica Neue"/>
                <a:ea typeface="Helvetica Neue"/>
                <a:cs typeface="Helvetica Neue"/>
              </a:defRPr>
            </a:pPr>
            <a:r>
              <a:rPr sz="1125" b="1" i="0">
                <a:solidFill>
                  <a:srgbClr val="3D8DFF"/>
                </a:solidFill>
                <a:latin typeface="Helvetica Neue"/>
                <a:ea typeface="Helvetica Neue"/>
                <a:cs typeface="Helvetica Neue"/>
              </a:rPr>
              <a:t>05</a:t>
            </a:r>
          </a:p>
        </p:txBody>
      </p:sp>
      <p:sp>
        <p:nvSpPr>
          <p:cNvPr id="24" name="Rectangle 23">
            <a:extLst>
              <a:ext uri="{FF2B5EF4-FFF2-40B4-BE49-F238E27FC236}">
                <a16:creationId xmlns:a16="http://schemas.microsoft.com/office/drawing/2014/main" id="{A4F746FA-012E-4206-B0C5-0961B684955C}"/>
              </a:ext>
            </a:extLst>
          </p:cNvPr>
          <p:cNvSpPr>
            <a:spLocks noGrp="1"/>
          </p:cNvSpPr>
          <p:nvPr/>
        </p:nvSpPr>
        <p:spPr>
          <a:xfrm>
            <a:off x="4667250" y="3657600"/>
            <a:ext cx="2895600" cy="400050"/>
          </a:xfrm>
          <a:prstGeom prst="rect">
            <a:avLst/>
          </a:prstGeom>
          <a:noFill/>
          <a:ln w="0">
            <a:noFill/>
            <a:prstDash val="solid"/>
          </a:ln>
        </p:spPr>
        <p:txBody>
          <a:bodyPr anchor="t">
            <a:normAutofit/>
          </a:bodyPr>
          <a:lstStyle/>
          <a:p>
            <a:pPr algn="l">
              <a:buNone/>
              <a:defRPr sz="1725" b="1" i="0">
                <a:solidFill>
                  <a:srgbClr val="101820"/>
                </a:solidFill>
                <a:latin typeface="Helvetica Neue"/>
                <a:ea typeface="Helvetica Neue"/>
                <a:cs typeface="Helvetica Neue"/>
              </a:defRPr>
            </a:pPr>
            <a:r>
              <a:rPr sz="1725" b="1" i="0">
                <a:solidFill>
                  <a:srgbClr val="101820"/>
                </a:solidFill>
                <a:latin typeface="Helvetica Neue"/>
                <a:ea typeface="Helvetica Neue"/>
                <a:cs typeface="Helvetica Neue"/>
              </a:rPr>
              <a:t>Community</a:t>
            </a:r>
          </a:p>
        </p:txBody>
      </p:sp>
      <p:sp>
        <p:nvSpPr>
          <p:cNvPr id="25" name="Rectangle 24">
            <a:extLst>
              <a:ext uri="{FF2B5EF4-FFF2-40B4-BE49-F238E27FC236}">
                <a16:creationId xmlns:a16="http://schemas.microsoft.com/office/drawing/2014/main" id="{A9944D16-535C-4E66-A9D1-3EA7D1BF365A}"/>
              </a:ext>
            </a:extLst>
          </p:cNvPr>
          <p:cNvSpPr>
            <a:spLocks noGrp="1"/>
          </p:cNvSpPr>
          <p:nvPr/>
        </p:nvSpPr>
        <p:spPr>
          <a:xfrm>
            <a:off x="4667250" y="4171950"/>
            <a:ext cx="2895600" cy="838200"/>
          </a:xfrm>
          <a:prstGeom prst="rect">
            <a:avLst/>
          </a:prstGeom>
          <a:noFill/>
          <a:ln w="0">
            <a:noFill/>
            <a:prstDash val="solid"/>
          </a:ln>
        </p:spPr>
        <p:txBody>
          <a:bodyPr anchor="t">
            <a:normAutofit/>
          </a:bodyPr>
          <a:lstStyle/>
          <a:p>
            <a:pPr algn="l">
              <a:buNone/>
              <a:defRPr sz="1275" b="0" i="0">
                <a:solidFill>
                  <a:srgbClr val="5E6973"/>
                </a:solidFill>
                <a:latin typeface="Helvetica Neue"/>
                <a:ea typeface="Helvetica Neue"/>
                <a:cs typeface="Helvetica Neue"/>
              </a:defRPr>
            </a:pPr>
            <a:r>
              <a:rPr sz="1275" b="0" i="0">
                <a:solidFill>
                  <a:srgbClr val="5E6973"/>
                </a:solidFill>
                <a:latin typeface="Helvetica Neue"/>
                <a:ea typeface="Helvetica Neue"/>
                <a:cs typeface="Helvetica Neue"/>
              </a:rPr>
              <a:t>Retailers, brands, technology and policy</a:t>
            </a:r>
          </a:p>
        </p:txBody>
      </p:sp>
      <p:cxnSp>
        <p:nvCxnSpPr>
          <p:cNvPr id="265" name="Straight Arrow Connector 108"/>
          <p:cNvCxnSpPr/>
          <p:nvPr/>
        </p:nvCxnSpPr>
        <p:spPr>
          <a:xfrm>
            <a:off x="7943850" y="3543300"/>
            <a:ext cx="3390900" cy="0"/>
          </a:xfrm>
          <a:prstGeom prst="straightConnector1">
            <a:avLst/>
          </a:prstGeom>
          <a:ln w="9525">
            <a:solidFill>
              <a:srgbClr val="C9CED3"/>
            </a:solidFill>
            <a:prstDash val="solid"/>
          </a:ln>
        </p:spPr>
      </p:cxnSp>
      <p:sp>
        <p:nvSpPr>
          <p:cNvPr id="27" name="Rectangle 26">
            <a:extLst>
              <a:ext uri="{FF2B5EF4-FFF2-40B4-BE49-F238E27FC236}">
                <a16:creationId xmlns:a16="http://schemas.microsoft.com/office/drawing/2014/main" id="{741262A3-6360-4BA7-9E45-D60E464E2566}"/>
              </a:ext>
            </a:extLst>
          </p:cNvPr>
          <p:cNvSpPr>
            <a:spLocks noGrp="1"/>
          </p:cNvSpPr>
          <p:nvPr/>
        </p:nvSpPr>
        <p:spPr>
          <a:xfrm>
            <a:off x="7943850" y="3695700"/>
            <a:ext cx="419100" cy="247650"/>
          </a:xfrm>
          <a:prstGeom prst="rect">
            <a:avLst/>
          </a:prstGeom>
          <a:noFill/>
          <a:ln w="0">
            <a:noFill/>
            <a:prstDash val="solid"/>
          </a:ln>
        </p:spPr>
        <p:txBody>
          <a:bodyPr anchor="t">
            <a:normAutofit fontScale="98611" lnSpcReduction="10000"/>
          </a:bodyPr>
          <a:lstStyle/>
          <a:p>
            <a:pPr algn="l">
              <a:buNone/>
              <a:defRPr sz="1125" b="1" i="0">
                <a:solidFill>
                  <a:srgbClr val="3D8DFF"/>
                </a:solidFill>
                <a:latin typeface="Helvetica Neue"/>
                <a:ea typeface="Helvetica Neue"/>
                <a:cs typeface="Helvetica Neue"/>
              </a:defRPr>
            </a:pPr>
            <a:r>
              <a:rPr sz="1125" b="1" i="0">
                <a:solidFill>
                  <a:srgbClr val="3D8DFF"/>
                </a:solidFill>
                <a:latin typeface="Helvetica Neue"/>
                <a:ea typeface="Helvetica Neue"/>
                <a:cs typeface="Helvetica Neue"/>
              </a:rPr>
              <a:t>06</a:t>
            </a:r>
          </a:p>
        </p:txBody>
      </p:sp>
      <p:sp>
        <p:nvSpPr>
          <p:cNvPr id="28" name="Rectangle 27">
            <a:extLst>
              <a:ext uri="{FF2B5EF4-FFF2-40B4-BE49-F238E27FC236}">
                <a16:creationId xmlns:a16="http://schemas.microsoft.com/office/drawing/2014/main" id="{AF2570C3-5547-4C5E-A071-00D0376ECF4C}"/>
              </a:ext>
            </a:extLst>
          </p:cNvPr>
          <p:cNvSpPr>
            <a:spLocks noGrp="1"/>
          </p:cNvSpPr>
          <p:nvPr/>
        </p:nvSpPr>
        <p:spPr>
          <a:xfrm>
            <a:off x="8439150" y="3657600"/>
            <a:ext cx="2895600" cy="400050"/>
          </a:xfrm>
          <a:prstGeom prst="rect">
            <a:avLst/>
          </a:prstGeom>
          <a:noFill/>
          <a:ln w="0">
            <a:noFill/>
            <a:prstDash val="solid"/>
          </a:ln>
        </p:spPr>
        <p:txBody>
          <a:bodyPr anchor="t">
            <a:normAutofit/>
          </a:bodyPr>
          <a:lstStyle/>
          <a:p>
            <a:pPr algn="l">
              <a:buNone/>
              <a:defRPr sz="1725" b="1" i="0">
                <a:solidFill>
                  <a:srgbClr val="101820"/>
                </a:solidFill>
                <a:latin typeface="Helvetica Neue"/>
                <a:ea typeface="Helvetica Neue"/>
                <a:cs typeface="Helvetica Neue"/>
              </a:defRPr>
            </a:pPr>
            <a:r>
              <a:rPr sz="1725" b="1" i="0">
                <a:solidFill>
                  <a:srgbClr val="101820"/>
                </a:solidFill>
                <a:latin typeface="Helvetica Neue"/>
                <a:ea typeface="Helvetica Neue"/>
                <a:cs typeface="Helvetica Neue"/>
              </a:rPr>
              <a:t>Industry solutions</a:t>
            </a:r>
          </a:p>
        </p:txBody>
      </p:sp>
      <p:sp>
        <p:nvSpPr>
          <p:cNvPr id="29" name="Rectangle 28">
            <a:extLst>
              <a:ext uri="{FF2B5EF4-FFF2-40B4-BE49-F238E27FC236}">
                <a16:creationId xmlns:a16="http://schemas.microsoft.com/office/drawing/2014/main" id="{ABAB484B-C8B6-4DB5-A7AA-F4C37DB042E2}"/>
              </a:ext>
            </a:extLst>
          </p:cNvPr>
          <p:cNvSpPr>
            <a:spLocks noGrp="1"/>
          </p:cNvSpPr>
          <p:nvPr/>
        </p:nvSpPr>
        <p:spPr>
          <a:xfrm>
            <a:off x="8439150" y="4171950"/>
            <a:ext cx="2895600" cy="838200"/>
          </a:xfrm>
          <a:prstGeom prst="rect">
            <a:avLst/>
          </a:prstGeom>
          <a:noFill/>
          <a:ln w="0">
            <a:noFill/>
            <a:prstDash val="solid"/>
          </a:ln>
        </p:spPr>
        <p:txBody>
          <a:bodyPr anchor="t">
            <a:normAutofit/>
          </a:bodyPr>
          <a:lstStyle/>
          <a:p>
            <a:pPr algn="l">
              <a:buNone/>
              <a:defRPr sz="1275" b="0" i="0">
                <a:solidFill>
                  <a:srgbClr val="5E6973"/>
                </a:solidFill>
                <a:latin typeface="Helvetica Neue"/>
                <a:ea typeface="Helvetica Neue"/>
                <a:cs typeface="Helvetica Neue"/>
              </a:defRPr>
            </a:pPr>
            <a:r>
              <a:rPr sz="1275" b="0" i="0">
                <a:solidFill>
                  <a:srgbClr val="5E6973"/>
                </a:solidFill>
                <a:latin typeface="Helvetica Neue"/>
                <a:ea typeface="Helvetica Neue"/>
                <a:cs typeface="Helvetica Neue"/>
              </a:rPr>
              <a:t>Cross-merchant pilots with global feedback</a:t>
            </a:r>
          </a:p>
        </p:txBody>
      </p:sp>
    </p:spTree>
    <p:extLst>
      <p:ext uri="{BB962C8B-B14F-4D97-AF65-F5344CB8AC3E}">
        <p14:creationId xmlns:p14="http://schemas.microsoft.com/office/powerpoint/2010/main" val="1725193696"/>
      </p:ext>
    </p:extLst>
  </p:cSld>
  <p:clrMapOvr>
    <a:masterClrMapping/>
  </p:clrMapOvr>
  <mc:AlternateContent xmlns:mc="http://schemas.openxmlformats.org/markup-compatibility/2006" xmlns:p14="http://schemas.microsoft.com/office/powerpoint/2010/main">
    <mc:Choice Requires="p14">
      <p:transition spd="slow" p14:dur="2000" advTm="33963"/>
    </mc:Choice>
    <mc:Fallback xmlns="">
      <p:transition spd="slow" advTm="33963"/>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EE21C75-6D5C-4C21-A6D1-796B26A393A8}"/>
              </a:ext>
            </a:extLst>
          </p:cNvPr>
          <p:cNvSpPr>
            <a:spLocks noGrp="1"/>
          </p:cNvSpPr>
          <p:nvPr/>
        </p:nvSpPr>
        <p:spPr>
          <a:xfrm>
            <a:off x="400050" y="266700"/>
            <a:ext cx="4000500" cy="190500"/>
          </a:xfrm>
          <a:prstGeom prst="rect">
            <a:avLst/>
          </a:prstGeom>
          <a:noFill/>
          <a:ln w="0">
            <a:noFill/>
            <a:prstDash val="solid"/>
          </a:ln>
        </p:spPr>
        <p:txBody>
          <a:bodyPr anchor="t">
            <a:normAutofit fontScale="87222" lnSpcReduction="20000"/>
          </a:bodyPr>
          <a:lstStyle/>
          <a:p>
            <a:pPr algn="l">
              <a:buNone/>
              <a:defRPr sz="900" b="1" i="0">
                <a:solidFill>
                  <a:srgbClr val="3D8DFF"/>
                </a:solidFill>
                <a:latin typeface="Helvetica Neue"/>
                <a:ea typeface="Helvetica Neue"/>
                <a:cs typeface="Helvetica Neue"/>
              </a:defRPr>
            </a:pPr>
            <a:r>
              <a:rPr sz="900" b="1" i="0">
                <a:solidFill>
                  <a:srgbClr val="3D8DFF"/>
                </a:solidFill>
                <a:latin typeface="Helvetica Neue"/>
                <a:ea typeface="Helvetica Neue"/>
                <a:cs typeface="Helvetica Neue"/>
              </a:rPr>
              <a:t>CONCLUSION · WORKSHOP OUTPUT</a:t>
            </a:r>
          </a:p>
        </p:txBody>
      </p:sp>
      <p:sp>
        <p:nvSpPr>
          <p:cNvPr id="2" name="Rectangle 1">
            <a:extLst>
              <a:ext uri="{FF2B5EF4-FFF2-40B4-BE49-F238E27FC236}">
                <a16:creationId xmlns:a16="http://schemas.microsoft.com/office/drawing/2014/main" id="{ADFC096A-BD05-497A-95A0-260FD994679F}"/>
              </a:ext>
            </a:extLst>
          </p:cNvPr>
          <p:cNvSpPr>
            <a:spLocks noGrp="1"/>
          </p:cNvSpPr>
          <p:nvPr/>
        </p:nvSpPr>
        <p:spPr>
          <a:xfrm>
            <a:off x="400050" y="557212"/>
            <a:ext cx="11391900" cy="704850"/>
          </a:xfrm>
          <a:prstGeom prst="rect">
            <a:avLst/>
          </a:prstGeom>
          <a:noFill/>
          <a:ln w="0">
            <a:noFill/>
            <a:prstDash val="solid"/>
          </a:ln>
        </p:spPr>
        <p:txBody>
          <a:bodyPr anchor="t">
            <a:normAutofit/>
          </a:bodyPr>
          <a:lstStyle/>
          <a:p>
            <a:pPr algn="l">
              <a:buNone/>
              <a:defRPr sz="3000" b="1" i="0">
                <a:solidFill>
                  <a:srgbClr val="101820"/>
                </a:solidFill>
                <a:latin typeface="Helvetica Neue"/>
                <a:ea typeface="Helvetica Neue"/>
                <a:cs typeface="Helvetica Neue"/>
              </a:defRPr>
            </a:pPr>
            <a:r>
              <a:rPr sz="3000" b="1" i="0">
                <a:solidFill>
                  <a:srgbClr val="101820"/>
                </a:solidFill>
                <a:latin typeface="Helvetica Neue"/>
                <a:ea typeface="Helvetica Neue"/>
                <a:cs typeface="Helvetica Neue"/>
              </a:rPr>
              <a:t>Turn three propositions into a shared commerce agenda</a:t>
            </a:r>
          </a:p>
        </p:txBody>
      </p:sp>
      <p:cxnSp>
        <p:nvCxnSpPr>
          <p:cNvPr id="139" name="Straight Arrow Connector 24"/>
          <p:cNvCxnSpPr/>
          <p:nvPr/>
        </p:nvCxnSpPr>
        <p:spPr>
          <a:xfrm>
            <a:off x="400050" y="6286500"/>
            <a:ext cx="11391900" cy="0"/>
          </a:xfrm>
          <a:prstGeom prst="straightConnector1">
            <a:avLst/>
          </a:prstGeom>
          <a:ln w="9525">
            <a:solidFill>
              <a:srgbClr val="C9CED3"/>
            </a:solidFill>
            <a:prstDash val="solid"/>
          </a:ln>
        </p:spPr>
      </p:cxnSp>
      <p:sp>
        <p:nvSpPr>
          <p:cNvPr id="4" name="Rectangle 3">
            <a:extLst>
              <a:ext uri="{FF2B5EF4-FFF2-40B4-BE49-F238E27FC236}">
                <a16:creationId xmlns:a16="http://schemas.microsoft.com/office/drawing/2014/main" id="{A4D09EC8-6AEC-4483-89A7-2955E62164A9}"/>
              </a:ext>
            </a:extLst>
          </p:cNvPr>
          <p:cNvSpPr>
            <a:spLocks noGrp="1"/>
          </p:cNvSpPr>
          <p:nvPr/>
        </p:nvSpPr>
        <p:spPr>
          <a:xfrm>
            <a:off x="400050" y="6391275"/>
            <a:ext cx="4000500" cy="171450"/>
          </a:xfrm>
          <a:prstGeom prst="rect">
            <a:avLst/>
          </a:prstGeom>
          <a:noFill/>
          <a:ln w="0">
            <a:noFill/>
            <a:prstDash val="solid"/>
          </a:ln>
        </p:spPr>
        <p:txBody>
          <a:bodyPr anchor="t">
            <a:normAutofit fontScale="78636" lnSpcReduction="20000"/>
          </a:bodyPr>
          <a:lstStyle/>
          <a:p>
            <a:pPr algn="l">
              <a:buNone/>
              <a:defRPr sz="825" b="1" i="0">
                <a:solidFill>
                  <a:srgbClr val="5E6973"/>
                </a:solidFill>
                <a:latin typeface="Helvetica Neue"/>
                <a:ea typeface="Helvetica Neue"/>
                <a:cs typeface="Helvetica Neue"/>
              </a:defRPr>
            </a:pPr>
            <a:r>
              <a:rPr sz="825" b="1" i="0">
                <a:solidFill>
                  <a:srgbClr val="5E6973"/>
                </a:solidFill>
                <a:latin typeface="Helvetica Neue"/>
                <a:ea typeface="Helvetica Neue"/>
                <a:cs typeface="Helvetica Neue"/>
              </a:rPr>
              <a:t>TRUSTED AGENTIC COMMERCE</a:t>
            </a:r>
          </a:p>
        </p:txBody>
      </p:sp>
      <p:sp>
        <p:nvSpPr>
          <p:cNvPr id="5" name="Rectangle 4">
            <a:extLst>
              <a:ext uri="{FF2B5EF4-FFF2-40B4-BE49-F238E27FC236}">
                <a16:creationId xmlns:a16="http://schemas.microsoft.com/office/drawing/2014/main" id="{9E953998-9E96-45BF-B212-D71309C97A51}"/>
              </a:ext>
            </a:extLst>
          </p:cNvPr>
          <p:cNvSpPr>
            <a:spLocks noGrp="1"/>
          </p:cNvSpPr>
          <p:nvPr/>
        </p:nvSpPr>
        <p:spPr>
          <a:xfrm>
            <a:off x="11239500" y="6372225"/>
            <a:ext cx="552450" cy="190500"/>
          </a:xfrm>
          <a:prstGeom prst="rect">
            <a:avLst/>
          </a:prstGeom>
          <a:noFill/>
          <a:ln w="0">
            <a:noFill/>
            <a:prstDash val="solid"/>
          </a:ln>
        </p:spPr>
        <p:txBody>
          <a:bodyPr anchor="t">
            <a:normAutofit fontScale="87222" lnSpcReduction="20000"/>
          </a:bodyPr>
          <a:lstStyle/>
          <a:p>
            <a:pPr algn="r">
              <a:buNone/>
              <a:defRPr sz="900" b="1" i="0">
                <a:solidFill>
                  <a:srgbClr val="101820"/>
                </a:solidFill>
                <a:latin typeface="Helvetica Neue"/>
                <a:ea typeface="Helvetica Neue"/>
                <a:cs typeface="Helvetica Neue"/>
              </a:defRPr>
            </a:pPr>
            <a:r>
              <a:rPr sz="900" b="1" i="0">
                <a:solidFill>
                  <a:srgbClr val="101820"/>
                </a:solidFill>
                <a:latin typeface="Helvetica Neue"/>
                <a:ea typeface="Helvetica Neue"/>
                <a:cs typeface="Helvetica Neue"/>
              </a:rPr>
              <a:t>21</a:t>
            </a:r>
          </a:p>
        </p:txBody>
      </p:sp>
      <p:sp>
        <p:nvSpPr>
          <p:cNvPr id="6" name="Rectangle 5">
            <a:extLst>
              <a:ext uri="{FF2B5EF4-FFF2-40B4-BE49-F238E27FC236}">
                <a16:creationId xmlns:a16="http://schemas.microsoft.com/office/drawing/2014/main" id="{24FF8CFF-301B-42FC-B95C-1C95D54A9C14}"/>
              </a:ext>
            </a:extLst>
          </p:cNvPr>
          <p:cNvSpPr>
            <a:spLocks noGrp="1"/>
          </p:cNvSpPr>
          <p:nvPr/>
        </p:nvSpPr>
        <p:spPr>
          <a:xfrm>
            <a:off x="4267200" y="1514475"/>
            <a:ext cx="3448050" cy="3857625"/>
          </a:xfrm>
          <a:prstGeom prst="rect">
            <a:avLst/>
          </a:prstGeom>
          <a:solidFill>
            <a:srgbClr val="F1F3F4"/>
          </a:solidFill>
          <a:ln w="0">
            <a:noFill/>
            <a:prstDash val="solid"/>
          </a:ln>
        </p:spPr>
        <p:txBody>
          <a:bodyPr/>
          <a:lstStyle/>
          <a:p>
            <a:endParaRPr/>
          </a:p>
        </p:txBody>
      </p:sp>
      <p:sp>
        <p:nvSpPr>
          <p:cNvPr id="7" name="Rectangle 6">
            <a:extLst>
              <a:ext uri="{FF2B5EF4-FFF2-40B4-BE49-F238E27FC236}">
                <a16:creationId xmlns:a16="http://schemas.microsoft.com/office/drawing/2014/main" id="{DFCD2644-D059-4850-B520-774EA11E622F}"/>
              </a:ext>
            </a:extLst>
          </p:cNvPr>
          <p:cNvSpPr>
            <a:spLocks noGrp="1"/>
          </p:cNvSpPr>
          <p:nvPr/>
        </p:nvSpPr>
        <p:spPr>
          <a:xfrm>
            <a:off x="4495800" y="1781175"/>
            <a:ext cx="2990850" cy="685800"/>
          </a:xfrm>
          <a:prstGeom prst="rect">
            <a:avLst/>
          </a:prstGeom>
          <a:noFill/>
          <a:ln w="0">
            <a:noFill/>
            <a:prstDash val="solid"/>
          </a:ln>
        </p:spPr>
        <p:txBody>
          <a:bodyPr anchor="t">
            <a:normAutofit fontScale="92500" lnSpcReduction="10000"/>
          </a:bodyPr>
          <a:lstStyle/>
          <a:p>
            <a:pPr algn="l">
              <a:buNone/>
              <a:defRPr sz="2175" b="1" i="0">
                <a:solidFill>
                  <a:srgbClr val="101820"/>
                </a:solidFill>
                <a:latin typeface="Helvetica Neue"/>
                <a:ea typeface="Helvetica Neue"/>
                <a:cs typeface="Helvetica Neue"/>
              </a:defRPr>
            </a:pPr>
            <a:r>
              <a:rPr sz="2175" b="1" i="0" dirty="0">
                <a:solidFill>
                  <a:srgbClr val="101820"/>
                </a:solidFill>
                <a:latin typeface="Helvetica Neue"/>
                <a:ea typeface="Helvetica Neue"/>
                <a:cs typeface="Helvetica Neue"/>
              </a:rPr>
              <a:t>Sequence adoption</a:t>
            </a:r>
            <a:endParaRPr lang="en-CA" sz="2175" b="1" i="0" dirty="0">
              <a:solidFill>
                <a:srgbClr val="101820"/>
              </a:solidFill>
              <a:latin typeface="Helvetica Neue"/>
              <a:ea typeface="Helvetica Neue"/>
              <a:cs typeface="Helvetica Neue"/>
            </a:endParaRPr>
          </a:p>
          <a:p>
            <a:pPr algn="l">
              <a:buNone/>
              <a:defRPr sz="2175" b="1" i="0">
                <a:solidFill>
                  <a:srgbClr val="101820"/>
                </a:solidFill>
                <a:latin typeface="Helvetica Neue"/>
                <a:ea typeface="Helvetica Neue"/>
                <a:cs typeface="Helvetica Neue"/>
              </a:defRPr>
            </a:pPr>
            <a:r>
              <a:rPr lang="en-CA" sz="2175" b="1" dirty="0">
                <a:solidFill>
                  <a:srgbClr val="101820"/>
                </a:solidFill>
                <a:latin typeface="Helvetica Neue"/>
                <a:ea typeface="Helvetica Neue"/>
                <a:cs typeface="Helvetica Neue"/>
              </a:rPr>
              <a:t>&amp; B2B Commerce</a:t>
            </a:r>
            <a:endParaRPr sz="2175" b="1" i="0" dirty="0">
              <a:solidFill>
                <a:srgbClr val="101820"/>
              </a:solidFill>
              <a:latin typeface="Helvetica Neue"/>
              <a:ea typeface="Helvetica Neue"/>
              <a:cs typeface="Helvetica Neue"/>
            </a:endParaRPr>
          </a:p>
        </p:txBody>
      </p:sp>
      <p:sp>
        <p:nvSpPr>
          <p:cNvPr id="8" name="Rectangle 7">
            <a:extLst>
              <a:ext uri="{FF2B5EF4-FFF2-40B4-BE49-F238E27FC236}">
                <a16:creationId xmlns:a16="http://schemas.microsoft.com/office/drawing/2014/main" id="{CB0B5D59-1281-47AF-98B1-97EB1DBD69EF}"/>
              </a:ext>
            </a:extLst>
          </p:cNvPr>
          <p:cNvSpPr>
            <a:spLocks noGrp="1"/>
          </p:cNvSpPr>
          <p:nvPr/>
        </p:nvSpPr>
        <p:spPr>
          <a:xfrm>
            <a:off x="4495800" y="2667000"/>
            <a:ext cx="2990850" cy="1362075"/>
          </a:xfrm>
          <a:prstGeom prst="rect">
            <a:avLst/>
          </a:prstGeom>
          <a:noFill/>
          <a:ln w="0">
            <a:noFill/>
            <a:prstDash val="solid"/>
          </a:ln>
        </p:spPr>
        <p:txBody>
          <a:bodyPr anchor="t">
            <a:normAutofit/>
          </a:bodyPr>
          <a:lstStyle/>
          <a:p>
            <a:pPr algn="l">
              <a:buNone/>
              <a:defRPr sz="1425" b="0" i="0">
                <a:solidFill>
                  <a:srgbClr val="5E6973"/>
                </a:solidFill>
                <a:latin typeface="Helvetica Neue"/>
                <a:ea typeface="Helvetica Neue"/>
                <a:cs typeface="Helvetica Neue"/>
              </a:defRPr>
            </a:pPr>
            <a:r>
              <a:rPr sz="1425" b="0" i="0">
                <a:solidFill>
                  <a:srgbClr val="5E6973"/>
                </a:solidFill>
                <a:latin typeface="Helvetica Neue"/>
                <a:ea typeface="Helvetica Neue"/>
                <a:cs typeface="Helvetica Neue"/>
              </a:rPr>
              <a:t>Start with assistants, recommendations and basket builders; expand autonomy as evidence and controls prove reliable.</a:t>
            </a:r>
          </a:p>
        </p:txBody>
      </p:sp>
      <p:cxnSp>
        <p:nvCxnSpPr>
          <p:cNvPr id="145" name="Straight Arrow Connector 30"/>
          <p:cNvCxnSpPr/>
          <p:nvPr/>
        </p:nvCxnSpPr>
        <p:spPr>
          <a:xfrm>
            <a:off x="4495800" y="4238625"/>
            <a:ext cx="2990850" cy="0"/>
          </a:xfrm>
          <a:prstGeom prst="straightConnector1">
            <a:avLst/>
          </a:prstGeom>
          <a:ln w="9525">
            <a:solidFill>
              <a:srgbClr val="C9CED3"/>
            </a:solidFill>
            <a:prstDash val="solid"/>
          </a:ln>
        </p:spPr>
      </p:cxnSp>
      <p:sp>
        <p:nvSpPr>
          <p:cNvPr id="10" name="Rectangle 9">
            <a:extLst>
              <a:ext uri="{FF2B5EF4-FFF2-40B4-BE49-F238E27FC236}">
                <a16:creationId xmlns:a16="http://schemas.microsoft.com/office/drawing/2014/main" id="{6F6FA05B-B67B-4894-9041-7C64342E3A4F}"/>
              </a:ext>
            </a:extLst>
          </p:cNvPr>
          <p:cNvSpPr>
            <a:spLocks noGrp="1"/>
          </p:cNvSpPr>
          <p:nvPr/>
        </p:nvSpPr>
        <p:spPr>
          <a:xfrm>
            <a:off x="4495800" y="4448175"/>
            <a:ext cx="2990850" cy="552450"/>
          </a:xfrm>
          <a:prstGeom prst="rect">
            <a:avLst/>
          </a:prstGeom>
          <a:noFill/>
          <a:ln w="0">
            <a:noFill/>
            <a:prstDash val="solid"/>
          </a:ln>
        </p:spPr>
        <p:txBody>
          <a:bodyPr anchor="t">
            <a:normAutofit/>
          </a:bodyPr>
          <a:lstStyle/>
          <a:p>
            <a:pPr algn="l">
              <a:buNone/>
              <a:defRPr sz="1275" b="1" i="0">
                <a:solidFill>
                  <a:srgbClr val="101820"/>
                </a:solidFill>
                <a:latin typeface="Helvetica Neue"/>
                <a:ea typeface="Helvetica Neue"/>
                <a:cs typeface="Helvetica Neue"/>
              </a:defRPr>
            </a:pPr>
            <a:r>
              <a:rPr sz="1275" b="1" i="0">
                <a:solidFill>
                  <a:srgbClr val="101820"/>
                </a:solidFill>
                <a:latin typeface="Helvetica Neue"/>
                <a:ea typeface="Helvetica Neue"/>
                <a:cs typeface="Helvetica Neue"/>
              </a:rPr>
              <a:t>PILOT HIGH-VALUE JOURNEYS</a:t>
            </a:r>
          </a:p>
        </p:txBody>
      </p:sp>
      <p:sp>
        <p:nvSpPr>
          <p:cNvPr id="11" name="Rectangle 10">
            <a:extLst>
              <a:ext uri="{FF2B5EF4-FFF2-40B4-BE49-F238E27FC236}">
                <a16:creationId xmlns:a16="http://schemas.microsoft.com/office/drawing/2014/main" id="{98B141D9-6DB2-4888-8651-C7418508C1CD}"/>
              </a:ext>
            </a:extLst>
          </p:cNvPr>
          <p:cNvSpPr>
            <a:spLocks noGrp="1"/>
          </p:cNvSpPr>
          <p:nvPr/>
        </p:nvSpPr>
        <p:spPr>
          <a:xfrm>
            <a:off x="400050" y="1524000"/>
            <a:ext cx="3448050" cy="3857625"/>
          </a:xfrm>
          <a:prstGeom prst="rect">
            <a:avLst/>
          </a:prstGeom>
          <a:solidFill>
            <a:srgbClr val="EAF5FB"/>
          </a:solidFill>
          <a:ln w="0">
            <a:noFill/>
            <a:prstDash val="solid"/>
          </a:ln>
        </p:spPr>
        <p:txBody>
          <a:bodyPr/>
          <a:lstStyle/>
          <a:p>
            <a:endParaRPr/>
          </a:p>
        </p:txBody>
      </p:sp>
      <p:sp>
        <p:nvSpPr>
          <p:cNvPr id="12" name="Rectangle 11">
            <a:extLst>
              <a:ext uri="{FF2B5EF4-FFF2-40B4-BE49-F238E27FC236}">
                <a16:creationId xmlns:a16="http://schemas.microsoft.com/office/drawing/2014/main" id="{091DEFE6-E5AD-469D-936B-7C1F0C6427A8}"/>
              </a:ext>
            </a:extLst>
          </p:cNvPr>
          <p:cNvSpPr>
            <a:spLocks noGrp="1"/>
          </p:cNvSpPr>
          <p:nvPr/>
        </p:nvSpPr>
        <p:spPr>
          <a:xfrm>
            <a:off x="628650" y="1790700"/>
            <a:ext cx="2990850" cy="685800"/>
          </a:xfrm>
          <a:prstGeom prst="rect">
            <a:avLst/>
          </a:prstGeom>
          <a:noFill/>
          <a:ln w="0">
            <a:noFill/>
            <a:prstDash val="solid"/>
          </a:ln>
        </p:spPr>
        <p:txBody>
          <a:bodyPr anchor="t">
            <a:normAutofit fontScale="97155" lnSpcReduction="10000"/>
          </a:bodyPr>
          <a:lstStyle/>
          <a:p>
            <a:pPr algn="l">
              <a:buNone/>
              <a:defRPr sz="2175" b="1" i="0">
                <a:solidFill>
                  <a:srgbClr val="101820"/>
                </a:solidFill>
                <a:latin typeface="Helvetica Neue"/>
                <a:ea typeface="Helvetica Neue"/>
                <a:cs typeface="Helvetica Neue"/>
              </a:defRPr>
            </a:pPr>
            <a:r>
              <a:rPr sz="2175" b="1" i="0">
                <a:solidFill>
                  <a:srgbClr val="101820"/>
                </a:solidFill>
                <a:latin typeface="Helvetica Neue"/>
                <a:ea typeface="Helvetica Neue"/>
                <a:cs typeface="Helvetica Neue"/>
              </a:rPr>
              <a:t>Align AI to human behaviour</a:t>
            </a:r>
          </a:p>
        </p:txBody>
      </p:sp>
      <p:sp>
        <p:nvSpPr>
          <p:cNvPr id="13" name="Rectangle 12">
            <a:extLst>
              <a:ext uri="{FF2B5EF4-FFF2-40B4-BE49-F238E27FC236}">
                <a16:creationId xmlns:a16="http://schemas.microsoft.com/office/drawing/2014/main" id="{FEB79D80-9190-47BB-B34C-FA7F243A2129}"/>
              </a:ext>
            </a:extLst>
          </p:cNvPr>
          <p:cNvSpPr>
            <a:spLocks noGrp="1"/>
          </p:cNvSpPr>
          <p:nvPr/>
        </p:nvSpPr>
        <p:spPr>
          <a:xfrm>
            <a:off x="628650" y="2676525"/>
            <a:ext cx="2990850" cy="1362075"/>
          </a:xfrm>
          <a:prstGeom prst="rect">
            <a:avLst/>
          </a:prstGeom>
          <a:noFill/>
          <a:ln w="0">
            <a:noFill/>
            <a:prstDash val="solid"/>
          </a:ln>
        </p:spPr>
        <p:txBody>
          <a:bodyPr anchor="t">
            <a:normAutofit/>
          </a:bodyPr>
          <a:lstStyle/>
          <a:p>
            <a:pPr algn="l">
              <a:buNone/>
              <a:defRPr sz="1425" b="0" i="0">
                <a:solidFill>
                  <a:srgbClr val="5E6973"/>
                </a:solidFill>
                <a:latin typeface="Helvetica Neue"/>
                <a:ea typeface="Helvetica Neue"/>
                <a:cs typeface="Helvetica Neue"/>
              </a:defRPr>
            </a:pPr>
            <a:r>
              <a:rPr sz="1425" b="0" i="0">
                <a:solidFill>
                  <a:srgbClr val="5E6973"/>
                </a:solidFill>
                <a:latin typeface="Helvetica Neue"/>
                <a:ea typeface="Helvetica Neue"/>
                <a:cs typeface="Helvetica Neue"/>
              </a:rPr>
              <a:t>Define graph and ontology patterns for intent, context, discovery, social influence, impulse and readiness to buy.</a:t>
            </a:r>
          </a:p>
        </p:txBody>
      </p:sp>
      <p:cxnSp>
        <p:nvCxnSpPr>
          <p:cNvPr id="150" name="Straight Arrow Connector 35"/>
          <p:cNvCxnSpPr/>
          <p:nvPr/>
        </p:nvCxnSpPr>
        <p:spPr>
          <a:xfrm>
            <a:off x="628650" y="4248150"/>
            <a:ext cx="2990850" cy="0"/>
          </a:xfrm>
          <a:prstGeom prst="straightConnector1">
            <a:avLst/>
          </a:prstGeom>
          <a:ln w="28575">
            <a:solidFill>
              <a:srgbClr val="3D8DFF"/>
            </a:solidFill>
            <a:prstDash val="solid"/>
          </a:ln>
        </p:spPr>
      </p:cxnSp>
      <p:sp>
        <p:nvSpPr>
          <p:cNvPr id="15" name="Rectangle 14">
            <a:extLst>
              <a:ext uri="{FF2B5EF4-FFF2-40B4-BE49-F238E27FC236}">
                <a16:creationId xmlns:a16="http://schemas.microsoft.com/office/drawing/2014/main" id="{E65C61A6-FBC4-41CE-8FB2-6483CC70E4AB}"/>
              </a:ext>
            </a:extLst>
          </p:cNvPr>
          <p:cNvSpPr>
            <a:spLocks noGrp="1"/>
          </p:cNvSpPr>
          <p:nvPr/>
        </p:nvSpPr>
        <p:spPr>
          <a:xfrm>
            <a:off x="628650" y="4457700"/>
            <a:ext cx="2990850" cy="552450"/>
          </a:xfrm>
          <a:prstGeom prst="rect">
            <a:avLst/>
          </a:prstGeom>
          <a:noFill/>
          <a:ln w="0">
            <a:noFill/>
            <a:prstDash val="solid"/>
          </a:ln>
        </p:spPr>
        <p:txBody>
          <a:bodyPr anchor="t">
            <a:normAutofit/>
          </a:bodyPr>
          <a:lstStyle/>
          <a:p>
            <a:pPr algn="l">
              <a:buNone/>
              <a:defRPr sz="1275" b="1" i="0">
                <a:solidFill>
                  <a:srgbClr val="3D8DFF"/>
                </a:solidFill>
                <a:latin typeface="Helvetica Neue"/>
                <a:ea typeface="Helvetica Neue"/>
                <a:cs typeface="Helvetica Neue"/>
              </a:defRPr>
            </a:pPr>
            <a:r>
              <a:rPr sz="1275" b="1" i="0">
                <a:solidFill>
                  <a:srgbClr val="3D8DFF"/>
                </a:solidFill>
                <a:latin typeface="Helvetica Neue"/>
                <a:ea typeface="Helvetica Neue"/>
                <a:cs typeface="Helvetica Neue"/>
              </a:rPr>
              <a:t>ENCODE SHOPPING INTENT</a:t>
            </a:r>
          </a:p>
        </p:txBody>
      </p:sp>
      <p:sp>
        <p:nvSpPr>
          <p:cNvPr id="16" name="Rectangle 15">
            <a:extLst>
              <a:ext uri="{FF2B5EF4-FFF2-40B4-BE49-F238E27FC236}">
                <a16:creationId xmlns:a16="http://schemas.microsoft.com/office/drawing/2014/main" id="{894B843E-D0EB-4A23-B604-32C1D3C5D1A9}"/>
              </a:ext>
            </a:extLst>
          </p:cNvPr>
          <p:cNvSpPr>
            <a:spLocks noGrp="1"/>
          </p:cNvSpPr>
          <p:nvPr/>
        </p:nvSpPr>
        <p:spPr>
          <a:xfrm>
            <a:off x="8134350" y="1524000"/>
            <a:ext cx="3448050" cy="3857625"/>
          </a:xfrm>
          <a:prstGeom prst="rect">
            <a:avLst/>
          </a:prstGeom>
          <a:solidFill>
            <a:srgbClr val="F1F3F4"/>
          </a:solidFill>
          <a:ln w="0">
            <a:noFill/>
            <a:prstDash val="solid"/>
          </a:ln>
        </p:spPr>
        <p:txBody>
          <a:bodyPr/>
          <a:lstStyle/>
          <a:p>
            <a:endParaRPr/>
          </a:p>
        </p:txBody>
      </p:sp>
      <p:sp>
        <p:nvSpPr>
          <p:cNvPr id="17" name="Rectangle 16">
            <a:extLst>
              <a:ext uri="{FF2B5EF4-FFF2-40B4-BE49-F238E27FC236}">
                <a16:creationId xmlns:a16="http://schemas.microsoft.com/office/drawing/2014/main" id="{993CB0BD-0831-4CEF-AE87-42BA57246E52}"/>
              </a:ext>
            </a:extLst>
          </p:cNvPr>
          <p:cNvSpPr>
            <a:spLocks noGrp="1"/>
          </p:cNvSpPr>
          <p:nvPr/>
        </p:nvSpPr>
        <p:spPr>
          <a:xfrm>
            <a:off x="8362950" y="1790700"/>
            <a:ext cx="2990850" cy="685800"/>
          </a:xfrm>
          <a:prstGeom prst="rect">
            <a:avLst/>
          </a:prstGeom>
          <a:noFill/>
          <a:ln w="0">
            <a:noFill/>
            <a:prstDash val="solid"/>
          </a:ln>
        </p:spPr>
        <p:txBody>
          <a:bodyPr anchor="t">
            <a:normAutofit fontScale="82155" lnSpcReduction="10000"/>
          </a:bodyPr>
          <a:lstStyle/>
          <a:p>
            <a:pPr algn="l">
              <a:buNone/>
              <a:defRPr sz="2175" b="1" i="0">
                <a:solidFill>
                  <a:srgbClr val="101820"/>
                </a:solidFill>
                <a:latin typeface="Helvetica Neue"/>
                <a:ea typeface="Helvetica Neue"/>
                <a:cs typeface="Helvetica Neue"/>
              </a:defRPr>
            </a:pPr>
            <a:r>
              <a:rPr sz="2175" b="1" i="0" dirty="0">
                <a:solidFill>
                  <a:srgbClr val="101820"/>
                </a:solidFill>
                <a:latin typeface="Helvetica Neue"/>
                <a:ea typeface="Helvetica Neue"/>
                <a:cs typeface="Helvetica Neue"/>
              </a:rPr>
              <a:t>Define the execution contract</a:t>
            </a:r>
            <a:r>
              <a:rPr lang="en-CA" sz="2175" b="1" dirty="0">
                <a:solidFill>
                  <a:srgbClr val="101820"/>
                </a:solidFill>
                <a:latin typeface="Helvetica Neue"/>
                <a:ea typeface="Helvetica Neue"/>
                <a:cs typeface="Helvetica Neue"/>
              </a:rPr>
              <a:t>, GS1 &amp; Industry </a:t>
            </a:r>
            <a:endParaRPr sz="2175" b="1" i="0" dirty="0">
              <a:solidFill>
                <a:srgbClr val="101820"/>
              </a:solidFill>
              <a:latin typeface="Helvetica Neue"/>
              <a:ea typeface="Helvetica Neue"/>
              <a:cs typeface="Helvetica Neue"/>
            </a:endParaRPr>
          </a:p>
        </p:txBody>
      </p:sp>
      <p:sp>
        <p:nvSpPr>
          <p:cNvPr id="18" name="Rectangle 17">
            <a:extLst>
              <a:ext uri="{FF2B5EF4-FFF2-40B4-BE49-F238E27FC236}">
                <a16:creationId xmlns:a16="http://schemas.microsoft.com/office/drawing/2014/main" id="{7D0E3D38-3001-42E9-A0E7-FDE30E26273E}"/>
              </a:ext>
            </a:extLst>
          </p:cNvPr>
          <p:cNvSpPr>
            <a:spLocks noGrp="1"/>
          </p:cNvSpPr>
          <p:nvPr/>
        </p:nvSpPr>
        <p:spPr>
          <a:xfrm>
            <a:off x="8362950" y="2676525"/>
            <a:ext cx="2990850" cy="1362075"/>
          </a:xfrm>
          <a:prstGeom prst="rect">
            <a:avLst/>
          </a:prstGeom>
          <a:noFill/>
          <a:ln w="0">
            <a:noFill/>
            <a:prstDash val="solid"/>
          </a:ln>
        </p:spPr>
        <p:txBody>
          <a:bodyPr anchor="t">
            <a:normAutofit/>
          </a:bodyPr>
          <a:lstStyle/>
          <a:p>
            <a:pPr algn="l">
              <a:buNone/>
              <a:defRPr sz="1425" b="0" i="0">
                <a:solidFill>
                  <a:srgbClr val="5E6973"/>
                </a:solidFill>
                <a:latin typeface="Helvetica Neue"/>
                <a:ea typeface="Helvetica Neue"/>
                <a:cs typeface="Helvetica Neue"/>
              </a:defRPr>
            </a:pPr>
            <a:r>
              <a:rPr sz="1425" b="0" i="0">
                <a:solidFill>
                  <a:srgbClr val="5E6973"/>
                </a:solidFill>
                <a:latin typeface="Helvetica Neue"/>
                <a:ea typeface="Helvetica Neue"/>
                <a:cs typeface="Helvetica Neue"/>
              </a:rPr>
              <a:t>Connect protocols, verification, human approval, AI endpoints, receipts and recovery across merchants.</a:t>
            </a:r>
          </a:p>
        </p:txBody>
      </p:sp>
      <p:cxnSp>
        <p:nvCxnSpPr>
          <p:cNvPr id="155" name="Straight Arrow Connector 40"/>
          <p:cNvCxnSpPr/>
          <p:nvPr/>
        </p:nvCxnSpPr>
        <p:spPr>
          <a:xfrm>
            <a:off x="8362950" y="4248150"/>
            <a:ext cx="2990850" cy="0"/>
          </a:xfrm>
          <a:prstGeom prst="straightConnector1">
            <a:avLst/>
          </a:prstGeom>
          <a:ln w="9525">
            <a:solidFill>
              <a:srgbClr val="C9CED3"/>
            </a:solidFill>
            <a:prstDash val="solid"/>
          </a:ln>
        </p:spPr>
      </p:cxnSp>
      <p:sp>
        <p:nvSpPr>
          <p:cNvPr id="20" name="Rectangle 19">
            <a:extLst>
              <a:ext uri="{FF2B5EF4-FFF2-40B4-BE49-F238E27FC236}">
                <a16:creationId xmlns:a16="http://schemas.microsoft.com/office/drawing/2014/main" id="{08DAC101-A7C3-4054-AF0F-37EBD54E09B8}"/>
              </a:ext>
            </a:extLst>
          </p:cNvPr>
          <p:cNvSpPr>
            <a:spLocks noGrp="1"/>
          </p:cNvSpPr>
          <p:nvPr/>
        </p:nvSpPr>
        <p:spPr>
          <a:xfrm>
            <a:off x="8362950" y="4457700"/>
            <a:ext cx="2990850" cy="552450"/>
          </a:xfrm>
          <a:prstGeom prst="rect">
            <a:avLst/>
          </a:prstGeom>
          <a:noFill/>
          <a:ln w="0">
            <a:noFill/>
            <a:prstDash val="solid"/>
          </a:ln>
        </p:spPr>
        <p:txBody>
          <a:bodyPr anchor="t">
            <a:normAutofit/>
          </a:bodyPr>
          <a:lstStyle/>
          <a:p>
            <a:pPr algn="l">
              <a:buNone/>
              <a:defRPr sz="1275" b="1" i="0">
                <a:solidFill>
                  <a:srgbClr val="101820"/>
                </a:solidFill>
                <a:latin typeface="Helvetica Neue"/>
                <a:ea typeface="Helvetica Neue"/>
                <a:cs typeface="Helvetica Neue"/>
              </a:defRPr>
            </a:pPr>
            <a:r>
              <a:rPr sz="1275" b="1" i="0">
                <a:solidFill>
                  <a:srgbClr val="101820"/>
                </a:solidFill>
                <a:latin typeface="Helvetica Neue"/>
                <a:ea typeface="Helvetica Neue"/>
                <a:cs typeface="Helvetica Neue"/>
              </a:rPr>
              <a:t>PROVE PROMPT → PURCHASE</a:t>
            </a:r>
          </a:p>
        </p:txBody>
      </p:sp>
      <p:sp>
        <p:nvSpPr>
          <p:cNvPr id="21" name="Rectangle 20">
            <a:extLst>
              <a:ext uri="{FF2B5EF4-FFF2-40B4-BE49-F238E27FC236}">
                <a16:creationId xmlns:a16="http://schemas.microsoft.com/office/drawing/2014/main" id="{DBD7FFAB-8190-400D-90E9-E521542CBDC8}"/>
              </a:ext>
            </a:extLst>
          </p:cNvPr>
          <p:cNvSpPr>
            <a:spLocks noGrp="1"/>
          </p:cNvSpPr>
          <p:nvPr/>
        </p:nvSpPr>
        <p:spPr>
          <a:xfrm>
            <a:off x="400050" y="5619750"/>
            <a:ext cx="1047750" cy="247650"/>
          </a:xfrm>
          <a:prstGeom prst="rect">
            <a:avLst/>
          </a:prstGeom>
          <a:noFill/>
          <a:ln w="0">
            <a:noFill/>
            <a:prstDash val="solid"/>
          </a:ln>
        </p:spPr>
        <p:txBody>
          <a:bodyPr anchor="t">
            <a:normAutofit fontScale="90926" lnSpcReduction="20000"/>
          </a:bodyPr>
          <a:lstStyle/>
          <a:p>
            <a:pPr algn="l">
              <a:buNone/>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Invitation</a:t>
            </a:r>
          </a:p>
        </p:txBody>
      </p:sp>
      <p:sp>
        <p:nvSpPr>
          <p:cNvPr id="22" name="Rectangle 21">
            <a:extLst>
              <a:ext uri="{FF2B5EF4-FFF2-40B4-BE49-F238E27FC236}">
                <a16:creationId xmlns:a16="http://schemas.microsoft.com/office/drawing/2014/main" id="{2801D6F4-8CA5-46B5-9F11-40AE3F4397C5}"/>
              </a:ext>
            </a:extLst>
          </p:cNvPr>
          <p:cNvSpPr>
            <a:spLocks noGrp="1"/>
          </p:cNvSpPr>
          <p:nvPr/>
        </p:nvSpPr>
        <p:spPr>
          <a:xfrm>
            <a:off x="1524000" y="5581650"/>
            <a:ext cx="10048875" cy="381000"/>
          </a:xfrm>
          <a:prstGeom prst="rect">
            <a:avLst/>
          </a:prstGeom>
          <a:noFill/>
          <a:ln w="0">
            <a:noFill/>
            <a:prstDash val="solid"/>
          </a:ln>
        </p:spPr>
        <p:txBody>
          <a:bodyPr anchor="t">
            <a:normAutofit/>
          </a:bodyPr>
          <a:lstStyle/>
          <a:p>
            <a:pPr algn="l">
              <a:buNone/>
              <a:defRPr sz="1500" b="1" i="0">
                <a:solidFill>
                  <a:srgbClr val="101820"/>
                </a:solidFill>
                <a:latin typeface="Helvetica Neue"/>
                <a:ea typeface="Helvetica Neue"/>
                <a:cs typeface="Helvetica Neue"/>
              </a:defRPr>
            </a:pPr>
            <a:r>
              <a:rPr sz="1500" b="1" i="0">
                <a:solidFill>
                  <a:srgbClr val="101820"/>
                </a:solidFill>
                <a:latin typeface="Helvetica Neue"/>
                <a:ea typeface="Helvetica Neue"/>
                <a:cs typeface="Helvetica Neue"/>
              </a:rPr>
              <a:t>GS1, W3C and major AI labs can define the minimum shared contract—and test one journey together.</a:t>
            </a:r>
          </a:p>
        </p:txBody>
      </p:sp>
    </p:spTree>
    <p:extLst>
      <p:ext uri="{BB962C8B-B14F-4D97-AF65-F5344CB8AC3E}">
        <p14:creationId xmlns:p14="http://schemas.microsoft.com/office/powerpoint/2010/main" val="302718642"/>
      </p:ext>
    </p:extLst>
  </p:cSld>
  <p:clrMapOvr>
    <a:masterClrMapping/>
  </p:clrMapOvr>
  <mc:AlternateContent xmlns:mc="http://schemas.openxmlformats.org/markup-compatibility/2006" xmlns:p14="http://schemas.microsoft.com/office/powerpoint/2010/main">
    <mc:Choice Requires="p14">
      <p:transition spd="slow" p14:dur="2000" advTm="94529"/>
    </mc:Choice>
    <mc:Fallback xmlns="">
      <p:transition spd="slow" advTm="94529"/>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210F363B-3E47-BC0D-2609-3535EE8C911D}"/>
              </a:ext>
            </a:extLst>
          </p:cNvPr>
          <p:cNvSpPr>
            <a:spLocks noGrp="1"/>
          </p:cNvSpPr>
          <p:nvPr>
            <p:ph type="subTitle" idx="1"/>
          </p:nvPr>
        </p:nvSpPr>
        <p:spPr/>
        <p:txBody>
          <a:bodyPr/>
          <a:lstStyle/>
          <a:p>
            <a:r>
              <a:t>Bob Vuppal, Director of Product</a:t>
            </a:r>
          </a:p>
          <a:p>
            <a:r>
              <a:t>GS1 Canada</a:t>
            </a:r>
          </a:p>
          <a:p>
            <a:r>
              <a:t>E: Bob.Vuppal@gs1ca.org</a:t>
            </a:r>
          </a:p>
        </p:txBody>
      </p:sp>
    </p:spTree>
    <p:extLst>
      <p:ext uri="{BB962C8B-B14F-4D97-AF65-F5344CB8AC3E}">
        <p14:creationId xmlns:p14="http://schemas.microsoft.com/office/powerpoint/2010/main" val="3116701617"/>
      </p:ext>
    </p:extLst>
  </p:cSld>
  <p:clrMapOvr>
    <a:masterClrMapping/>
  </p:clrMapOvr>
  <mc:AlternateContent xmlns:mc="http://schemas.openxmlformats.org/markup-compatibility/2006" xmlns:p14="http://schemas.microsoft.com/office/powerpoint/2010/main">
    <mc:Choice Requires="p14">
      <p:transition spd="slow" p14:dur="2000" advTm="2301"/>
    </mc:Choice>
    <mc:Fallback xmlns="">
      <p:transition spd="slow" advTm="2301"/>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2868</TotalTime>
  <Words>5227</Words>
  <Application>Microsoft Office PowerPoint</Application>
  <DocSecurity>0</DocSecurity>
  <PresentationFormat>Widescreen</PresentationFormat>
  <Paragraphs>391</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Helvetica Neue</vt:lpstr>
      <vt:lpstr>ChatGPT</vt:lpstr>
      <vt:lpstr>PowerPoint Presentation</vt:lpstr>
      <vt:lpstr>The BIG question: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Bob Vuppal</cp:lastModifiedBy>
  <cp:revision>7</cp:revision>
  <dcterms:created xsi:type="dcterms:W3CDTF">2026-08-20T01:59:04Z</dcterms:created>
  <dcterms:modified xsi:type="dcterms:W3CDTF">2026-09-04T12:10:24Z</dcterms:modified>
</cp:coreProperties>
</file>