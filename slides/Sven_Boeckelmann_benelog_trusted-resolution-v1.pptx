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918"/>
  </p:normalViewPr>
  <p:slideViewPr>
    <p:cSldViewPr snapToGrid="0" snapToObjects="1">
      <p:cViewPr varScale="1">
        <p:scale>
          <a:sx n="128" d="100"/>
          <a:sy n="128" d="100"/>
        </p:scale>
        <p:origin x="16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668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then the breakout in the afternoon. Programme title: Who Owns Product Truth on the Agentic Web.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t>
            </a:r>
            <a:r>
              <a:rPr lang="en-US" dirty="0" err="1"/>
              <a:t>benelog</a:t>
            </a:r>
            <a:r>
              <a:rPr lang="en-US" dirty="0"/>
              <a:t>. We maintain OpenEPCIS, the open core EPCIS 2.0 implementation; and the tools on for the GS1 EPCIS Sandbox</a:t>
            </a:r>
          </a:p>
          <a:p>
            <a:r>
              <a:rPr lang="en-US" dirty="0"/>
              <a:t>We provide a GS1 conformant Digital Link resolver for brands, with their GTIN registry, their links, their own domains, we can connect to their ERP and PIM. </a:t>
            </a:r>
          </a:p>
          <a:p>
            <a:r>
              <a:rPr lang="en-US" dirty="0"/>
              <a:t>We publish the DPP vocabularies at ref.openepcis.io, so an agent reads governed JSON-LD from us today. </a:t>
            </a:r>
          </a:p>
          <a:p>
            <a:r>
              <a:rPr lang="en-US" dirty="0"/>
              <a:t>Testing how agents consume all of this is where I kept hitting one gap, and that is the talk.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know before the rest makes sense. First, the number. A GTIN is the number under the barcode, on billions of packages. A GS1 Member Organisation, GS1 Germany, GS1 US, GS1 Switzerland, licenses a Company Prefix to the company, and the company assigns its GTINs under that prefix. </a:t>
            </a:r>
            <a:br>
              <a:rPr lang="en-US" dirty="0"/>
            </a:br>
            <a:r>
              <a:rPr lang="en-US" dirty="0"/>
              <a:t>So the GCP is the one thing that ties a GTIN to a company, and the Member Organisation is the one who knows. Second, the link. GS1 Digital Link is the GTIN written as a URL: https://id.gs1.org/01/ followed by the GTIN, optionally serial or lot. That URL goes into a QR code; by 2027 retail moves from the barcode to that 2D code. When you resolve the URL, a resolver answers with a linkset: a list of links about this product, product page, passport, events. The brand can print its own domain instead of id.gs1.org; the standard defines id.gs1.org as the canonical form. Hold on to two words for the rest of the talk: licence, and linkset.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weeks ago, in a video call, a team showed me a battery passport. Well built: serials, carbon footprint, charge cycles, everything anchored and verifiable, and correctly published with a GS1 Digital Link. They used GS1's official demo GTIN, which is exactly what GS1 says you should do for a demo. When that GTIN is put into Verified by GS1: risotto rice with mushrooms, registered to GS1 Global Office. The passport says Authentic. The maker's identity is a did:key, a bare key with no anchor to any organisation. Every signature is genuine. Nothing in the stack asks whether the signer may speak for that GTIN. Two things to say with appreciation: the team did everything right, and the demo GTIN only works because GS1 Global Office licensed it to itself; authority over the number came first. Any anchor, a ledger included, anchors the claim, never the authority. </a:t>
            </a:r>
          </a:p>
          <a:p>
            <a:r>
              <a:rPr lang="en-US" dirty="0"/>
              <a:t>resolution says where, a signature says who, and nothing says who may speak for the product.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everyday case, no attacker needed. An agent asks what this product is and gets three answers from three honest sources: the brand's own page, a retailer, a data aggregator. All structured, all plausible, one of them even signed. They disagree in the details that matter: 411 grams or 400, an allergen note or none, in stock or discontinued. The agent has to pick one. Today it picks by ranking, by recency, or by whoever serves the richest markup. Nobody can tell it which of the three is the product's own voice. Signatures do not help, because all three could sign honestly. And once that is the situation, a fourth party can serve its own answer for the same GTIN and it will look no different; on our demo resolver we did exactly that. Verified by GS1 knows who holds the GTIN, but the agent does not ask, and even if it did, nothing says which of the three sources the holder stands behind. That is the gap: which source may speak for the product.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an agent should ask before it trusts product data. Two can already be answered today. Resolution: GS1 Digital Link resolves the GTIN to a linkset, TLS proves the domain. </a:t>
            </a:r>
            <a:r>
              <a:rPr lang="en-US" dirty="0" err="1"/>
              <a:t>attacker.example</a:t>
            </a:r>
            <a:r>
              <a:rPr lang="en-US" dirty="0"/>
              <a:t>/01/GTIN resolves just as well. Verification: a credential verifier proves the signature, and a Digital Identity Anchor proves the issuer's legal identity. That verifies the speaker. Every statement has three parts: the speaker, the subject it is about, and what it says. </a:t>
            </a:r>
          </a:p>
          <a:p>
            <a:r>
              <a:rPr lang="en-US" dirty="0"/>
              <a:t>Two questions remain, and in some situations nothing in the agent's path answers them. </a:t>
            </a:r>
          </a:p>
          <a:p>
            <a:r>
              <a:rPr lang="en-US" dirty="0"/>
              <a:t>The first is not unanswered: Verified by GS1 knows the licensee, id.gs1.org knows the registered resolver. </a:t>
            </a:r>
          </a:p>
          <a:p>
            <a:r>
              <a:rPr lang="en-US" dirty="0"/>
              <a:t>Whether the agent ever sees either depends on what is printed on the labels / encoded in the </a:t>
            </a:r>
            <a:r>
              <a:rPr lang="en-US" dirty="0" err="1"/>
              <a:t>qr</a:t>
            </a:r>
            <a:r>
              <a:rPr lang="en-US" dirty="0"/>
              <a:t> code. </a:t>
            </a:r>
          </a:p>
          <a:p>
            <a:r>
              <a:rPr lang="en-US" dirty="0"/>
              <a:t>A code on id.gs1.org runs through GS1's registry, a code on brand.example or on a provider's host does not have to, and the agent cannot tell the two apart. </a:t>
            </a:r>
          </a:p>
          <a:p>
            <a:r>
              <a:rPr lang="en-US" dirty="0"/>
              <a:t>Authority currently depends on a choice made at print time. May this speaker speak about this subject at all? And may it make this kind of statement, describe the product, make a recall, a sale event? The first is a question of who holds the GTIN; the second is a question of role. This has a second side: When the agent reads product data, someone has to be authoritative for it. Same tools, other direction.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its life, many parties make statements about the same product, and each is legitimate for its part. The manufacturer says it was made and packed. The shipper says it moved. The retailer says it was sold. The repair service says it was repaired. All of them are statements about the same Identifier, and in EPCIS each of them is one event with its own process step. An agent that meets one of these statements has two things to check: is this party allowed to speak about this product at all, and is this the kind of statement that party is allowed to make? A retailer selling is normal; a retailer announcing a recall is not. Every traceability system holds exactly this table, which party contributes which step for which products. Each of us has built it again, for each customer, and none of it leaves the system. The event itself says who reported it. Whether that party was entitled to is not something an agent can find out today.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 assigned identifier, only the assigning registry can say who may speak for it. That is true for every extrinsic identifier. Verified by GS1 can be used. GS1's VC white paper specifies licence credentials up to Global Office. Some GS1 MOs have started to work on VC integration.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that starts from a Digital Link can run one check before it trusts a statement about a product. </a:t>
            </a:r>
          </a:p>
          <a:p>
            <a:r>
              <a:rPr lang="en-US" dirty="0"/>
              <a:t>One: canonicalise the URI; brands print their own domain, the standard defines id.gs1.org/01/{gtin}. </a:t>
            </a:r>
          </a:p>
          <a:p>
            <a:r>
              <a:rPr lang="en-US" dirty="0"/>
              <a:t>Two: resolve it there and compare the host that answered with the host the data came from. </a:t>
            </a:r>
          </a:p>
          <a:p>
            <a:r>
              <a:rPr lang="en-US" dirty="0"/>
              <a:t>Three: ask Verified by GS1 who holds the GTIN. These three work today, with two requests, and nobody has written them down as a rule. </a:t>
            </a:r>
          </a:p>
          <a:p>
            <a:r>
              <a:rPr lang="en-US" dirty="0"/>
              <a:t>Four: fetch the licence credential and verify the chain up to Global Office; </a:t>
            </a:r>
          </a:p>
          <a:p>
            <a:r>
              <a:rPr lang="en-US" dirty="0"/>
              <a:t>GS1 US has published the model and a reference verifier, GS1 Netherlands issues it, and our prototype runs this step today. </a:t>
            </a:r>
          </a:p>
          <a:p>
            <a:r>
              <a:rPr lang="en-US" dirty="0"/>
              <a:t>Five: check that the party making the statement holds a role for this kind of statement; that is the missing link, it lives in every traceability system and in no register.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plainly. Agents verify who signs. Nobody checks whether the signer may speak about the product, or may say this. Two Member Organisations already issue the licence as a credential, verifiers exist, resolvers exist, our prototype verifies the chain. Three things are missing: the check, written down so that agents run it the same way; a way for an agent to find the credential from a Digital Link; and the roles, which live in every traceability system and in no register. I want to work on that, and it needs the people in this room: those who run resolvers, those who issue credentials, those who build agents. This afternoon there is a breakout on it. Four questions on the agenda: the minimum check, linkset or credential, the trust root, and how it lines up with UNTP. Come and tell us what you would need to check before your agent trusts product data. I do not have this solved; that is why I am 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ENELOG">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720000">
            <a:off x="5486400" y="-1645920"/>
            <a:ext cx="6400800" cy="3657600"/>
          </a:xfrm>
          <a:prstGeom prst="rect">
            <a:avLst/>
          </a:prstGeom>
          <a:solidFill>
            <a:srgbClr val="2D4D9D">
              <a:alpha val="10000"/>
            </a:srgbClr>
          </a:solidFill>
          <a:ln w="12700">
            <a:solidFill>
              <a:srgbClr val="2D4D9D">
                <a:alpha val="0"/>
              </a:srgbClr>
            </a:solidFill>
            <a:prstDash val="solid"/>
          </a:ln>
        </p:spPr>
      </p:sp>
      <p:sp>
        <p:nvSpPr>
          <p:cNvPr id="3" name="Shape 1"/>
          <p:cNvSpPr/>
          <p:nvPr/>
        </p:nvSpPr>
        <p:spPr>
          <a:xfrm rot="-720000">
            <a:off x="-2185416" y="3493008"/>
            <a:ext cx="5486400" cy="3657600"/>
          </a:xfrm>
          <a:prstGeom prst="rect">
            <a:avLst/>
          </a:prstGeom>
          <a:solidFill>
            <a:srgbClr val="BB1133">
              <a:alpha val="8000"/>
            </a:srgbClr>
          </a:solidFill>
          <a:ln w="12700">
            <a:solidFill>
              <a:srgbClr val="BB1133">
                <a:alpha val="0"/>
              </a:srgbClr>
            </a:solidFill>
            <a:prstDash val="solid"/>
          </a:ln>
        </p:spPr>
      </p:sp>
      <p:sp>
        <p:nvSpPr>
          <p:cNvPr id="4" name="Shape 2"/>
          <p:cNvSpPr/>
          <p:nvPr/>
        </p:nvSpPr>
        <p:spPr>
          <a:xfrm>
            <a:off x="0" y="0"/>
            <a:ext cx="109728" cy="5143500"/>
          </a:xfrm>
          <a:prstGeom prst="rect">
            <a:avLst/>
          </a:prstGeom>
          <a:solidFill>
            <a:srgbClr val="2D4D9D"/>
          </a:solidFill>
          <a:ln w="12700">
            <a:solidFill>
              <a:srgbClr val="2D4D9D"/>
            </a:solidFill>
            <a:prstDash val="solid"/>
          </a:ln>
        </p:spPr>
      </p:sp>
      <p:sp>
        <p:nvSpPr>
          <p:cNvPr id="5" name="Text 3"/>
          <p:cNvSpPr/>
          <p:nvPr/>
        </p:nvSpPr>
        <p:spPr>
          <a:xfrm>
            <a:off x="182880" y="18288"/>
            <a:ext cx="8046720" cy="301752"/>
          </a:xfrm>
          <a:prstGeom prst="rect">
            <a:avLst/>
          </a:prstGeom>
          <a:noFill/>
          <a:ln/>
        </p:spPr>
        <p:txBody>
          <a:bodyPr wrap="square" lIns="0" tIns="0" rIns="0" bIns="0" rtlCol="0" anchor="ctr"/>
          <a:lstStyle/>
          <a:p>
            <a:pPr marL="0" indent="0">
              <a:buNone/>
            </a:pPr>
            <a:r>
              <a:rPr lang="en-US" sz="850" dirty="0">
                <a:solidFill>
                  <a:srgbClr val="888888"/>
                </a:solidFill>
                <a:latin typeface="Roboto" pitchFamily="34" charset="0"/>
                <a:ea typeface="Roboto" pitchFamily="34" charset="-122"/>
                <a:cs typeface="Roboto" pitchFamily="34" charset="-120"/>
              </a:rPr>
              <a:t>W3C/GS1 Workshop: E-commerce for Humans and AI Agents  ·  9 September 2026  ·  Zürich</a:t>
            </a:r>
            <a:endParaRPr lang="en-US" sz="850" dirty="0"/>
          </a:p>
        </p:txBody>
      </p:sp>
      <p:sp>
        <p:nvSpPr>
          <p:cNvPr id="6" name="Text 4"/>
          <p:cNvSpPr>
            <a:spLocks noGrp="1"/>
          </p:cNvSpPr>
          <p:nvPr>
            <p:ph type="title" idx="104" hasCustomPrompt="1"/>
          </p:nvPr>
        </p:nvSpPr>
        <p:spPr>
          <a:xfrm>
            <a:off x="411480" y="384048"/>
            <a:ext cx="8412480" cy="502920"/>
          </a:xfrm>
          <a:prstGeom prst="rect">
            <a:avLst/>
          </a:prstGeom>
          <a:noFill/>
          <a:ln/>
        </p:spPr>
        <p:txBody>
          <a:bodyPr wrap="square" rtlCol="0"/>
          <a:lstStyle>
            <a:lvl1pPr marL="0" indent="0" algn="l">
              <a:buNone/>
              <a:defRPr lang="en-US" sz="2200" b="1" dirty="0">
                <a:solidFill>
                  <a:srgbClr val="2D4D9D"/>
                </a:solidFill>
                <a:latin typeface="Roboto" pitchFamily="34" charset="0"/>
                <a:ea typeface="Roboto" pitchFamily="34" charset="-122"/>
                <a:cs typeface="Roboto" pitchFamily="34" charset="-120"/>
              </a:defRPr>
            </a:lvl1pPr>
          </a:lstStyle>
          <a:p>
            <a:pPr marL="0" indent="0" algn="l">
              <a:buNone/>
            </a:pPr>
            <a:endParaRPr lang="en-US" sz="2200" dirty="0"/>
          </a:p>
        </p:txBody>
      </p:sp>
      <p:sp>
        <p:nvSpPr>
          <p:cNvPr id="7" name="Text 4"/>
          <p:cNvSpPr>
            <a:spLocks noGrp="1"/>
          </p:cNvSpPr>
          <p:nvPr>
            <p:ph type="body" idx="105" hasCustomPrompt="1"/>
          </p:nvPr>
        </p:nvSpPr>
        <p:spPr>
          <a:xfrm>
            <a:off x="411480" y="886968"/>
            <a:ext cx="8412480" cy="329184"/>
          </a:xfrm>
          <a:prstGeom prst="rect">
            <a:avLst/>
          </a:prstGeom>
          <a:noFill/>
          <a:ln/>
        </p:spPr>
        <p:txBody>
          <a:bodyPr wrap="square" rtlCol="0"/>
          <a:lstStyle>
            <a:lvl1pPr marL="0" indent="0" algn="l">
              <a:buNone/>
              <a:defRPr lang="en-US" sz="1250" dirty="0">
                <a:solidFill>
                  <a:srgbClr val="555555"/>
                </a:solidFill>
                <a:latin typeface="Roboto" pitchFamily="34" charset="0"/>
                <a:ea typeface="Roboto" pitchFamily="34" charset="-122"/>
                <a:cs typeface="Roboto" pitchFamily="34" charset="-120"/>
              </a:defRPr>
            </a:lvl1pPr>
          </a:lstStyle>
          <a:p>
            <a:pPr marL="0" indent="0" algn="l">
              <a:buNone/>
            </a:pPr>
            <a:endParaRPr lang="en-US" sz="12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ENELOG_TITL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720000">
            <a:off x="5486400" y="-1645920"/>
            <a:ext cx="6400800" cy="3657600"/>
          </a:xfrm>
          <a:prstGeom prst="rect">
            <a:avLst/>
          </a:prstGeom>
          <a:solidFill>
            <a:srgbClr val="2D4D9D">
              <a:alpha val="10000"/>
            </a:srgbClr>
          </a:solidFill>
          <a:ln w="12700">
            <a:solidFill>
              <a:srgbClr val="2D4D9D">
                <a:alpha val="0"/>
              </a:srgbClr>
            </a:solidFill>
            <a:prstDash val="solid"/>
          </a:ln>
        </p:spPr>
      </p:sp>
      <p:sp>
        <p:nvSpPr>
          <p:cNvPr id="3" name="Shape 1"/>
          <p:cNvSpPr/>
          <p:nvPr/>
        </p:nvSpPr>
        <p:spPr>
          <a:xfrm rot="-720000">
            <a:off x="-2185416" y="3493008"/>
            <a:ext cx="5486400" cy="3657600"/>
          </a:xfrm>
          <a:prstGeom prst="rect">
            <a:avLst/>
          </a:prstGeom>
          <a:solidFill>
            <a:srgbClr val="BB1133">
              <a:alpha val="8000"/>
            </a:srgbClr>
          </a:solidFill>
          <a:ln w="12700">
            <a:solidFill>
              <a:srgbClr val="BB1133">
                <a:alpha val="0"/>
              </a:srgbClr>
            </a:solidFill>
            <a:prstDash val="solid"/>
          </a:ln>
        </p:spPr>
      </p:sp>
      <p:sp>
        <p:nvSpPr>
          <p:cNvPr id="4" name="Shape 2"/>
          <p:cNvSpPr/>
          <p:nvPr/>
        </p:nvSpPr>
        <p:spPr>
          <a:xfrm>
            <a:off x="0" y="0"/>
            <a:ext cx="109728" cy="5143500"/>
          </a:xfrm>
          <a:prstGeom prst="rect">
            <a:avLst/>
          </a:prstGeom>
          <a:solidFill>
            <a:srgbClr val="2D4D9D"/>
          </a:solidFill>
          <a:ln w="12700">
            <a:solidFill>
              <a:srgbClr val="2D4D9D"/>
            </a:solidFill>
            <a:prstDash val="solid"/>
          </a:ln>
        </p:spPr>
      </p:sp>
      <p:sp>
        <p:nvSpPr>
          <p:cNvPr id="5" name="Text 3"/>
          <p:cNvSpPr/>
          <p:nvPr/>
        </p:nvSpPr>
        <p:spPr>
          <a:xfrm>
            <a:off x="182880" y="18288"/>
            <a:ext cx="8046720" cy="301752"/>
          </a:xfrm>
          <a:prstGeom prst="rect">
            <a:avLst/>
          </a:prstGeom>
          <a:noFill/>
          <a:ln/>
        </p:spPr>
        <p:txBody>
          <a:bodyPr wrap="square" lIns="0" tIns="0" rIns="0" bIns="0" rtlCol="0" anchor="ctr"/>
          <a:lstStyle/>
          <a:p>
            <a:pPr marL="0" indent="0">
              <a:buNone/>
            </a:pPr>
            <a:r>
              <a:rPr lang="en-US" sz="850" dirty="0">
                <a:solidFill>
                  <a:srgbClr val="888888"/>
                </a:solidFill>
                <a:latin typeface="Roboto" pitchFamily="34" charset="0"/>
                <a:ea typeface="Roboto" pitchFamily="34" charset="-122"/>
                <a:cs typeface="Roboto" pitchFamily="34" charset="-120"/>
              </a:rPr>
              <a:t>W3C/GS1 Workshop: E-commerce for Humans and AI Agents  ·  9 September 2026  ·  Zürich</a:t>
            </a:r>
            <a:endParaRPr lang="en-US" sz="850" dirty="0"/>
          </a:p>
        </p:txBody>
      </p:sp>
      <p:sp>
        <p:nvSpPr>
          <p:cNvPr id="6" name="Shape 4"/>
          <p:cNvSpPr/>
          <p:nvPr/>
        </p:nvSpPr>
        <p:spPr>
          <a:xfrm>
            <a:off x="182880" y="4562856"/>
            <a:ext cx="1828800" cy="0"/>
          </a:xfrm>
          <a:prstGeom prst="line">
            <a:avLst/>
          </a:prstGeom>
          <a:noFill/>
          <a:ln w="19050">
            <a:solidFill>
              <a:srgbClr val="BB1133"/>
            </a:solidFill>
            <a:prstDash val="solid"/>
          </a:ln>
        </p:spPr>
      </p:sp>
      <p:sp>
        <p:nvSpPr>
          <p:cNvPr id="7" name="Text 5"/>
          <p:cNvSpPr/>
          <p:nvPr/>
        </p:nvSpPr>
        <p:spPr>
          <a:xfrm>
            <a:off x="182880" y="4608576"/>
            <a:ext cx="4572000" cy="201168"/>
          </a:xfrm>
          <a:prstGeom prst="rect">
            <a:avLst/>
          </a:prstGeom>
          <a:noFill/>
          <a:ln/>
        </p:spPr>
        <p:txBody>
          <a:bodyPr wrap="square" lIns="0" tIns="0" rIns="0" bIns="0" rtlCol="0" anchor="t"/>
          <a:lstStyle/>
          <a:p>
            <a:pPr marL="0" indent="0">
              <a:buNone/>
            </a:pPr>
            <a:r>
              <a:rPr lang="en-US" sz="1000" b="1" dirty="0">
                <a:solidFill>
                  <a:srgbClr val="2D4D9D"/>
                </a:solidFill>
                <a:latin typeface="Roboto" pitchFamily="34" charset="0"/>
                <a:ea typeface="Roboto" pitchFamily="34" charset="-122"/>
                <a:cs typeface="Roboto" pitchFamily="34" charset="-120"/>
              </a:rPr>
              <a:t>Sven Böckelmann</a:t>
            </a:r>
            <a:endParaRPr lang="en-US" sz="1000" dirty="0"/>
          </a:p>
        </p:txBody>
      </p:sp>
      <p:sp>
        <p:nvSpPr>
          <p:cNvPr id="8" name="Text 6"/>
          <p:cNvSpPr/>
          <p:nvPr/>
        </p:nvSpPr>
        <p:spPr>
          <a:xfrm>
            <a:off x="182880" y="4809744"/>
            <a:ext cx="4572000" cy="182880"/>
          </a:xfrm>
          <a:prstGeom prst="rect">
            <a:avLst/>
          </a:prstGeom>
          <a:noFill/>
          <a:ln/>
        </p:spPr>
        <p:txBody>
          <a:bodyPr wrap="square" lIns="0" tIns="0" rIns="0" bIns="0" rtlCol="0" anchor="t"/>
          <a:lstStyle/>
          <a:p>
            <a:pPr marL="0" indent="0">
              <a:buNone/>
            </a:pPr>
            <a:r>
              <a:rPr lang="en-US" sz="800" dirty="0">
                <a:solidFill>
                  <a:srgbClr val="888888"/>
                </a:solidFill>
                <a:latin typeface="Roboto" pitchFamily="34" charset="0"/>
                <a:ea typeface="Roboto" pitchFamily="34" charset="-122"/>
                <a:cs typeface="Roboto" pitchFamily="34" charset="-120"/>
              </a:rPr>
              <a:t>CTO · benelog GmbH &amp; Co. KG</a:t>
            </a:r>
            <a:endParaRPr lang="en-US" sz="800" dirty="0"/>
          </a:p>
        </p:txBody>
      </p:sp>
      <p:pic>
        <p:nvPicPr>
          <p:cNvPr id="9" name="Image 0" descr="preencoded.png"/>
          <p:cNvPicPr>
            <a:picLocks noChangeAspect="1"/>
          </p:cNvPicPr>
          <p:nvPr/>
        </p:nvPicPr>
        <p:blipFill>
          <a:blip r:embed="rId2"/>
          <a:stretch>
            <a:fillRect/>
          </a:stretch>
        </p:blipFill>
        <p:spPr>
          <a:xfrm>
            <a:off x="6318504" y="4672584"/>
            <a:ext cx="2825496" cy="49103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itle"/>
          <p:cNvSpPr/>
          <p:nvPr/>
        </p:nvSpPr>
        <p:spPr>
          <a:xfrm>
            <a:off x="411480" y="1097280"/>
            <a:ext cx="8229600" cy="731520"/>
          </a:xfrm>
          <a:prstGeom prst="rect">
            <a:avLst/>
          </a:prstGeom>
          <a:noFill/>
          <a:ln/>
        </p:spPr>
        <p:txBody>
          <a:bodyPr wrap="square" lIns="0" tIns="0" rIns="0" bIns="0" rtlCol="0" anchor="ctr"/>
          <a:lstStyle/>
          <a:p>
            <a:pPr marL="0" indent="0">
              <a:buNone/>
            </a:pPr>
            <a:r>
              <a:rPr lang="en-US" sz="4000" b="1" dirty="0">
                <a:solidFill>
                  <a:srgbClr val="2D4D9D"/>
                </a:solidFill>
                <a:latin typeface="Roboto" pitchFamily="34" charset="0"/>
                <a:ea typeface="Roboto" pitchFamily="34" charset="-122"/>
                <a:cs typeface="Roboto" pitchFamily="34" charset="-120"/>
              </a:rPr>
              <a:t>Trusted Resolution</a:t>
            </a:r>
            <a:endParaRPr lang="en-US" sz="4000" dirty="0"/>
          </a:p>
        </p:txBody>
      </p:sp>
      <p:sp>
        <p:nvSpPr>
          <p:cNvPr id="4" name="Subtitle"/>
          <p:cNvSpPr/>
          <p:nvPr/>
        </p:nvSpPr>
        <p:spPr>
          <a:xfrm>
            <a:off x="411480" y="1828800"/>
            <a:ext cx="8110728" cy="822960"/>
          </a:xfrm>
          <a:prstGeom prst="rect">
            <a:avLst/>
          </a:prstGeom>
          <a:noFill/>
          <a:ln/>
        </p:spPr>
        <p:txBody>
          <a:bodyPr wrap="square" lIns="0" tIns="0" rIns="0" bIns="0" rtlCol="0" anchor="t"/>
          <a:lstStyle/>
          <a:p>
            <a:pPr marL="0" indent="0">
              <a:buNone/>
            </a:pPr>
            <a:r>
              <a:rPr lang="en-US" sz="2000" dirty="0">
                <a:solidFill>
                  <a:srgbClr val="333333"/>
                </a:solidFill>
                <a:latin typeface="Roboto" pitchFamily="34" charset="0"/>
                <a:ea typeface="Roboto" pitchFamily="34" charset="-122"/>
                <a:cs typeface="Roboto" pitchFamily="34" charset="-120"/>
              </a:rPr>
              <a:t>Checking who may speak for a product before an agent trusts the data</a:t>
            </a:r>
            <a:endParaRPr lang="en-US" sz="2000" dirty="0"/>
          </a:p>
        </p:txBody>
      </p:sp>
      <p:sp>
        <p:nvSpPr>
          <p:cNvPr id="5" name="Speaker"/>
          <p:cNvSpPr/>
          <p:nvPr/>
        </p:nvSpPr>
        <p:spPr>
          <a:xfrm>
            <a:off x="411480" y="3200400"/>
            <a:ext cx="8046720" cy="548640"/>
          </a:xfrm>
          <a:prstGeom prst="rect">
            <a:avLst/>
          </a:prstGeom>
          <a:noFill/>
          <a:ln/>
        </p:spPr>
        <p:txBody>
          <a:bodyPr wrap="square" lIns="0" tIns="0" rIns="0" bIns="0" rtlCol="0" anchor="t"/>
          <a:lstStyle/>
          <a:p>
            <a:pPr marL="0" indent="0">
              <a:buNone/>
            </a:pPr>
            <a:r>
              <a:rPr lang="en-US" sz="1100" b="1" dirty="0">
                <a:solidFill>
                  <a:srgbClr val="333333"/>
                </a:solidFill>
                <a:latin typeface="Roboto" pitchFamily="34" charset="0"/>
                <a:ea typeface="Roboto" pitchFamily="34" charset="-122"/>
                <a:cs typeface="Roboto" pitchFamily="34" charset="-120"/>
              </a:rPr>
              <a:t>Sven Böckelmann</a:t>
            </a:r>
            <a:endParaRPr lang="en-US" sz="1100" dirty="0"/>
          </a:p>
          <a:p>
            <a:pPr marL="0" indent="0">
              <a:buNone/>
            </a:pPr>
            <a:r>
              <a:rPr lang="en-US" sz="1100" dirty="0">
                <a:solidFill>
                  <a:srgbClr val="555555"/>
                </a:solidFill>
                <a:latin typeface="Roboto" pitchFamily="34" charset="0"/>
                <a:ea typeface="Roboto" pitchFamily="34" charset="-122"/>
                <a:cs typeface="Roboto" pitchFamily="34" charset="-120"/>
              </a:rPr>
              <a:t>CTO, benelog GmbH &amp; Co. KG, Cologne  ·  </a:t>
            </a:r>
            <a:r>
              <a:rPr lang="en-US" sz="1100" dirty="0" err="1">
                <a:solidFill>
                  <a:srgbClr val="555555"/>
                </a:solidFill>
                <a:latin typeface="Roboto" pitchFamily="34" charset="0"/>
                <a:ea typeface="Roboto" pitchFamily="34" charset="-122"/>
                <a:cs typeface="Roboto" pitchFamily="34" charset="-120"/>
              </a:rPr>
              <a:t>OpenEPCIS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16" name="Grafik 15">
            <a:extLst>
              <a:ext uri="{FF2B5EF4-FFF2-40B4-BE49-F238E27FC236}">
                <a16:creationId xmlns:a16="http://schemas.microsoft.com/office/drawing/2014/main" id="{E4CE82C6-6F85-1242-C394-80E5CBF3E4B4}"/>
              </a:ext>
            </a:extLst>
          </p:cNvPr>
          <p:cNvPicPr>
            <a:picLocks noChangeAspect="1"/>
          </p:cNvPicPr>
          <p:nvPr/>
        </p:nvPicPr>
        <p:blipFill>
          <a:blip r:embed="rId3"/>
          <a:stretch>
            <a:fillRect/>
          </a:stretch>
        </p:blipFill>
        <p:spPr>
          <a:xfrm>
            <a:off x="3537969" y="2130552"/>
            <a:ext cx="4007708" cy="2938072"/>
          </a:xfrm>
          <a:prstGeom prst="rect">
            <a:avLst/>
          </a:prstGeom>
        </p:spPr>
      </p:pic>
      <p:pic>
        <p:nvPicPr>
          <p:cNvPr id="14" name="Grafik 13">
            <a:extLst>
              <a:ext uri="{FF2B5EF4-FFF2-40B4-BE49-F238E27FC236}">
                <a16:creationId xmlns:a16="http://schemas.microsoft.com/office/drawing/2014/main" id="{051E1761-7A5E-96A8-92BB-BA1DE2E112C8}"/>
              </a:ext>
            </a:extLst>
          </p:cNvPr>
          <p:cNvPicPr>
            <a:picLocks noChangeAspect="1"/>
          </p:cNvPicPr>
          <p:nvPr/>
        </p:nvPicPr>
        <p:blipFill>
          <a:blip r:embed="rId4"/>
          <a:stretch>
            <a:fillRect/>
          </a:stretch>
        </p:blipFill>
        <p:spPr>
          <a:xfrm>
            <a:off x="3685793" y="1325880"/>
            <a:ext cx="4572896" cy="2651760"/>
          </a:xfrm>
          <a:prstGeom prst="rect">
            <a:avLst/>
          </a:prstGeom>
        </p:spPr>
      </p:pic>
      <p:sp>
        <p:nvSpPr>
          <p:cNvPr id="3" name="Text 4"/>
          <p:cNvSpPr>
            <a:spLocks noGrp="1"/>
          </p:cNvSpPr>
          <p:nvPr>
            <p:ph type="title" idx="104" hasCustomPrompt="1"/>
          </p:nvPr>
        </p:nvSpPr>
        <p:spPr>
          <a:xfrm>
            <a:off x="411480" y="384048"/>
            <a:ext cx="8412480" cy="502920"/>
          </a:xfrm>
          <a:prstGeom prst="rect">
            <a:avLst/>
          </a:prstGeom>
          <a:noFill/>
          <a:ln/>
        </p:spPr>
        <p:txBody>
          <a:bodyPr wrap="square" lIns="0" tIns="0" rIns="0" bIns="0" rtlCol="0" anchor="ctr"/>
          <a:lstStyle/>
          <a:p>
            <a:pPr marL="0" indent="0" algn="l">
              <a:buNone/>
            </a:pPr>
            <a:r>
              <a:rPr lang="en-US" sz="2200" b="1" dirty="0">
                <a:solidFill>
                  <a:srgbClr val="2D4D9D"/>
                </a:solidFill>
                <a:latin typeface="Roboto" pitchFamily="34" charset="0"/>
                <a:ea typeface="Roboto" pitchFamily="34" charset="-122"/>
                <a:cs typeface="Roboto" pitchFamily="34" charset="-120"/>
              </a:rPr>
              <a:t>Not Only EPCIS</a:t>
            </a:r>
            <a:endParaRPr lang="en-US" sz="2200" dirty="0"/>
          </a:p>
        </p:txBody>
      </p:sp>
      <p:sp>
        <p:nvSpPr>
          <p:cNvPr id="4" name="Text 4"/>
          <p:cNvSpPr>
            <a:spLocks noGrp="1"/>
          </p:cNvSpPr>
          <p:nvPr>
            <p:ph type="body" idx="105" hasCustomPrompt="1"/>
          </p:nvPr>
        </p:nvSpPr>
        <p:spPr>
          <a:xfrm>
            <a:off x="411480" y="886968"/>
            <a:ext cx="8412480" cy="329184"/>
          </a:xfrm>
          <a:prstGeom prst="rect">
            <a:avLst/>
          </a:prstGeom>
          <a:noFill/>
          <a:ln/>
        </p:spPr>
        <p:txBody>
          <a:bodyPr wrap="square" lIns="0" tIns="0" rIns="0" bIns="0" rtlCol="0" anchor="ctr"/>
          <a:lstStyle/>
          <a:p>
            <a:pPr marL="0" indent="0" algn="l">
              <a:buNone/>
            </a:pPr>
            <a:r>
              <a:rPr lang="en-US" sz="1250" dirty="0">
                <a:solidFill>
                  <a:srgbClr val="555555"/>
                </a:solidFill>
                <a:latin typeface="Roboto" pitchFamily="34" charset="0"/>
                <a:ea typeface="Roboto" pitchFamily="34" charset="-122"/>
                <a:cs typeface="Roboto" pitchFamily="34" charset="-120"/>
              </a:rPr>
              <a:t>What we build and provide at </a:t>
            </a:r>
            <a:r>
              <a:rPr lang="en-US" sz="1250" dirty="0" err="1">
                <a:solidFill>
                  <a:srgbClr val="555555"/>
                </a:solidFill>
                <a:latin typeface="Roboto" pitchFamily="34" charset="0"/>
                <a:ea typeface="Roboto" pitchFamily="34" charset="-122"/>
                <a:cs typeface="Roboto" pitchFamily="34" charset="-120"/>
              </a:rPr>
              <a:t>benelog</a:t>
            </a:r>
            <a:r>
              <a:rPr lang="en-US" sz="1250" dirty="0">
                <a:solidFill>
                  <a:srgbClr val="555555"/>
                </a:solidFill>
                <a:latin typeface="Roboto" pitchFamily="34" charset="0"/>
                <a:ea typeface="Roboto" pitchFamily="34" charset="-122"/>
                <a:cs typeface="Roboto" pitchFamily="34" charset="-120"/>
              </a:rPr>
              <a:t>.</a:t>
            </a:r>
            <a:endParaRPr lang="en-US" sz="1250" dirty="0"/>
          </a:p>
        </p:txBody>
      </p:sp>
      <p:pic>
        <p:nvPicPr>
          <p:cNvPr id="10" name="Grafik 9">
            <a:extLst>
              <a:ext uri="{FF2B5EF4-FFF2-40B4-BE49-F238E27FC236}">
                <a16:creationId xmlns:a16="http://schemas.microsoft.com/office/drawing/2014/main" id="{2D7D16D4-95BE-E5A0-B737-6AAFDA5255A8}"/>
              </a:ext>
            </a:extLst>
          </p:cNvPr>
          <p:cNvPicPr>
            <a:picLocks noChangeAspect="1"/>
          </p:cNvPicPr>
          <p:nvPr/>
        </p:nvPicPr>
        <p:blipFill>
          <a:blip r:embed="rId5"/>
          <a:stretch>
            <a:fillRect/>
          </a:stretch>
        </p:blipFill>
        <p:spPr>
          <a:xfrm>
            <a:off x="190870" y="1346304"/>
            <a:ext cx="3732384" cy="2450892"/>
          </a:xfrm>
          <a:prstGeom prst="rect">
            <a:avLst/>
          </a:prstGeom>
        </p:spPr>
      </p:pic>
      <p:pic>
        <p:nvPicPr>
          <p:cNvPr id="12" name="Grafik 11">
            <a:extLst>
              <a:ext uri="{FF2B5EF4-FFF2-40B4-BE49-F238E27FC236}">
                <a16:creationId xmlns:a16="http://schemas.microsoft.com/office/drawing/2014/main" id="{F9264CEB-FABB-5416-261E-C3DB45C2891E}"/>
              </a:ext>
            </a:extLst>
          </p:cNvPr>
          <p:cNvPicPr>
            <a:picLocks noChangeAspect="1"/>
          </p:cNvPicPr>
          <p:nvPr/>
        </p:nvPicPr>
        <p:blipFill>
          <a:blip r:embed="rId6"/>
          <a:stretch>
            <a:fillRect/>
          </a:stretch>
        </p:blipFill>
        <p:spPr>
          <a:xfrm>
            <a:off x="190870" y="3797196"/>
            <a:ext cx="3347099" cy="1128994"/>
          </a:xfrm>
          <a:prstGeom prst="rect">
            <a:avLst/>
          </a:prstGeom>
        </p:spPr>
      </p:pic>
      <p:sp>
        <p:nvSpPr>
          <p:cNvPr id="6" name="We run: OpenEPCIS"/>
          <p:cNvSpPr/>
          <p:nvPr/>
        </p:nvSpPr>
        <p:spPr>
          <a:xfrm>
            <a:off x="5058289" y="1828800"/>
            <a:ext cx="3200400" cy="603504"/>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200"/>
              </a:spcAft>
              <a:buNone/>
            </a:pPr>
            <a:r>
              <a:rPr lang="en-US" sz="1050" b="1" dirty="0">
                <a:solidFill>
                  <a:srgbClr val="333333"/>
                </a:solidFill>
                <a:latin typeface="Roboto" pitchFamily="34" charset="0"/>
                <a:ea typeface="Roboto" pitchFamily="34" charset="-122"/>
                <a:cs typeface="Roboto" pitchFamily="34" charset="-120"/>
              </a:rPr>
              <a:t>OpenEPCIS
</a:t>
            </a:r>
            <a:r>
              <a:rPr lang="en-US" sz="850" dirty="0">
                <a:solidFill>
                  <a:srgbClr val="555555"/>
                </a:solidFill>
                <a:latin typeface="Roboto" pitchFamily="34" charset="0"/>
                <a:ea typeface="Roboto" pitchFamily="34" charset="-122"/>
                <a:cs typeface="Roboto" pitchFamily="34" charset="-120"/>
              </a:rPr>
              <a:t>Open-core EPCIS 2.0. EPCIS tools on GS1 Global sandbox.</a:t>
            </a:r>
            <a:endParaRPr lang="en-US" sz="950" dirty="0"/>
          </a:p>
        </p:txBody>
      </p:sp>
      <p:sp>
        <p:nvSpPr>
          <p:cNvPr id="7" name="We run: Conformant resolver"/>
          <p:cNvSpPr/>
          <p:nvPr/>
        </p:nvSpPr>
        <p:spPr>
          <a:xfrm>
            <a:off x="5058289" y="2505456"/>
            <a:ext cx="3200400" cy="603504"/>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200"/>
              </a:spcAft>
              <a:buNone/>
            </a:pPr>
            <a:r>
              <a:rPr lang="en-US" sz="1050" b="1" dirty="0">
                <a:solidFill>
                  <a:srgbClr val="333333"/>
                </a:solidFill>
                <a:latin typeface="Roboto" pitchFamily="34" charset="0"/>
                <a:ea typeface="Roboto" pitchFamily="34" charset="-122"/>
                <a:cs typeface="Roboto" pitchFamily="34" charset="-120"/>
              </a:rPr>
              <a:t>GS1 Conformant resolver
</a:t>
            </a:r>
            <a:r>
              <a:rPr lang="en-US" sz="850" dirty="0">
                <a:solidFill>
                  <a:srgbClr val="555555"/>
                </a:solidFill>
                <a:latin typeface="Roboto" pitchFamily="34" charset="0"/>
                <a:ea typeface="Roboto" pitchFamily="34" charset="-122"/>
                <a:cs typeface="Roboto" pitchFamily="34" charset="-120"/>
              </a:rPr>
              <a:t>Digital Link for brands: GTIN registry, links, own domains, ERP and PIM connected.</a:t>
            </a:r>
            <a:endParaRPr lang="en-US" sz="950" dirty="0"/>
          </a:p>
        </p:txBody>
      </p:sp>
      <p:sp>
        <p:nvSpPr>
          <p:cNvPr id="8" name="We run: ref.openepcis.io"/>
          <p:cNvSpPr/>
          <p:nvPr/>
        </p:nvSpPr>
        <p:spPr>
          <a:xfrm>
            <a:off x="5058289" y="3182112"/>
            <a:ext cx="3200400" cy="603504"/>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200"/>
              </a:spcAft>
              <a:buNone/>
            </a:pPr>
            <a:r>
              <a:rPr lang="en-US" sz="1050" b="1" dirty="0">
                <a:solidFill>
                  <a:srgbClr val="333333"/>
                </a:solidFill>
                <a:latin typeface="Roboto" pitchFamily="34" charset="0"/>
                <a:ea typeface="Roboto" pitchFamily="34" charset="-122"/>
                <a:cs typeface="Roboto" pitchFamily="34" charset="-120"/>
              </a:rPr>
              <a:t>ref.openepcis.io
</a:t>
            </a:r>
            <a:r>
              <a:rPr lang="en-US" sz="850" dirty="0">
                <a:solidFill>
                  <a:srgbClr val="555555"/>
                </a:solidFill>
                <a:latin typeface="Roboto" pitchFamily="34" charset="0"/>
                <a:ea typeface="Roboto" pitchFamily="34" charset="-122"/>
                <a:cs typeface="Roboto" pitchFamily="34" charset="-120"/>
              </a:rPr>
              <a:t>DPP vocabularies. Agentic AI support for governed JSON-LD from us today.</a:t>
            </a:r>
            <a:endParaRPr lang="en-US" sz="950" dirty="0"/>
          </a:p>
        </p:txBody>
      </p:sp>
      <p:sp>
        <p:nvSpPr>
          <p:cNvPr id="9" name="We run: Licence chain, verified"/>
          <p:cNvSpPr/>
          <p:nvPr/>
        </p:nvSpPr>
        <p:spPr>
          <a:xfrm>
            <a:off x="5058289" y="3858768"/>
            <a:ext cx="3200400" cy="603504"/>
          </a:xfrm>
          <a:prstGeom prst="rect">
            <a:avLst/>
          </a:prstGeom>
          <a:solidFill>
            <a:srgbClr val="EEF1F8"/>
          </a:solidFill>
          <a:ln w="19050">
            <a:solidFill>
              <a:srgbClr val="2D4D9D"/>
            </a:solidFill>
          </a:ln>
        </p:spPr>
        <p:txBody>
          <a:bodyPr wrap="square" lIns="101600" tIns="127000" rIns="127000" bIns="101600" rtlCol="0" anchor="t"/>
          <a:lstStyle/>
          <a:p>
            <a:pPr marL="0" indent="0">
              <a:spcAft>
                <a:spcPts val="200"/>
              </a:spcAft>
              <a:buNone/>
            </a:pPr>
            <a:r>
              <a:rPr lang="en-US" sz="1050" b="1" dirty="0">
                <a:solidFill>
                  <a:srgbClr val="2D4D9D"/>
                </a:solidFill>
                <a:latin typeface="Roboto" pitchFamily="34" charset="0"/>
                <a:ea typeface="Roboto" pitchFamily="34" charset="-122"/>
                <a:cs typeface="Roboto" pitchFamily="34" charset="-120"/>
              </a:rPr>
              <a:t>GS1 verification and validation
</a:t>
            </a:r>
            <a:r>
              <a:rPr lang="en-US" sz="850" dirty="0" err="1">
                <a:solidFill>
                  <a:srgbClr val="555555"/>
                </a:solidFill>
                <a:latin typeface="Roboto" pitchFamily="34" charset="0"/>
                <a:ea typeface="Roboto" pitchFamily="34" charset="-122"/>
                <a:cs typeface="Roboto" pitchFamily="34" charset="-120"/>
              </a:rPr>
              <a:t>OpenEPCIS</a:t>
            </a:r>
            <a:r>
              <a:rPr lang="en-US" sz="850" dirty="0">
                <a:solidFill>
                  <a:srgbClr val="555555"/>
                </a:solidFill>
                <a:latin typeface="Roboto" pitchFamily="34" charset="0"/>
                <a:ea typeface="Roboto" pitchFamily="34" charset="-122"/>
                <a:cs typeface="Roboto" pitchFamily="34" charset="-120"/>
              </a:rPr>
              <a:t> checks against “Verified by GS1”, Support for VCs.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4"/>
          <p:cNvSpPr>
            <a:spLocks noGrp="1"/>
          </p:cNvSpPr>
          <p:nvPr>
            <p:ph type="title" idx="104" hasCustomPrompt="1"/>
          </p:nvPr>
        </p:nvSpPr>
        <p:spPr>
          <a:xfrm>
            <a:off x="411480" y="384048"/>
            <a:ext cx="8412480" cy="502920"/>
          </a:xfrm>
          <a:prstGeom prst="rect">
            <a:avLst/>
          </a:prstGeom>
          <a:noFill/>
          <a:ln/>
        </p:spPr>
        <p:txBody>
          <a:bodyPr wrap="square" lIns="0" tIns="0" rIns="0" bIns="0" rtlCol="0" anchor="ctr"/>
          <a:lstStyle/>
          <a:p>
            <a:pPr marL="0" indent="0" algn="l">
              <a:buNone/>
            </a:pPr>
            <a:r>
              <a:rPr lang="en-US" sz="2200" b="1" dirty="0">
                <a:solidFill>
                  <a:srgbClr val="2D4D9D"/>
                </a:solidFill>
                <a:latin typeface="Roboto" pitchFamily="34" charset="0"/>
                <a:ea typeface="Roboto" pitchFamily="34" charset="-122"/>
                <a:cs typeface="Roboto" pitchFamily="34" charset="-120"/>
              </a:rPr>
              <a:t>First things first</a:t>
            </a:r>
            <a:endParaRPr lang="en-US" sz="2200" dirty="0"/>
          </a:p>
        </p:txBody>
      </p:sp>
      <p:sp>
        <p:nvSpPr>
          <p:cNvPr id="4" name="Text 4"/>
          <p:cNvSpPr>
            <a:spLocks noGrp="1"/>
          </p:cNvSpPr>
          <p:nvPr>
            <p:ph type="body" idx="105" hasCustomPrompt="1"/>
          </p:nvPr>
        </p:nvSpPr>
        <p:spPr>
          <a:xfrm>
            <a:off x="411480" y="886968"/>
            <a:ext cx="8412480" cy="329184"/>
          </a:xfrm>
          <a:prstGeom prst="rect">
            <a:avLst/>
          </a:prstGeom>
          <a:noFill/>
          <a:ln/>
        </p:spPr>
        <p:txBody>
          <a:bodyPr wrap="square" lIns="0" tIns="0" rIns="0" bIns="0" rtlCol="0" anchor="ctr"/>
          <a:lstStyle/>
          <a:p>
            <a:pPr marL="0" indent="0" algn="l">
              <a:buNone/>
            </a:pPr>
            <a:r>
              <a:rPr lang="en-US" sz="1250" dirty="0">
                <a:solidFill>
                  <a:srgbClr val="555555"/>
                </a:solidFill>
                <a:latin typeface="Roboto" pitchFamily="34" charset="0"/>
                <a:ea typeface="Roboto" pitchFamily="34" charset="-122"/>
                <a:cs typeface="Roboto" pitchFamily="34" charset="-120"/>
              </a:rPr>
              <a:t>The ID, and the link.</a:t>
            </a:r>
            <a:endParaRPr lang="en-US" sz="1250" dirty="0"/>
          </a:p>
        </p:txBody>
      </p:sp>
      <p:sp>
        <p:nvSpPr>
          <p:cNvPr id="5" name="The number"/>
          <p:cNvSpPr/>
          <p:nvPr/>
        </p:nvSpPr>
        <p:spPr>
          <a:xfrm>
            <a:off x="411480" y="1371600"/>
            <a:ext cx="4069080" cy="2884932"/>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800"/>
              </a:spcAft>
              <a:buNone/>
            </a:pPr>
            <a:r>
              <a:rPr lang="en-US" sz="750" b="1" kern="0" spc="150" dirty="0">
                <a:solidFill>
                  <a:srgbClr val="888888"/>
                </a:solidFill>
                <a:latin typeface="Roboto" pitchFamily="34" charset="0"/>
                <a:ea typeface="Roboto" pitchFamily="34" charset="-122"/>
                <a:cs typeface="Roboto" pitchFamily="34" charset="-120"/>
              </a:rPr>
              <a:t>THE ID
</a:t>
            </a:r>
            <a:r>
              <a:rPr lang="en-US" sz="1300" b="1" dirty="0">
                <a:solidFill>
                  <a:srgbClr val="333333"/>
                </a:solidFill>
                <a:latin typeface="Roboto" pitchFamily="34" charset="0"/>
                <a:ea typeface="Roboto" pitchFamily="34" charset="-122"/>
                <a:cs typeface="Roboto" pitchFamily="34" charset="-120"/>
              </a:rPr>
              <a:t>GTIN
</a:t>
            </a:r>
            <a:r>
              <a:rPr lang="en-US" sz="400" dirty="0">
                <a:solidFill>
                  <a:srgbClr val="555555"/>
                </a:solidFill>
                <a:latin typeface="Roboto" pitchFamily="34" charset="0"/>
                <a:ea typeface="Roboto" pitchFamily="34" charset="-122"/>
                <a:cs typeface="Roboto" pitchFamily="34" charset="-120"/>
              </a:rPr>
              <a:t>
</a:t>
            </a:r>
            <a:r>
              <a:rPr lang="en-US" sz="1050" dirty="0">
                <a:solidFill>
                  <a:srgbClr val="555555"/>
                </a:solidFill>
                <a:latin typeface="Roboto" pitchFamily="34" charset="0"/>
                <a:ea typeface="Roboto" pitchFamily="34" charset="-122"/>
                <a:cs typeface="Roboto" pitchFamily="34" charset="-120"/>
              </a:rPr>
              <a:t>The number under the barcode, on billions of packages. A GS1 Member Organisation licenses a Company Prefix to a company; the company assigns its GTINs underneath it.
</a:t>
            </a:r>
            <a:r>
              <a:rPr lang="en-US" sz="400" dirty="0">
                <a:solidFill>
                  <a:srgbClr val="555555"/>
                </a:solidFill>
                <a:latin typeface="Roboto" pitchFamily="34" charset="0"/>
                <a:ea typeface="Roboto" pitchFamily="34" charset="-122"/>
                <a:cs typeface="Roboto" pitchFamily="34" charset="-120"/>
              </a:rPr>
              <a:t>
</a:t>
            </a:r>
            <a:r>
              <a:rPr lang="en-US" sz="1200" dirty="0">
                <a:solidFill>
                  <a:srgbClr val="333333"/>
                </a:solidFill>
                <a:latin typeface="Roboto Mono" pitchFamily="34" charset="0"/>
                <a:ea typeface="Roboto Mono" pitchFamily="34" charset="-122"/>
                <a:cs typeface="Roboto Mono" pitchFamily="34" charset="-120"/>
              </a:rPr>
              <a:t>0 9506000 134352
</a:t>
            </a:r>
            <a:r>
              <a:rPr lang="en-US" sz="900" i="1" dirty="0">
                <a:solidFill>
                  <a:srgbClr val="888888"/>
                </a:solidFill>
                <a:latin typeface="Roboto" pitchFamily="34" charset="0"/>
                <a:ea typeface="Roboto" pitchFamily="34" charset="-122"/>
                <a:cs typeface="Roboto" pitchFamily="34" charset="-120"/>
              </a:rPr>
              <a:t>GCP (global company prefix) licensed by GS1  ·  number assigned to brand
</a:t>
            </a:r>
            <a:r>
              <a:rPr lang="en-US" sz="400" dirty="0">
                <a:solidFill>
                  <a:srgbClr val="555555"/>
                </a:solidFill>
                <a:latin typeface="Roboto" pitchFamily="34" charset="0"/>
                <a:ea typeface="Roboto" pitchFamily="34" charset="-122"/>
                <a:cs typeface="Roboto" pitchFamily="34" charset="-120"/>
              </a:rPr>
              <a:t>
</a:t>
            </a:r>
            <a:r>
              <a:rPr lang="en-US" sz="1050" dirty="0">
                <a:solidFill>
                  <a:srgbClr val="333333"/>
                </a:solidFill>
                <a:latin typeface="Roboto" pitchFamily="34" charset="0"/>
                <a:ea typeface="Roboto" pitchFamily="34" charset="-122"/>
                <a:cs typeface="Roboto" pitchFamily="34" charset="-120"/>
              </a:rPr>
              <a:t>The prefix licence is the one thing that ties a GTIN to a company. The Member Organisation knows who holds it; Verified by GS1 is the lookup.</a:t>
            </a:r>
            <a:endParaRPr lang="en-US" sz="950" dirty="0"/>
          </a:p>
        </p:txBody>
      </p:sp>
      <p:sp>
        <p:nvSpPr>
          <p:cNvPr id="6" name="The link"/>
          <p:cNvSpPr/>
          <p:nvPr/>
        </p:nvSpPr>
        <p:spPr>
          <a:xfrm>
            <a:off x="4663440" y="1371600"/>
            <a:ext cx="4069080" cy="2884932"/>
          </a:xfrm>
          <a:prstGeom prst="rect">
            <a:avLst/>
          </a:prstGeom>
          <a:solidFill>
            <a:srgbClr val="EEF1F8"/>
          </a:solidFill>
          <a:ln w="19050">
            <a:solidFill>
              <a:srgbClr val="2D4D9D"/>
            </a:solidFill>
          </a:ln>
        </p:spPr>
        <p:txBody>
          <a:bodyPr wrap="square" lIns="101600" tIns="127000" rIns="127000" bIns="101600" rtlCol="0" anchor="t"/>
          <a:lstStyle/>
          <a:p>
            <a:pPr marL="0" indent="0">
              <a:spcAft>
                <a:spcPts val="800"/>
              </a:spcAft>
              <a:buNone/>
            </a:pPr>
            <a:r>
              <a:rPr lang="en-US" sz="750" b="1" kern="0" spc="150" dirty="0">
                <a:solidFill>
                  <a:srgbClr val="2D4D9D"/>
                </a:solidFill>
                <a:latin typeface="Roboto" pitchFamily="34" charset="0"/>
                <a:ea typeface="Roboto" pitchFamily="34" charset="-122"/>
                <a:cs typeface="Roboto" pitchFamily="34" charset="-120"/>
              </a:rPr>
              <a:t>THE LINK
</a:t>
            </a:r>
            <a:r>
              <a:rPr lang="en-US" sz="1300" b="1" dirty="0">
                <a:solidFill>
                  <a:srgbClr val="2D4D9D"/>
                </a:solidFill>
                <a:latin typeface="Roboto" pitchFamily="34" charset="0"/>
                <a:ea typeface="Roboto" pitchFamily="34" charset="-122"/>
                <a:cs typeface="Roboto" pitchFamily="34" charset="-120"/>
              </a:rPr>
              <a:t>GS1 Digital Link
</a:t>
            </a:r>
            <a:r>
              <a:rPr lang="en-US" sz="400" dirty="0">
                <a:solidFill>
                  <a:srgbClr val="555555"/>
                </a:solidFill>
                <a:latin typeface="Roboto" pitchFamily="34" charset="0"/>
                <a:ea typeface="Roboto" pitchFamily="34" charset="-122"/>
                <a:cs typeface="Roboto" pitchFamily="34" charset="-120"/>
              </a:rPr>
              <a:t>
</a:t>
            </a:r>
            <a:r>
              <a:rPr lang="en-US" sz="1050" dirty="0">
                <a:solidFill>
                  <a:srgbClr val="555555"/>
                </a:solidFill>
                <a:latin typeface="Roboto" pitchFamily="34" charset="0"/>
                <a:ea typeface="Roboto" pitchFamily="34" charset="-122"/>
                <a:cs typeface="Roboto" pitchFamily="34" charset="-120"/>
              </a:rPr>
              <a:t>The same GTIN written as a URL can be put into a QR code. 
</a:t>
            </a:r>
            <a:r>
              <a:rPr lang="en-US" sz="400" dirty="0">
                <a:solidFill>
                  <a:srgbClr val="555555"/>
                </a:solidFill>
                <a:latin typeface="Roboto" pitchFamily="34" charset="0"/>
                <a:ea typeface="Roboto" pitchFamily="34" charset="-122"/>
                <a:cs typeface="Roboto" pitchFamily="34" charset="-120"/>
              </a:rPr>
              <a:t>
</a:t>
            </a:r>
            <a:r>
              <a:rPr lang="en-US" sz="1000" dirty="0">
                <a:solidFill>
                  <a:srgbClr val="333333"/>
                </a:solidFill>
                <a:latin typeface="Roboto Mono" pitchFamily="34" charset="0"/>
                <a:ea typeface="Roboto Mono" pitchFamily="34" charset="-122"/>
                <a:cs typeface="Roboto Mono" pitchFamily="34" charset="-120"/>
              </a:rPr>
              <a:t>https://id.gs1.org/01/09506000134352
</a:t>
            </a:r>
            <a:r>
              <a:rPr lang="en-US" sz="900" i="1" dirty="0">
                <a:solidFill>
                  <a:srgbClr val="888888"/>
                </a:solidFill>
                <a:latin typeface="Roboto" pitchFamily="34" charset="0"/>
                <a:ea typeface="Roboto" pitchFamily="34" charset="-122"/>
                <a:cs typeface="Roboto" pitchFamily="34" charset="-120"/>
              </a:rPr>
              <a:t>resolves to a linkset: product page, passport, events
</a:t>
            </a:r>
            <a:r>
              <a:rPr lang="en-US" sz="400" dirty="0">
                <a:solidFill>
                  <a:srgbClr val="555555"/>
                </a:solidFill>
                <a:latin typeface="Roboto" pitchFamily="34" charset="0"/>
                <a:ea typeface="Roboto" pitchFamily="34" charset="-122"/>
                <a:cs typeface="Roboto" pitchFamily="34" charset="-120"/>
              </a:rPr>
              <a:t>
</a:t>
            </a:r>
            <a:r>
              <a:rPr lang="en-US" sz="1050" dirty="0">
                <a:solidFill>
                  <a:srgbClr val="333333"/>
                </a:solidFill>
                <a:latin typeface="Roboto" pitchFamily="34" charset="0"/>
                <a:ea typeface="Roboto" pitchFamily="34" charset="-122"/>
                <a:cs typeface="Roboto" pitchFamily="34" charset="-120"/>
              </a:rPr>
              <a:t>Brands may print their own domain. id.gs1.org is the canonical form.</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4"/>
          <p:cNvSpPr>
            <a:spLocks noGrp="1"/>
          </p:cNvSpPr>
          <p:nvPr>
            <p:ph type="title" idx="104" hasCustomPrompt="1"/>
          </p:nvPr>
        </p:nvSpPr>
        <p:spPr>
          <a:xfrm>
            <a:off x="411480" y="384048"/>
            <a:ext cx="8412480" cy="502920"/>
          </a:xfrm>
          <a:prstGeom prst="rect">
            <a:avLst/>
          </a:prstGeom>
          <a:noFill/>
          <a:ln/>
        </p:spPr>
        <p:txBody>
          <a:bodyPr wrap="square" lIns="0" tIns="0" rIns="0" bIns="0" rtlCol="0" anchor="ctr"/>
          <a:lstStyle/>
          <a:p>
            <a:pPr marL="0" indent="0" algn="l">
              <a:buNone/>
            </a:pPr>
            <a:r>
              <a:rPr lang="en-US" sz="2200" b="1" dirty="0">
                <a:solidFill>
                  <a:srgbClr val="2D4D9D"/>
                </a:solidFill>
                <a:latin typeface="Roboto" pitchFamily="34" charset="0"/>
                <a:ea typeface="Roboto" pitchFamily="34" charset="-122"/>
                <a:cs typeface="Roboto" pitchFamily="34" charset="-120"/>
              </a:rPr>
              <a:t>A well-built demo, and a question nobody asked</a:t>
            </a:r>
            <a:endParaRPr lang="en-US" sz="2200" dirty="0"/>
          </a:p>
        </p:txBody>
      </p:sp>
      <p:sp>
        <p:nvSpPr>
          <p:cNvPr id="4" name="Text 4"/>
          <p:cNvSpPr>
            <a:spLocks noGrp="1"/>
          </p:cNvSpPr>
          <p:nvPr>
            <p:ph type="body" idx="105" hasCustomPrompt="1"/>
          </p:nvPr>
        </p:nvSpPr>
        <p:spPr>
          <a:xfrm>
            <a:off x="411480" y="886968"/>
            <a:ext cx="8412480" cy="329184"/>
          </a:xfrm>
          <a:prstGeom prst="rect">
            <a:avLst/>
          </a:prstGeom>
          <a:noFill/>
          <a:ln/>
        </p:spPr>
        <p:txBody>
          <a:bodyPr wrap="square" lIns="0" tIns="0" rIns="0" bIns="0" rtlCol="0" anchor="ctr"/>
          <a:lstStyle/>
          <a:p>
            <a:pPr marL="0" indent="0" algn="l">
              <a:buNone/>
            </a:pPr>
            <a:r>
              <a:rPr lang="en-US" sz="1250" dirty="0">
                <a:solidFill>
                  <a:srgbClr val="555555"/>
                </a:solidFill>
                <a:latin typeface="Roboto" pitchFamily="34" charset="0"/>
                <a:ea typeface="Roboto" pitchFamily="34" charset="-122"/>
                <a:cs typeface="Roboto" pitchFamily="34" charset="-120"/>
              </a:rPr>
              <a:t>Battery passport, Official GS1 demo GTIN, every signature valid.</a:t>
            </a:r>
            <a:endParaRPr lang="en-US" sz="1250" dirty="0"/>
          </a:p>
        </p:txBody>
      </p:sp>
      <p:sp>
        <p:nvSpPr>
          <p:cNvPr id="5" name="Card"/>
          <p:cNvSpPr/>
          <p:nvPr/>
        </p:nvSpPr>
        <p:spPr>
          <a:xfrm>
            <a:off x="411480" y="1371600"/>
            <a:ext cx="1920240" cy="2697480"/>
          </a:xfrm>
          <a:prstGeom prst="rect">
            <a:avLst/>
          </a:prstGeom>
          <a:solidFill>
            <a:srgbClr val="F0F2F5"/>
          </a:solidFill>
          <a:ln w="9525">
            <a:solidFill>
              <a:srgbClr val="DDE3EC"/>
            </a:solidFill>
          </a:ln>
        </p:spPr>
        <p:txBody>
          <a:bodyPr wrap="square" lIns="101600" tIns="127000" rIns="127000" bIns="101600" rtlCol="0" anchor="t"/>
          <a:lstStyle/>
          <a:p>
            <a:pPr marL="0" indent="0">
              <a:spcAft>
                <a:spcPts val="600"/>
              </a:spcAft>
              <a:buNone/>
            </a:pPr>
            <a:r>
              <a:rPr lang="en-US" sz="750" b="1" kern="0" spc="150" dirty="0">
                <a:solidFill>
                  <a:srgbClr val="888888"/>
                </a:solidFill>
                <a:latin typeface="Roboto" pitchFamily="34" charset="0"/>
                <a:ea typeface="Roboto" pitchFamily="34" charset="-122"/>
                <a:cs typeface="Roboto" pitchFamily="34" charset="-120"/>
              </a:rPr>
              <a:t>PASSPORT
</a:t>
            </a:r>
            <a:endParaRPr lang="en-US" sz="950" dirty="0"/>
          </a:p>
        </p:txBody>
      </p:sp>
      <p:pic>
        <p:nvPicPr>
          <p:cNvPr id="6" name="Image 0" descr="preencoded.png"/>
          <p:cNvPicPr>
            <a:picLocks noChangeAspect="1"/>
          </p:cNvPicPr>
          <p:nvPr/>
        </p:nvPicPr>
        <p:blipFill>
          <a:blip r:embed="rId3"/>
          <a:stretch>
            <a:fillRect/>
          </a:stretch>
        </p:blipFill>
        <p:spPr>
          <a:xfrm>
            <a:off x="502920" y="1691640"/>
            <a:ext cx="1737360" cy="1892808"/>
          </a:xfrm>
          <a:prstGeom prst="rect">
            <a:avLst/>
          </a:prstGeom>
        </p:spPr>
      </p:pic>
      <p:sp>
        <p:nvSpPr>
          <p:cNvPr id="7" name="Card"/>
          <p:cNvSpPr/>
          <p:nvPr/>
        </p:nvSpPr>
        <p:spPr>
          <a:xfrm>
            <a:off x="2450592" y="1371600"/>
            <a:ext cx="2606040" cy="2697480"/>
          </a:xfrm>
          <a:prstGeom prst="rect">
            <a:avLst/>
          </a:prstGeom>
          <a:solidFill>
            <a:srgbClr val="F0F2F5"/>
          </a:solidFill>
          <a:ln w="9525">
            <a:solidFill>
              <a:srgbClr val="DDE3EC"/>
            </a:solidFill>
          </a:ln>
        </p:spPr>
        <p:txBody>
          <a:bodyPr wrap="square" lIns="101600" tIns="127000" rIns="127000" bIns="101600" rtlCol="0" anchor="t"/>
          <a:lstStyle/>
          <a:p>
            <a:pPr marL="0" indent="0">
              <a:spcAft>
                <a:spcPts val="600"/>
              </a:spcAft>
              <a:buNone/>
            </a:pPr>
            <a:r>
              <a:rPr lang="en-US" sz="750" b="1" kern="0" spc="150" dirty="0">
                <a:solidFill>
                  <a:srgbClr val="888888"/>
                </a:solidFill>
                <a:latin typeface="Roboto" pitchFamily="34" charset="0"/>
                <a:ea typeface="Roboto" pitchFamily="34" charset="-122"/>
                <a:cs typeface="Roboto" pitchFamily="34" charset="-120"/>
              </a:rPr>
              <a:t>ISSUER RECORD
</a:t>
            </a:r>
            <a:endParaRPr lang="en-US" sz="950" dirty="0"/>
          </a:p>
        </p:txBody>
      </p:sp>
      <p:pic>
        <p:nvPicPr>
          <p:cNvPr id="8" name="Image 1" descr="preencoded.png"/>
          <p:cNvPicPr>
            <a:picLocks noChangeAspect="1"/>
          </p:cNvPicPr>
          <p:nvPr/>
        </p:nvPicPr>
        <p:blipFill>
          <a:blip r:embed="rId4"/>
          <a:stretch>
            <a:fillRect/>
          </a:stretch>
        </p:blipFill>
        <p:spPr>
          <a:xfrm>
            <a:off x="2542032" y="1691640"/>
            <a:ext cx="2423160" cy="1901952"/>
          </a:xfrm>
          <a:prstGeom prst="rect">
            <a:avLst/>
          </a:prstGeom>
        </p:spPr>
      </p:pic>
      <p:sp>
        <p:nvSpPr>
          <p:cNvPr id="9" name="Card"/>
          <p:cNvSpPr/>
          <p:nvPr/>
        </p:nvSpPr>
        <p:spPr>
          <a:xfrm>
            <a:off x="5175504" y="1371600"/>
            <a:ext cx="2103120" cy="2697480"/>
          </a:xfrm>
          <a:prstGeom prst="rect">
            <a:avLst/>
          </a:prstGeom>
          <a:solidFill>
            <a:srgbClr val="F0F2F5"/>
          </a:solidFill>
          <a:ln w="9525">
            <a:solidFill>
              <a:srgbClr val="DDE3EC"/>
            </a:solidFill>
          </a:ln>
        </p:spPr>
        <p:txBody>
          <a:bodyPr wrap="square" lIns="101600" tIns="127000" rIns="127000" bIns="101600" rtlCol="0" anchor="t"/>
          <a:lstStyle/>
          <a:p>
            <a:pPr marL="0" indent="0">
              <a:spcAft>
                <a:spcPts val="600"/>
              </a:spcAft>
              <a:buNone/>
            </a:pPr>
            <a:r>
              <a:rPr lang="en-US" sz="750" b="1" kern="0" spc="150" dirty="0">
                <a:solidFill>
                  <a:srgbClr val="888888"/>
                </a:solidFill>
                <a:latin typeface="Roboto" pitchFamily="34" charset="0"/>
                <a:ea typeface="Roboto" pitchFamily="34" charset="-122"/>
                <a:cs typeface="Roboto" pitchFamily="34" charset="-120"/>
              </a:rPr>
              <a:t>VERIFIED BY GS1
</a:t>
            </a:r>
            <a:endParaRPr lang="en-US" sz="950" dirty="0"/>
          </a:p>
        </p:txBody>
      </p:sp>
      <p:pic>
        <p:nvPicPr>
          <p:cNvPr id="10" name="Image 2" descr="preencoded.png"/>
          <p:cNvPicPr>
            <a:picLocks noChangeAspect="1"/>
          </p:cNvPicPr>
          <p:nvPr/>
        </p:nvPicPr>
        <p:blipFill>
          <a:blip r:embed="rId5"/>
          <a:stretch>
            <a:fillRect/>
          </a:stretch>
        </p:blipFill>
        <p:spPr>
          <a:xfrm>
            <a:off x="5266944" y="1691640"/>
            <a:ext cx="1920240" cy="1956816"/>
          </a:xfrm>
          <a:prstGeom prst="rect">
            <a:avLst/>
          </a:prstGeom>
        </p:spPr>
      </p:pic>
      <p:sp>
        <p:nvSpPr>
          <p:cNvPr id="11" name="Card"/>
          <p:cNvSpPr/>
          <p:nvPr/>
        </p:nvSpPr>
        <p:spPr>
          <a:xfrm>
            <a:off x="7406640" y="1371600"/>
            <a:ext cx="1325880" cy="2697480"/>
          </a:xfrm>
          <a:prstGeom prst="rect">
            <a:avLst/>
          </a:prstGeom>
          <a:solidFill>
            <a:srgbClr val="EEF1F8"/>
          </a:solidFill>
          <a:ln w="19050">
            <a:solidFill>
              <a:srgbClr val="2D4D9D"/>
            </a:solidFill>
          </a:ln>
        </p:spPr>
        <p:txBody>
          <a:bodyPr wrap="square" lIns="101600" tIns="127000" rIns="127000" bIns="101600" rtlCol="0" anchor="t"/>
          <a:lstStyle/>
          <a:p>
            <a:pPr marL="0" indent="0">
              <a:spcAft>
                <a:spcPts val="600"/>
              </a:spcAft>
              <a:buNone/>
            </a:pPr>
            <a:r>
              <a:rPr lang="en-US" sz="750" b="1" kern="0" spc="150" dirty="0">
                <a:solidFill>
                  <a:srgbClr val="2D4D9D"/>
                </a:solidFill>
                <a:latin typeface="Roboto" pitchFamily="34" charset="0"/>
                <a:ea typeface="Roboto" pitchFamily="34" charset="-122"/>
                <a:cs typeface="Roboto" pitchFamily="34" charset="-120"/>
              </a:rPr>
              <a:t>CHECKS
</a:t>
            </a:r>
            <a:r>
              <a:rPr lang="en-US" sz="850" b="1" dirty="0">
                <a:solidFill>
                  <a:srgbClr val="2E8B57"/>
                </a:solidFill>
                <a:latin typeface="Roboto" pitchFamily="34" charset="0"/>
                <a:ea typeface="Roboto" pitchFamily="34" charset="-122"/>
                <a:cs typeface="Roboto" pitchFamily="34" charset="-120"/>
              </a:rPr>
              <a:t>Authentic ✓
did:key valid ✓
Digital Link ✓
</a:t>
            </a:r>
            <a:r>
              <a:rPr lang="en-US" sz="400" dirty="0">
                <a:solidFill>
                  <a:srgbClr val="555555"/>
                </a:solidFill>
                <a:latin typeface="Roboto" pitchFamily="34" charset="0"/>
                <a:ea typeface="Roboto" pitchFamily="34" charset="-122"/>
                <a:cs typeface="Roboto" pitchFamily="34" charset="-120"/>
              </a:rPr>
              <a:t>
</a:t>
            </a:r>
            <a:r>
              <a:rPr lang="en-US" sz="850" dirty="0">
                <a:solidFill>
                  <a:srgbClr val="333333"/>
                </a:solidFill>
                <a:latin typeface="Roboto" pitchFamily="34" charset="0"/>
                <a:ea typeface="Roboto" pitchFamily="34" charset="-122"/>
                <a:cs typeface="Roboto" pitchFamily="34" charset="-120"/>
              </a:rPr>
              <a:t>According to GS1: risotto rice.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4"/>
          <p:cNvSpPr>
            <a:spLocks noGrp="1"/>
          </p:cNvSpPr>
          <p:nvPr>
            <p:ph type="title" idx="104" hasCustomPrompt="1"/>
          </p:nvPr>
        </p:nvSpPr>
        <p:spPr>
          <a:xfrm>
            <a:off x="411480" y="384048"/>
            <a:ext cx="8412480" cy="502920"/>
          </a:xfrm>
          <a:prstGeom prst="rect">
            <a:avLst/>
          </a:prstGeom>
          <a:noFill/>
          <a:ln/>
        </p:spPr>
        <p:txBody>
          <a:bodyPr wrap="square" lIns="0" tIns="0" rIns="0" bIns="0" rtlCol="0" anchor="ctr"/>
          <a:lstStyle/>
          <a:p>
            <a:pPr marL="0" indent="0" algn="l">
              <a:buNone/>
            </a:pPr>
            <a:r>
              <a:rPr lang="en-US" sz="2200" b="1" dirty="0">
                <a:solidFill>
                  <a:srgbClr val="2D4D9D"/>
                </a:solidFill>
                <a:latin typeface="Roboto" pitchFamily="34" charset="0"/>
                <a:ea typeface="Roboto" pitchFamily="34" charset="-122"/>
                <a:cs typeface="Roboto" pitchFamily="34" charset="-120"/>
              </a:rPr>
              <a:t>Three sources, one GTIN, one choice</a:t>
            </a:r>
            <a:endParaRPr lang="en-US" sz="2200" dirty="0"/>
          </a:p>
        </p:txBody>
      </p:sp>
      <p:sp>
        <p:nvSpPr>
          <p:cNvPr id="4" name="Text 4"/>
          <p:cNvSpPr>
            <a:spLocks noGrp="1"/>
          </p:cNvSpPr>
          <p:nvPr>
            <p:ph type="body" idx="105" hasCustomPrompt="1"/>
          </p:nvPr>
        </p:nvSpPr>
        <p:spPr>
          <a:xfrm>
            <a:off x="411480" y="886968"/>
            <a:ext cx="8412480" cy="329184"/>
          </a:xfrm>
          <a:prstGeom prst="rect">
            <a:avLst/>
          </a:prstGeom>
          <a:noFill/>
          <a:ln/>
        </p:spPr>
        <p:txBody>
          <a:bodyPr wrap="square" lIns="0" tIns="0" rIns="0" bIns="0" rtlCol="0" anchor="ctr"/>
          <a:lstStyle/>
          <a:p>
            <a:pPr marL="0" indent="0" algn="l">
              <a:buNone/>
            </a:pPr>
            <a:r>
              <a:rPr lang="en-US" sz="1250" dirty="0">
                <a:solidFill>
                  <a:srgbClr val="555555"/>
                </a:solidFill>
                <a:latin typeface="Roboto" pitchFamily="34" charset="0"/>
                <a:ea typeface="Roboto" pitchFamily="34" charset="-122"/>
                <a:cs typeface="Roboto" pitchFamily="34" charset="-120"/>
              </a:rPr>
              <a:t>Same product, three honest answers, and an agent that has to pick one.</a:t>
            </a:r>
            <a:endParaRPr lang="en-US" sz="1250" dirty="0"/>
          </a:p>
        </p:txBody>
      </p:sp>
      <p:sp>
        <p:nvSpPr>
          <p:cNvPr id="5" name="Source: brand.example"/>
          <p:cNvSpPr/>
          <p:nvPr/>
        </p:nvSpPr>
        <p:spPr>
          <a:xfrm>
            <a:off x="411480" y="1371600"/>
            <a:ext cx="2621280" cy="1600200"/>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600"/>
              </a:spcAft>
              <a:buNone/>
            </a:pPr>
            <a:r>
              <a:rPr lang="en-US" sz="850" b="1" dirty="0">
                <a:solidFill>
                  <a:srgbClr val="333333"/>
                </a:solidFill>
                <a:latin typeface="Roboto Mono" pitchFamily="34" charset="0"/>
                <a:ea typeface="Roboto Mono" pitchFamily="34" charset="-122"/>
                <a:cs typeface="Roboto Mono" pitchFamily="34" charset="-120"/>
              </a:rPr>
              <a:t>brand.example
</a:t>
            </a:r>
            <a:r>
              <a:rPr lang="en-US" sz="850" i="1" dirty="0">
                <a:solidFill>
                  <a:srgbClr val="888888"/>
                </a:solidFill>
                <a:latin typeface="Roboto" pitchFamily="34" charset="0"/>
                <a:ea typeface="Roboto" pitchFamily="34" charset="-122"/>
                <a:cs typeface="Roboto" pitchFamily="34" charset="-120"/>
              </a:rPr>
              <a:t>The brand's page
</a:t>
            </a:r>
            <a:r>
              <a:rPr lang="en-US" sz="400" dirty="0">
                <a:solidFill>
                  <a:srgbClr val="555555"/>
                </a:solidFill>
                <a:latin typeface="Roboto" pitchFamily="34" charset="0"/>
                <a:ea typeface="Roboto" pitchFamily="34" charset="-122"/>
                <a:cs typeface="Roboto" pitchFamily="34" charset="-120"/>
              </a:rPr>
              <a:t>
</a:t>
            </a:r>
            <a:r>
              <a:rPr lang="en-US" sz="800" dirty="0">
                <a:solidFill>
                  <a:srgbClr val="888888"/>
                </a:solidFill>
                <a:latin typeface="Roboto Mono" pitchFamily="34" charset="0"/>
                <a:ea typeface="Roboto Mono" pitchFamily="34" charset="-122"/>
                <a:cs typeface="Roboto Mono" pitchFamily="34" charset="-120"/>
              </a:rPr>
              <a:t>netContent   </a:t>
            </a:r>
            <a:r>
              <a:rPr lang="en-US" sz="950" dirty="0">
                <a:solidFill>
                  <a:srgbClr val="333333"/>
                </a:solidFill>
                <a:latin typeface="Roboto" pitchFamily="34" charset="0"/>
                <a:ea typeface="Roboto" pitchFamily="34" charset="-122"/>
                <a:cs typeface="Roboto" pitchFamily="34" charset="-120"/>
              </a:rPr>
              <a:t>411 g
</a:t>
            </a:r>
            <a:r>
              <a:rPr lang="en-US" sz="800" dirty="0">
                <a:solidFill>
                  <a:srgbClr val="888888"/>
                </a:solidFill>
                <a:latin typeface="Roboto Mono" pitchFamily="34" charset="0"/>
                <a:ea typeface="Roboto Mono" pitchFamily="34" charset="-122"/>
                <a:cs typeface="Roboto Mono" pitchFamily="34" charset="-120"/>
              </a:rPr>
              <a:t>allergen   </a:t>
            </a:r>
            <a:r>
              <a:rPr lang="en-US" sz="950" b="1" dirty="0">
                <a:solidFill>
                  <a:srgbClr val="BB1133"/>
                </a:solidFill>
                <a:latin typeface="Roboto" pitchFamily="34" charset="0"/>
                <a:ea typeface="Roboto" pitchFamily="34" charset="-122"/>
                <a:cs typeface="Roboto" pitchFamily="34" charset="-120"/>
              </a:rPr>
              <a:t>may contain milk
</a:t>
            </a:r>
            <a:r>
              <a:rPr lang="en-US" sz="800" dirty="0">
                <a:solidFill>
                  <a:srgbClr val="888888"/>
                </a:solidFill>
                <a:latin typeface="Roboto Mono" pitchFamily="34" charset="0"/>
                <a:ea typeface="Roboto Mono" pitchFamily="34" charset="-122"/>
                <a:cs typeface="Roboto Mono" pitchFamily="34" charset="-120"/>
              </a:rPr>
              <a:t>availability   </a:t>
            </a:r>
            <a:r>
              <a:rPr lang="en-US" sz="950" dirty="0">
                <a:solidFill>
                  <a:srgbClr val="333333"/>
                </a:solidFill>
                <a:latin typeface="Roboto" pitchFamily="34" charset="0"/>
                <a:ea typeface="Roboto" pitchFamily="34" charset="-122"/>
                <a:cs typeface="Roboto" pitchFamily="34" charset="-120"/>
              </a:rPr>
              <a:t>InStock
</a:t>
            </a:r>
            <a:r>
              <a:rPr lang="en-US" sz="800" dirty="0">
                <a:solidFill>
                  <a:srgbClr val="888888"/>
                </a:solidFill>
                <a:latin typeface="Roboto Mono" pitchFamily="34" charset="0"/>
                <a:ea typeface="Roboto Mono" pitchFamily="34" charset="-122"/>
                <a:cs typeface="Roboto Mono" pitchFamily="34" charset="-120"/>
              </a:rPr>
              <a:t>signed   </a:t>
            </a:r>
            <a:r>
              <a:rPr lang="en-US" sz="950" dirty="0">
                <a:solidFill>
                  <a:srgbClr val="333333"/>
                </a:solidFill>
                <a:latin typeface="Roboto" pitchFamily="34" charset="0"/>
                <a:ea typeface="Roboto" pitchFamily="34" charset="-122"/>
                <a:cs typeface="Roboto" pitchFamily="34" charset="-120"/>
              </a:rPr>
              <a:t>no
</a:t>
            </a:r>
            <a:endParaRPr lang="en-US" sz="950" dirty="0"/>
          </a:p>
        </p:txBody>
      </p:sp>
      <p:sp>
        <p:nvSpPr>
          <p:cNvPr id="6" name="Source: shop.example"/>
          <p:cNvSpPr/>
          <p:nvPr/>
        </p:nvSpPr>
        <p:spPr>
          <a:xfrm>
            <a:off x="3261360" y="1371600"/>
            <a:ext cx="2621280" cy="1600200"/>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600"/>
              </a:spcAft>
              <a:buNone/>
            </a:pPr>
            <a:r>
              <a:rPr lang="en-US" sz="850" b="1" dirty="0">
                <a:solidFill>
                  <a:srgbClr val="333333"/>
                </a:solidFill>
                <a:latin typeface="Roboto Mono" pitchFamily="34" charset="0"/>
                <a:ea typeface="Roboto Mono" pitchFamily="34" charset="-122"/>
                <a:cs typeface="Roboto Mono" pitchFamily="34" charset="-120"/>
              </a:rPr>
              <a:t>shop.example
</a:t>
            </a:r>
            <a:r>
              <a:rPr lang="en-US" sz="850" i="1" dirty="0">
                <a:solidFill>
                  <a:srgbClr val="888888"/>
                </a:solidFill>
                <a:latin typeface="Roboto" pitchFamily="34" charset="0"/>
                <a:ea typeface="Roboto" pitchFamily="34" charset="-122"/>
                <a:cs typeface="Roboto" pitchFamily="34" charset="-120"/>
              </a:rPr>
              <a:t>A retailer
</a:t>
            </a:r>
            <a:r>
              <a:rPr lang="en-US" sz="400" dirty="0">
                <a:solidFill>
                  <a:srgbClr val="555555"/>
                </a:solidFill>
                <a:latin typeface="Roboto" pitchFamily="34" charset="0"/>
                <a:ea typeface="Roboto" pitchFamily="34" charset="-122"/>
                <a:cs typeface="Roboto" pitchFamily="34" charset="-120"/>
              </a:rPr>
              <a:t>
</a:t>
            </a:r>
            <a:r>
              <a:rPr lang="en-US" sz="800" dirty="0">
                <a:solidFill>
                  <a:srgbClr val="888888"/>
                </a:solidFill>
                <a:latin typeface="Roboto Mono" pitchFamily="34" charset="0"/>
                <a:ea typeface="Roboto Mono" pitchFamily="34" charset="-122"/>
                <a:cs typeface="Roboto Mono" pitchFamily="34" charset="-120"/>
              </a:rPr>
              <a:t>netContent   </a:t>
            </a:r>
            <a:r>
              <a:rPr lang="en-US" sz="950" b="1" dirty="0">
                <a:solidFill>
                  <a:srgbClr val="BB1133"/>
                </a:solidFill>
                <a:latin typeface="Roboto" pitchFamily="34" charset="0"/>
                <a:ea typeface="Roboto" pitchFamily="34" charset="-122"/>
                <a:cs typeface="Roboto" pitchFamily="34" charset="-120"/>
              </a:rPr>
              <a:t>400 g
</a:t>
            </a:r>
            <a:r>
              <a:rPr lang="en-US" sz="800" dirty="0">
                <a:solidFill>
                  <a:srgbClr val="888888"/>
                </a:solidFill>
                <a:latin typeface="Roboto Mono" pitchFamily="34" charset="0"/>
                <a:ea typeface="Roboto Mono" pitchFamily="34" charset="-122"/>
                <a:cs typeface="Roboto Mono" pitchFamily="34" charset="-120"/>
              </a:rPr>
              <a:t>allergen   </a:t>
            </a:r>
            <a:r>
              <a:rPr lang="en-US" sz="950" b="1" dirty="0">
                <a:solidFill>
                  <a:srgbClr val="BB1133"/>
                </a:solidFill>
                <a:latin typeface="Roboto" pitchFamily="34" charset="0"/>
                <a:ea typeface="Roboto" pitchFamily="34" charset="-122"/>
                <a:cs typeface="Roboto" pitchFamily="34" charset="-120"/>
              </a:rPr>
              <a:t>none listed
</a:t>
            </a:r>
            <a:r>
              <a:rPr lang="en-US" sz="800" dirty="0">
                <a:solidFill>
                  <a:srgbClr val="888888"/>
                </a:solidFill>
                <a:latin typeface="Roboto Mono" pitchFamily="34" charset="0"/>
                <a:ea typeface="Roboto Mono" pitchFamily="34" charset="-122"/>
                <a:cs typeface="Roboto Mono" pitchFamily="34" charset="-120"/>
              </a:rPr>
              <a:t>availability   </a:t>
            </a:r>
            <a:r>
              <a:rPr lang="en-US" sz="950" dirty="0" err="1">
                <a:solidFill>
                  <a:srgbClr val="333333"/>
                </a:solidFill>
                <a:latin typeface="Roboto" pitchFamily="34" charset="0"/>
                <a:ea typeface="Roboto" pitchFamily="34" charset="-122"/>
                <a:cs typeface="Roboto" pitchFamily="34" charset="-120"/>
              </a:rPr>
              <a:t>InStock</a:t>
            </a:r>
            <a:r>
              <a:rPr lang="en-US" sz="950" dirty="0">
                <a:solidFill>
                  <a:srgbClr val="333333"/>
                </a:solidFill>
                <a:latin typeface="Roboto" pitchFamily="34" charset="0"/>
                <a:ea typeface="Roboto" pitchFamily="34" charset="-122"/>
                <a:cs typeface="Roboto" pitchFamily="34" charset="-120"/>
              </a:rPr>
              <a:t>; 6,49 EUR
</a:t>
            </a:r>
            <a:r>
              <a:rPr lang="en-US" sz="800" dirty="0">
                <a:solidFill>
                  <a:srgbClr val="888888"/>
                </a:solidFill>
                <a:latin typeface="Roboto Mono" pitchFamily="34" charset="0"/>
                <a:ea typeface="Roboto Mono" pitchFamily="34" charset="-122"/>
                <a:cs typeface="Roboto Mono" pitchFamily="34" charset="-120"/>
              </a:rPr>
              <a:t>signed   </a:t>
            </a:r>
            <a:r>
              <a:rPr lang="en-US" sz="950" dirty="0">
                <a:solidFill>
                  <a:srgbClr val="333333"/>
                </a:solidFill>
                <a:latin typeface="Roboto" pitchFamily="34" charset="0"/>
                <a:ea typeface="Roboto" pitchFamily="34" charset="-122"/>
                <a:cs typeface="Roboto" pitchFamily="34" charset="-120"/>
              </a:rPr>
              <a:t>yes, retailer key
</a:t>
            </a:r>
            <a:endParaRPr lang="en-US" sz="950" dirty="0"/>
          </a:p>
        </p:txBody>
      </p:sp>
      <p:sp>
        <p:nvSpPr>
          <p:cNvPr id="7" name="Source: productdata.example"/>
          <p:cNvSpPr/>
          <p:nvPr/>
        </p:nvSpPr>
        <p:spPr>
          <a:xfrm>
            <a:off x="6111240" y="1371600"/>
            <a:ext cx="2621280" cy="1600200"/>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600"/>
              </a:spcAft>
              <a:buNone/>
            </a:pPr>
            <a:r>
              <a:rPr lang="en-US" sz="850" b="1" dirty="0">
                <a:solidFill>
                  <a:srgbClr val="333333"/>
                </a:solidFill>
                <a:latin typeface="Roboto Mono" pitchFamily="34" charset="0"/>
                <a:ea typeface="Roboto Mono" pitchFamily="34" charset="-122"/>
                <a:cs typeface="Roboto Mono" pitchFamily="34" charset="-120"/>
              </a:rPr>
              <a:t>productdata.example
</a:t>
            </a:r>
            <a:r>
              <a:rPr lang="en-US" sz="850" i="1" dirty="0">
                <a:solidFill>
                  <a:srgbClr val="888888"/>
                </a:solidFill>
                <a:latin typeface="Roboto" pitchFamily="34" charset="0"/>
                <a:ea typeface="Roboto" pitchFamily="34" charset="-122"/>
                <a:cs typeface="Roboto" pitchFamily="34" charset="-120"/>
              </a:rPr>
              <a:t>A data aggregator
</a:t>
            </a:r>
            <a:r>
              <a:rPr lang="en-US" sz="400" dirty="0">
                <a:solidFill>
                  <a:srgbClr val="555555"/>
                </a:solidFill>
                <a:latin typeface="Roboto" pitchFamily="34" charset="0"/>
                <a:ea typeface="Roboto" pitchFamily="34" charset="-122"/>
                <a:cs typeface="Roboto" pitchFamily="34" charset="-120"/>
              </a:rPr>
              <a:t>
</a:t>
            </a:r>
            <a:r>
              <a:rPr lang="en-US" sz="800" dirty="0">
                <a:solidFill>
                  <a:srgbClr val="888888"/>
                </a:solidFill>
                <a:latin typeface="Roboto Mono" pitchFamily="34" charset="0"/>
                <a:ea typeface="Roboto Mono" pitchFamily="34" charset="-122"/>
                <a:cs typeface="Roboto Mono" pitchFamily="34" charset="-120"/>
              </a:rPr>
              <a:t>netContent   </a:t>
            </a:r>
            <a:r>
              <a:rPr lang="en-US" sz="950" dirty="0">
                <a:solidFill>
                  <a:srgbClr val="333333"/>
                </a:solidFill>
                <a:latin typeface="Roboto" pitchFamily="34" charset="0"/>
                <a:ea typeface="Roboto" pitchFamily="34" charset="-122"/>
                <a:cs typeface="Roboto" pitchFamily="34" charset="-120"/>
              </a:rPr>
              <a:t>411 g
</a:t>
            </a:r>
            <a:r>
              <a:rPr lang="en-US" sz="800" dirty="0">
                <a:solidFill>
                  <a:srgbClr val="888888"/>
                </a:solidFill>
                <a:latin typeface="Roboto Mono" pitchFamily="34" charset="0"/>
                <a:ea typeface="Roboto Mono" pitchFamily="34" charset="-122"/>
                <a:cs typeface="Roboto Mono" pitchFamily="34" charset="-120"/>
              </a:rPr>
              <a:t>allergen   </a:t>
            </a:r>
            <a:r>
              <a:rPr lang="en-US" sz="950" b="1" dirty="0">
                <a:solidFill>
                  <a:srgbClr val="BB1133"/>
                </a:solidFill>
                <a:latin typeface="Roboto" pitchFamily="34" charset="0"/>
                <a:ea typeface="Roboto" pitchFamily="34" charset="-122"/>
                <a:cs typeface="Roboto" pitchFamily="34" charset="-120"/>
              </a:rPr>
              <a:t>contains celery
</a:t>
            </a:r>
            <a:r>
              <a:rPr lang="en-US" sz="800" dirty="0">
                <a:solidFill>
                  <a:srgbClr val="888888"/>
                </a:solidFill>
                <a:latin typeface="Roboto Mono" pitchFamily="34" charset="0"/>
                <a:ea typeface="Roboto Mono" pitchFamily="34" charset="-122"/>
                <a:cs typeface="Roboto Mono" pitchFamily="34" charset="-120"/>
              </a:rPr>
              <a:t>availability   </a:t>
            </a:r>
            <a:r>
              <a:rPr lang="en-US" sz="950" b="1" dirty="0">
                <a:solidFill>
                  <a:srgbClr val="BB1133"/>
                </a:solidFill>
                <a:latin typeface="Roboto" pitchFamily="34" charset="0"/>
                <a:ea typeface="Roboto" pitchFamily="34" charset="-122"/>
                <a:cs typeface="Roboto" pitchFamily="34" charset="-120"/>
              </a:rPr>
              <a:t>Discontinued
</a:t>
            </a:r>
            <a:r>
              <a:rPr lang="en-US" sz="800" dirty="0">
                <a:solidFill>
                  <a:srgbClr val="888888"/>
                </a:solidFill>
                <a:latin typeface="Roboto Mono" pitchFamily="34" charset="0"/>
                <a:ea typeface="Roboto Mono" pitchFamily="34" charset="-122"/>
                <a:cs typeface="Roboto Mono" pitchFamily="34" charset="-120"/>
              </a:rPr>
              <a:t>signed   </a:t>
            </a:r>
            <a:r>
              <a:rPr lang="en-US" sz="950" dirty="0">
                <a:solidFill>
                  <a:srgbClr val="333333"/>
                </a:solidFill>
                <a:latin typeface="Roboto" pitchFamily="34" charset="0"/>
                <a:ea typeface="Roboto" pitchFamily="34" charset="-122"/>
                <a:cs typeface="Roboto" pitchFamily="34" charset="-120"/>
              </a:rPr>
              <a:t>no
</a:t>
            </a:r>
            <a:endParaRPr lang="en-US" sz="950" dirty="0"/>
          </a:p>
        </p:txBody>
      </p:sp>
      <p:sp>
        <p:nvSpPr>
          <p:cNvPr id="8" name="Agent today"/>
          <p:cNvSpPr/>
          <p:nvPr/>
        </p:nvSpPr>
        <p:spPr>
          <a:xfrm>
            <a:off x="3032760" y="3799332"/>
            <a:ext cx="5699760" cy="960120"/>
          </a:xfrm>
          <a:prstGeom prst="rect">
            <a:avLst/>
          </a:prstGeom>
          <a:solidFill>
            <a:srgbClr val="EEF1F8"/>
          </a:solidFill>
          <a:ln w="19050">
            <a:solidFill>
              <a:srgbClr val="2D4D9D"/>
            </a:solidFill>
          </a:ln>
        </p:spPr>
        <p:txBody>
          <a:bodyPr wrap="square" lIns="101600" tIns="127000" rIns="127000" bIns="101600" rtlCol="0" anchor="t"/>
          <a:lstStyle/>
          <a:p>
            <a:pPr marL="0" indent="0">
              <a:spcAft>
                <a:spcPts val="600"/>
              </a:spcAft>
              <a:buNone/>
            </a:pPr>
            <a:r>
              <a:rPr lang="en-US" sz="750" b="1" kern="0" spc="150" dirty="0">
                <a:solidFill>
                  <a:srgbClr val="2D4D9D"/>
                </a:solidFill>
                <a:latin typeface="Roboto" pitchFamily="34" charset="0"/>
                <a:ea typeface="Roboto" pitchFamily="34" charset="-122"/>
                <a:cs typeface="Roboto" pitchFamily="34" charset="-120"/>
              </a:rPr>
              <a:t>WHAT AN AGENT MAY DO TODAY
</a:t>
            </a:r>
            <a:r>
              <a:rPr lang="en-US" sz="1000" dirty="0">
                <a:solidFill>
                  <a:srgbClr val="333333"/>
                </a:solidFill>
                <a:latin typeface="Roboto" pitchFamily="34" charset="0"/>
                <a:ea typeface="Roboto" pitchFamily="34" charset="-122"/>
                <a:cs typeface="Roboto" pitchFamily="34" charset="-120"/>
              </a:rPr>
              <a:t>Pick one, by ranking, by recency, by whoever has the richest markup. Signatures would not help; all three could sign.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4"/>
          <p:cNvSpPr>
            <a:spLocks noGrp="1"/>
          </p:cNvSpPr>
          <p:nvPr>
            <p:ph type="title" idx="104" hasCustomPrompt="1"/>
          </p:nvPr>
        </p:nvSpPr>
        <p:spPr>
          <a:xfrm>
            <a:off x="411480" y="384048"/>
            <a:ext cx="8412480" cy="502920"/>
          </a:xfrm>
          <a:prstGeom prst="rect">
            <a:avLst/>
          </a:prstGeom>
          <a:noFill/>
          <a:ln/>
        </p:spPr>
        <p:txBody>
          <a:bodyPr wrap="square" lIns="0" tIns="0" rIns="0" bIns="0" rtlCol="0" anchor="ctr"/>
          <a:lstStyle/>
          <a:p>
            <a:pPr marL="0" indent="0" algn="l">
              <a:buNone/>
            </a:pPr>
            <a:r>
              <a:rPr lang="en-US" sz="2200" b="1" dirty="0">
                <a:solidFill>
                  <a:srgbClr val="2D4D9D"/>
                </a:solidFill>
                <a:latin typeface="Roboto" pitchFamily="34" charset="0"/>
                <a:ea typeface="Roboto" pitchFamily="34" charset="-122"/>
                <a:cs typeface="Roboto" pitchFamily="34" charset="-120"/>
              </a:rPr>
              <a:t>Where. Who signed. Who may.</a:t>
            </a:r>
            <a:endParaRPr lang="en-US" sz="2200" dirty="0"/>
          </a:p>
        </p:txBody>
      </p:sp>
      <p:sp>
        <p:nvSpPr>
          <p:cNvPr id="4" name="Text 4"/>
          <p:cNvSpPr>
            <a:spLocks noGrp="1"/>
          </p:cNvSpPr>
          <p:nvPr>
            <p:ph type="body" idx="105" hasCustomPrompt="1"/>
          </p:nvPr>
        </p:nvSpPr>
        <p:spPr>
          <a:xfrm>
            <a:off x="411480" y="886968"/>
            <a:ext cx="8412480" cy="329184"/>
          </a:xfrm>
          <a:prstGeom prst="rect">
            <a:avLst/>
          </a:prstGeom>
          <a:noFill/>
          <a:ln/>
        </p:spPr>
        <p:txBody>
          <a:bodyPr wrap="square" lIns="0" tIns="0" rIns="0" bIns="0" rtlCol="0" anchor="ctr"/>
          <a:lstStyle/>
          <a:p>
            <a:pPr marL="0" indent="0" algn="l">
              <a:buNone/>
            </a:pPr>
            <a:r>
              <a:rPr lang="en-US" sz="1250" dirty="0">
                <a:solidFill>
                  <a:srgbClr val="555555"/>
                </a:solidFill>
                <a:latin typeface="Roboto" pitchFamily="34" charset="0"/>
                <a:ea typeface="Roboto" pitchFamily="34" charset="-122"/>
                <a:cs typeface="Roboto" pitchFamily="34" charset="-120"/>
              </a:rPr>
              <a:t>Every statement has a speaker, a subject and a content. Today we can verify the speaker.</a:t>
            </a:r>
            <a:endParaRPr lang="en-US" sz="1250" dirty="0"/>
          </a:p>
        </p:txBody>
      </p:sp>
      <p:sp>
        <p:nvSpPr>
          <p:cNvPr id="5" name="Card: Resolution"/>
          <p:cNvSpPr/>
          <p:nvPr/>
        </p:nvSpPr>
        <p:spPr>
          <a:xfrm>
            <a:off x="411480" y="1371600"/>
            <a:ext cx="2621280" cy="2468880"/>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600"/>
              </a:spcAft>
              <a:buNone/>
            </a:pPr>
            <a:r>
              <a:rPr lang="en-US" sz="750" b="1" kern="0" spc="150" dirty="0">
                <a:solidFill>
                  <a:srgbClr val="888888"/>
                </a:solidFill>
                <a:latin typeface="Roboto" pitchFamily="34" charset="0"/>
                <a:ea typeface="Roboto" pitchFamily="34" charset="-122"/>
                <a:cs typeface="Roboto" pitchFamily="34" charset="-120"/>
              </a:rPr>
              <a:t>RESOLUTION
</a:t>
            </a:r>
            <a:r>
              <a:rPr lang="en-US" sz="1500" b="1" dirty="0">
                <a:solidFill>
                  <a:srgbClr val="333333"/>
                </a:solidFill>
                <a:latin typeface="Roboto" pitchFamily="34" charset="0"/>
                <a:ea typeface="Roboto" pitchFamily="34" charset="-122"/>
                <a:cs typeface="Roboto" pitchFamily="34" charset="-120"/>
              </a:rPr>
              <a:t>Where is the data?
</a:t>
            </a:r>
            <a:r>
              <a:rPr lang="en-US" sz="400" dirty="0">
                <a:solidFill>
                  <a:srgbClr val="555555"/>
                </a:solidFill>
                <a:latin typeface="Roboto" pitchFamily="34" charset="0"/>
                <a:ea typeface="Roboto" pitchFamily="34" charset="-122"/>
                <a:cs typeface="Roboto" pitchFamily="34" charset="-120"/>
              </a:rPr>
              <a:t>
</a:t>
            </a:r>
            <a:r>
              <a:rPr lang="en-US" sz="1100" dirty="0">
                <a:solidFill>
                  <a:srgbClr val="555555"/>
                </a:solidFill>
                <a:latin typeface="Roboto" pitchFamily="34" charset="0"/>
                <a:ea typeface="Roboto" pitchFamily="34" charset="-122"/>
                <a:cs typeface="Roboto" pitchFamily="34" charset="-120"/>
              </a:rPr>
              <a:t>Digital Link resolves the GTIN to a </a:t>
            </a:r>
            <a:r>
              <a:rPr lang="en-US" sz="1100" dirty="0" err="1">
                <a:solidFill>
                  <a:srgbClr val="555555"/>
                </a:solidFill>
                <a:latin typeface="Roboto" pitchFamily="34" charset="0"/>
                <a:ea typeface="Roboto" pitchFamily="34" charset="-122"/>
                <a:cs typeface="Roboto" pitchFamily="34" charset="-120"/>
              </a:rPr>
              <a:t>linkset</a:t>
            </a:r>
            <a:r>
              <a:rPr lang="en-US" sz="1100" dirty="0">
                <a:solidFill>
                  <a:srgbClr val="555555"/>
                </a:solidFill>
                <a:latin typeface="Roboto" pitchFamily="34" charset="0"/>
                <a:ea typeface="Roboto" pitchFamily="34" charset="-122"/>
                <a:cs typeface="Roboto" pitchFamily="34" charset="-120"/>
              </a:rPr>
              <a:t>. Any domain will do.
</a:t>
            </a:r>
            <a:r>
              <a:rPr lang="en-US" sz="400" dirty="0">
                <a:solidFill>
                  <a:srgbClr val="555555"/>
                </a:solidFill>
                <a:latin typeface="Roboto" pitchFamily="34" charset="0"/>
                <a:ea typeface="Roboto" pitchFamily="34" charset="-122"/>
                <a:cs typeface="Roboto" pitchFamily="34" charset="-120"/>
              </a:rPr>
              <a:t>
</a:t>
            </a:r>
            <a:r>
              <a:rPr lang="en-US" sz="800" dirty="0">
                <a:solidFill>
                  <a:srgbClr val="333333"/>
                </a:solidFill>
                <a:latin typeface="Roboto Mono" pitchFamily="34" charset="0"/>
                <a:ea typeface="Roboto Mono" pitchFamily="34" charset="-122"/>
                <a:cs typeface="Roboto Mono" pitchFamily="34" charset="-120"/>
              </a:rPr>
              <a:t>attacker.example/01/09506000134352  → resolves</a:t>
            </a:r>
            <a:endParaRPr lang="en-US" sz="950" dirty="0"/>
          </a:p>
        </p:txBody>
      </p:sp>
      <p:sp>
        <p:nvSpPr>
          <p:cNvPr id="6" name="Card: Verification"/>
          <p:cNvSpPr/>
          <p:nvPr/>
        </p:nvSpPr>
        <p:spPr>
          <a:xfrm>
            <a:off x="3261360" y="1371600"/>
            <a:ext cx="2621280" cy="2468880"/>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600"/>
              </a:spcAft>
              <a:buNone/>
            </a:pPr>
            <a:r>
              <a:rPr lang="en-US" sz="750" b="1" kern="0" spc="150" dirty="0">
                <a:solidFill>
                  <a:srgbClr val="888888"/>
                </a:solidFill>
                <a:latin typeface="Roboto" pitchFamily="34" charset="0"/>
                <a:ea typeface="Roboto" pitchFamily="34" charset="-122"/>
                <a:cs typeface="Roboto" pitchFamily="34" charset="-120"/>
              </a:rPr>
              <a:t>VERIFICATION
</a:t>
            </a:r>
            <a:r>
              <a:rPr lang="en-US" sz="1500" b="1" dirty="0">
                <a:solidFill>
                  <a:srgbClr val="333333"/>
                </a:solidFill>
                <a:latin typeface="Roboto" pitchFamily="34" charset="0"/>
                <a:ea typeface="Roboto" pitchFamily="34" charset="-122"/>
                <a:cs typeface="Roboto" pitchFamily="34" charset="-120"/>
              </a:rPr>
              <a:t>Who signed it?
</a:t>
            </a:r>
            <a:r>
              <a:rPr lang="en-US" sz="400" dirty="0">
                <a:solidFill>
                  <a:srgbClr val="555555"/>
                </a:solidFill>
                <a:latin typeface="Roboto" pitchFamily="34" charset="0"/>
                <a:ea typeface="Roboto" pitchFamily="34" charset="-122"/>
                <a:cs typeface="Roboto" pitchFamily="34" charset="-120"/>
              </a:rPr>
              <a:t>
</a:t>
            </a:r>
            <a:r>
              <a:rPr lang="en-US" sz="1100" dirty="0">
                <a:solidFill>
                  <a:srgbClr val="555555"/>
                </a:solidFill>
                <a:latin typeface="Roboto" pitchFamily="34" charset="0"/>
                <a:ea typeface="Roboto" pitchFamily="34" charset="-122"/>
                <a:cs typeface="Roboto" pitchFamily="34" charset="-120"/>
              </a:rPr>
              <a:t>The verifier proves the signature, an identity anchor proves the issuer. Neither mentions the GTIN.
</a:t>
            </a:r>
            <a:r>
              <a:rPr lang="en-US" sz="400" dirty="0">
                <a:solidFill>
                  <a:srgbClr val="555555"/>
                </a:solidFill>
                <a:latin typeface="Roboto" pitchFamily="34" charset="0"/>
                <a:ea typeface="Roboto" pitchFamily="34" charset="-122"/>
                <a:cs typeface="Roboto" pitchFamily="34" charset="-120"/>
              </a:rPr>
              <a:t>
</a:t>
            </a:r>
            <a:r>
              <a:rPr lang="en-US" sz="800" dirty="0">
                <a:solidFill>
                  <a:srgbClr val="333333"/>
                </a:solidFill>
                <a:latin typeface="Roboto Mono" pitchFamily="34" charset="0"/>
                <a:ea typeface="Roboto Mono" pitchFamily="34" charset="-122"/>
                <a:cs typeface="Roboto Mono" pitchFamily="34" charset="-120"/>
              </a:rPr>
              <a:t>did:key:z6Mk…  → signature valid</a:t>
            </a:r>
            <a:endParaRPr lang="en-US" sz="950" dirty="0"/>
          </a:p>
        </p:txBody>
      </p:sp>
      <p:sp>
        <p:nvSpPr>
          <p:cNvPr id="7" name="Card: Authority"/>
          <p:cNvSpPr/>
          <p:nvPr/>
        </p:nvSpPr>
        <p:spPr>
          <a:xfrm>
            <a:off x="6111240" y="1371600"/>
            <a:ext cx="2621280" cy="2468880"/>
          </a:xfrm>
          <a:prstGeom prst="rect">
            <a:avLst/>
          </a:prstGeom>
          <a:solidFill>
            <a:srgbClr val="EEF1F8"/>
          </a:solidFill>
          <a:ln w="19050">
            <a:solidFill>
              <a:srgbClr val="2D4D9D"/>
            </a:solidFill>
          </a:ln>
        </p:spPr>
        <p:txBody>
          <a:bodyPr wrap="square" lIns="101600" tIns="127000" rIns="127000" bIns="101600" rtlCol="0" anchor="t"/>
          <a:lstStyle/>
          <a:p>
            <a:pPr marL="0" indent="0">
              <a:spcAft>
                <a:spcPts val="600"/>
              </a:spcAft>
              <a:buNone/>
            </a:pPr>
            <a:r>
              <a:rPr lang="en-US" sz="750" b="1" kern="0" spc="150" dirty="0">
                <a:solidFill>
                  <a:srgbClr val="2D4D9D"/>
                </a:solidFill>
                <a:latin typeface="Roboto" pitchFamily="34" charset="0"/>
                <a:ea typeface="Roboto" pitchFamily="34" charset="-122"/>
                <a:cs typeface="Roboto" pitchFamily="34" charset="-120"/>
              </a:rPr>
              <a:t>AUTHORITY
</a:t>
            </a:r>
            <a:r>
              <a:rPr lang="en-US" sz="1500" b="1" dirty="0">
                <a:solidFill>
                  <a:srgbClr val="2D4D9D"/>
                </a:solidFill>
                <a:latin typeface="Roboto" pitchFamily="34" charset="0"/>
                <a:ea typeface="Roboto" pitchFamily="34" charset="-122"/>
                <a:cs typeface="Roboto" pitchFamily="34" charset="-120"/>
              </a:rPr>
              <a:t>May the signer speak about this GTIN? And may it say this?
</a:t>
            </a:r>
            <a:r>
              <a:rPr lang="en-US" sz="400" dirty="0">
                <a:solidFill>
                  <a:srgbClr val="555555"/>
                </a:solidFill>
                <a:latin typeface="Roboto" pitchFamily="34" charset="0"/>
                <a:ea typeface="Roboto" pitchFamily="34" charset="-122"/>
                <a:cs typeface="Roboto" pitchFamily="34" charset="-120"/>
              </a:rPr>
              <a:t>
</a:t>
            </a:r>
            <a:r>
              <a:rPr lang="en-US" sz="1100" dirty="0">
                <a:solidFill>
                  <a:srgbClr val="555555"/>
                </a:solidFill>
                <a:latin typeface="Roboto" pitchFamily="34" charset="0"/>
                <a:ea typeface="Roboto" pitchFamily="34" charset="-122"/>
                <a:cs typeface="Roboto" pitchFamily="34" charset="-120"/>
              </a:rPr>
              <a:t>GS1 knows the holder. Whether the agent ever gets there depends on the printed host. And nothing anywhere says what a party is entitled to say.
</a:t>
            </a:r>
            <a:r>
              <a:rPr lang="en-US" sz="400" dirty="0">
                <a:solidFill>
                  <a:srgbClr val="555555"/>
                </a:solidFill>
                <a:latin typeface="Roboto" pitchFamily="34" charset="0"/>
                <a:ea typeface="Roboto" pitchFamily="34" charset="-122"/>
                <a:cs typeface="Roboto" pitchFamily="34" charset="-120"/>
              </a:rPr>
              <a:t>
</a:t>
            </a:r>
            <a:r>
              <a:rPr lang="en-US" sz="800" dirty="0">
                <a:solidFill>
                  <a:srgbClr val="2D4D9D"/>
                </a:solidFill>
                <a:latin typeface="Roboto Mono" pitchFamily="34" charset="0"/>
                <a:ea typeface="Roboto Mono" pitchFamily="34" charset="-122"/>
                <a:cs typeface="Roboto Mono" pitchFamily="34" charset="-120"/>
              </a:rPr>
              <a:t>speaker  → ?  → subject  → ?  → statement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4"/>
          <p:cNvSpPr>
            <a:spLocks noGrp="1"/>
          </p:cNvSpPr>
          <p:nvPr>
            <p:ph type="title" idx="104" hasCustomPrompt="1"/>
          </p:nvPr>
        </p:nvSpPr>
        <p:spPr>
          <a:xfrm>
            <a:off x="411480" y="384048"/>
            <a:ext cx="8412480" cy="502920"/>
          </a:xfrm>
          <a:prstGeom prst="rect">
            <a:avLst/>
          </a:prstGeom>
          <a:noFill/>
          <a:ln/>
        </p:spPr>
        <p:txBody>
          <a:bodyPr wrap="square" lIns="0" tIns="0" rIns="0" bIns="0" rtlCol="0" anchor="ctr"/>
          <a:lstStyle/>
          <a:p>
            <a:pPr marL="0" indent="0" algn="l">
              <a:buNone/>
            </a:pPr>
            <a:r>
              <a:rPr lang="en-US" sz="2200" b="1" dirty="0">
                <a:solidFill>
                  <a:srgbClr val="2D4D9D"/>
                </a:solidFill>
                <a:latin typeface="Roboto" pitchFamily="34" charset="0"/>
                <a:ea typeface="Roboto" pitchFamily="34" charset="-122"/>
                <a:cs typeface="Roboto" pitchFamily="34" charset="-120"/>
              </a:rPr>
              <a:t>Many parties speak about one product</a:t>
            </a:r>
            <a:endParaRPr lang="en-US" sz="2200" dirty="0"/>
          </a:p>
        </p:txBody>
      </p:sp>
      <p:sp>
        <p:nvSpPr>
          <p:cNvPr id="4" name="Text 4"/>
          <p:cNvSpPr>
            <a:spLocks noGrp="1"/>
          </p:cNvSpPr>
          <p:nvPr>
            <p:ph type="body" idx="105" hasCustomPrompt="1"/>
          </p:nvPr>
        </p:nvSpPr>
        <p:spPr>
          <a:xfrm>
            <a:off x="411480" y="886968"/>
            <a:ext cx="8412480" cy="329184"/>
          </a:xfrm>
          <a:prstGeom prst="rect">
            <a:avLst/>
          </a:prstGeom>
          <a:noFill/>
          <a:ln/>
        </p:spPr>
        <p:txBody>
          <a:bodyPr wrap="square" lIns="0" tIns="0" rIns="0" bIns="0" rtlCol="0" anchor="ctr"/>
          <a:lstStyle/>
          <a:p>
            <a:pPr marL="0" indent="0" algn="l">
              <a:buNone/>
            </a:pPr>
            <a:r>
              <a:rPr lang="en-US" sz="1250" dirty="0">
                <a:solidFill>
                  <a:srgbClr val="555555"/>
                </a:solidFill>
                <a:latin typeface="Roboto" pitchFamily="34" charset="0"/>
                <a:ea typeface="Roboto" pitchFamily="34" charset="-122"/>
                <a:cs typeface="Roboto" pitchFamily="34" charset="-120"/>
              </a:rPr>
              <a:t>Each is legitimate for its part. An agent cannot tell which part is whose.</a:t>
            </a:r>
            <a:endParaRPr lang="en-US" sz="1250" dirty="0"/>
          </a:p>
        </p:txBody>
      </p:sp>
      <p:graphicFrame>
        <p:nvGraphicFramePr>
          <p:cNvPr id="8" name="Parties table"/>
          <p:cNvGraphicFramePr>
            <a:graphicFrameLocks noGrp="1"/>
          </p:cNvGraphicFramePr>
          <p:nvPr>
            <p:extLst>
              <p:ext uri="{D42A27DB-BD31-4B8C-83A1-F6EECF244321}">
                <p14:modId xmlns:p14="http://schemas.microsoft.com/office/powerpoint/2010/main" val="1579011935"/>
              </p:ext>
            </p:extLst>
          </p:nvPr>
        </p:nvGraphicFramePr>
        <p:xfrm>
          <a:off x="411480" y="1371600"/>
          <a:ext cx="5577840" cy="1670304"/>
        </p:xfrm>
        <a:graphic>
          <a:graphicData uri="http://schemas.openxmlformats.org/drawingml/2006/table">
            <a:tbl>
              <a:tblPr/>
              <a:tblGrid>
                <a:gridCol w="13716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29184">
                <a:tc>
                  <a:txBody>
                    <a:bodyPr/>
                    <a:lstStyle/>
                    <a:p>
                      <a:pPr marL="0" indent="0">
                        <a:buNone/>
                      </a:pPr>
                      <a:r>
                        <a:rPr lang="en-US" sz="750" b="1" kern="0" spc="150" dirty="0">
                          <a:solidFill>
                            <a:srgbClr val="FFFFFF"/>
                          </a:solidFill>
                          <a:latin typeface="Roboto" pitchFamily="34" charset="0"/>
                          <a:ea typeface="Roboto" pitchFamily="34" charset="-122"/>
                          <a:cs typeface="Roboto" pitchFamily="34" charset="-120"/>
                        </a:rPr>
                        <a:t>PARTY</a:t>
                      </a:r>
                      <a:endParaRPr lang="en-US" sz="750" dirty="0">
                        <a:latin typeface="Roboto" charset="0"/>
                        <a:ea typeface="Roboto" charset="0"/>
                        <a:cs typeface="Robot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333333"/>
                    </a:solidFill>
                  </a:tcPr>
                </a:tc>
                <a:tc>
                  <a:txBody>
                    <a:bodyPr/>
                    <a:lstStyle/>
                    <a:p>
                      <a:pPr marL="0" indent="0">
                        <a:buNone/>
                      </a:pPr>
                      <a:r>
                        <a:rPr lang="en-US" sz="750" b="1" kern="0" spc="150" dirty="0">
                          <a:solidFill>
                            <a:srgbClr val="FFFFFF"/>
                          </a:solidFill>
                          <a:latin typeface="Roboto" pitchFamily="34" charset="0"/>
                          <a:ea typeface="Roboto" pitchFamily="34" charset="-122"/>
                          <a:cs typeface="Roboto" pitchFamily="34" charset="-120"/>
                        </a:rPr>
                        <a:t>SAYS</a:t>
                      </a:r>
                      <a:endParaRPr lang="en-US" sz="750" dirty="0">
                        <a:latin typeface="Roboto" charset="0"/>
                        <a:ea typeface="Roboto" charset="0"/>
                        <a:cs typeface="Robot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333333"/>
                    </a:solidFill>
                  </a:tcPr>
                </a:tc>
                <a:tc>
                  <a:txBody>
                    <a:bodyPr/>
                    <a:lstStyle/>
                    <a:p>
                      <a:pPr marL="0" indent="0">
                        <a:buNone/>
                      </a:pPr>
                      <a:r>
                        <a:rPr lang="en-US" sz="750" b="1" kern="0" spc="150" dirty="0">
                          <a:solidFill>
                            <a:srgbClr val="FFFFFF"/>
                          </a:solidFill>
                          <a:latin typeface="Roboto" pitchFamily="34" charset="0"/>
                          <a:ea typeface="Roboto" pitchFamily="34" charset="-122"/>
                          <a:cs typeface="Roboto" pitchFamily="34" charset="-120"/>
                        </a:rPr>
                        <a:t>AS EPCIS EVENT</a:t>
                      </a:r>
                      <a:endParaRPr lang="en-US" sz="750" dirty="0">
                        <a:latin typeface="Roboto" charset="0"/>
                        <a:ea typeface="Roboto" charset="0"/>
                        <a:cs typeface="Robot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333333"/>
                    </a:solidFill>
                  </a:tcPr>
                </a:tc>
                <a:extLst>
                  <a:ext uri="{0D108BD9-81ED-4DB2-BD59-A6C34878D82A}">
                    <a16:rowId xmlns:a16="http://schemas.microsoft.com/office/drawing/2014/main" val="10000"/>
                  </a:ext>
                </a:extLst>
              </a:tr>
              <a:tr h="329184">
                <a:tc>
                  <a:txBody>
                    <a:bodyPr/>
                    <a:lstStyle/>
                    <a:p>
                      <a:pPr marL="0" indent="0">
                        <a:buNone/>
                      </a:pPr>
                      <a:r>
                        <a:rPr lang="en-US" sz="950" b="1" dirty="0">
                          <a:solidFill>
                            <a:srgbClr val="333333"/>
                          </a:solidFill>
                          <a:latin typeface="Roboto" pitchFamily="34" charset="0"/>
                          <a:ea typeface="Roboto" pitchFamily="34" charset="-122"/>
                          <a:cs typeface="Roboto" pitchFamily="34" charset="-120"/>
                        </a:rPr>
                        <a:t>Manufacturer</a:t>
                      </a:r>
                      <a:endParaRPr lang="en-US" sz="950" dirty="0">
                        <a:latin typeface="Roboto" charset="0"/>
                        <a:ea typeface="Roboto" charset="0"/>
                        <a:cs typeface="Robot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dirty="0">
                          <a:solidFill>
                            <a:srgbClr val="555555"/>
                          </a:solidFill>
                          <a:latin typeface="Roboto" pitchFamily="34" charset="0"/>
                          <a:ea typeface="Roboto" pitchFamily="34" charset="-122"/>
                          <a:cs typeface="Roboto" pitchFamily="34" charset="-120"/>
                        </a:rPr>
                        <a:t>made it, packed it, shipped it</a:t>
                      </a:r>
                      <a:endParaRPr lang="en-US" sz="950" dirty="0">
                        <a:latin typeface="Roboto" charset="0"/>
                        <a:ea typeface="Roboto" charset="0"/>
                        <a:cs typeface="Robot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800" dirty="0">
                          <a:solidFill>
                            <a:srgbClr val="555555"/>
                          </a:solidFill>
                          <a:latin typeface="Roboto Mono" pitchFamily="34" charset="0"/>
                          <a:ea typeface="Roboto Mono" pitchFamily="34" charset="-122"/>
                          <a:cs typeface="Roboto Mono" pitchFamily="34" charset="-120"/>
                        </a:rPr>
                        <a:t>commissioning · packing · shipping</a:t>
                      </a:r>
                      <a:endParaRPr lang="en-US" sz="800" dirty="0">
                        <a:latin typeface="Roboto Mono" charset="0"/>
                        <a:ea typeface="Roboto Mono" charset="0"/>
                        <a:cs typeface="Roboto Mon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950" b="1" dirty="0">
                          <a:solidFill>
                            <a:srgbClr val="333333"/>
                          </a:solidFill>
                          <a:latin typeface="Roboto" pitchFamily="34" charset="0"/>
                          <a:ea typeface="Roboto" pitchFamily="34" charset="-122"/>
                          <a:cs typeface="Roboto" pitchFamily="34" charset="-120"/>
                        </a:rPr>
                        <a:t>Shipper</a:t>
                      </a:r>
                      <a:endParaRPr lang="en-US" sz="950" dirty="0">
                        <a:latin typeface="Roboto" charset="0"/>
                        <a:ea typeface="Roboto" charset="0"/>
                        <a:cs typeface="Robot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0F2F5"/>
                    </a:solidFill>
                  </a:tcPr>
                </a:tc>
                <a:tc>
                  <a:txBody>
                    <a:bodyPr/>
                    <a:lstStyle/>
                    <a:p>
                      <a:pPr marL="0" indent="0">
                        <a:buNone/>
                      </a:pPr>
                      <a:r>
                        <a:rPr lang="en-US" sz="950" dirty="0">
                          <a:solidFill>
                            <a:srgbClr val="555555"/>
                          </a:solidFill>
                          <a:latin typeface="Roboto" pitchFamily="34" charset="0"/>
                          <a:ea typeface="Roboto" pitchFamily="34" charset="-122"/>
                          <a:cs typeface="Roboto" pitchFamily="34" charset="-120"/>
                        </a:rPr>
                        <a:t>moved it</a:t>
                      </a:r>
                      <a:endParaRPr lang="en-US" sz="950" dirty="0">
                        <a:latin typeface="Roboto" charset="0"/>
                        <a:ea typeface="Roboto" charset="0"/>
                        <a:cs typeface="Robot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0F2F5"/>
                    </a:solidFill>
                  </a:tcPr>
                </a:tc>
                <a:tc>
                  <a:txBody>
                    <a:bodyPr/>
                    <a:lstStyle/>
                    <a:p>
                      <a:pPr marL="0" indent="0">
                        <a:buNone/>
                      </a:pPr>
                      <a:r>
                        <a:rPr lang="en-US" sz="800" dirty="0">
                          <a:solidFill>
                            <a:srgbClr val="555555"/>
                          </a:solidFill>
                          <a:latin typeface="Roboto Mono" pitchFamily="34" charset="0"/>
                          <a:ea typeface="Roboto Mono" pitchFamily="34" charset="-122"/>
                          <a:cs typeface="Roboto Mono" pitchFamily="34" charset="-120"/>
                        </a:rPr>
                        <a:t>receiving · transporting · shipping</a:t>
                      </a:r>
                      <a:endParaRPr lang="en-US" sz="800" dirty="0">
                        <a:latin typeface="Roboto Mono" charset="0"/>
                        <a:ea typeface="Roboto Mono" charset="0"/>
                        <a:cs typeface="Roboto Mon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0F2F5"/>
                    </a:solidFill>
                  </a:tcPr>
                </a:tc>
                <a:extLst>
                  <a:ext uri="{0D108BD9-81ED-4DB2-BD59-A6C34878D82A}">
                    <a16:rowId xmlns:a16="http://schemas.microsoft.com/office/drawing/2014/main" val="10002"/>
                  </a:ext>
                </a:extLst>
              </a:tr>
              <a:tr h="329184">
                <a:tc>
                  <a:txBody>
                    <a:bodyPr/>
                    <a:lstStyle/>
                    <a:p>
                      <a:pPr marL="0" indent="0">
                        <a:buNone/>
                      </a:pPr>
                      <a:r>
                        <a:rPr lang="en-US" sz="950" b="1" dirty="0">
                          <a:solidFill>
                            <a:srgbClr val="333333"/>
                          </a:solidFill>
                          <a:latin typeface="Roboto" pitchFamily="34" charset="0"/>
                          <a:ea typeface="Roboto" pitchFamily="34" charset="-122"/>
                          <a:cs typeface="Roboto" pitchFamily="34" charset="-120"/>
                        </a:rPr>
                        <a:t>Retailer</a:t>
                      </a:r>
                      <a:endParaRPr lang="en-US" sz="950" dirty="0">
                        <a:latin typeface="Roboto" charset="0"/>
                        <a:ea typeface="Roboto" charset="0"/>
                        <a:cs typeface="Robot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950" dirty="0">
                          <a:solidFill>
                            <a:srgbClr val="555555"/>
                          </a:solidFill>
                          <a:latin typeface="Roboto" pitchFamily="34" charset="0"/>
                          <a:ea typeface="Roboto" pitchFamily="34" charset="-122"/>
                          <a:cs typeface="Roboto" pitchFamily="34" charset="-120"/>
                        </a:rPr>
                        <a:t>sold it</a:t>
                      </a:r>
                      <a:endParaRPr lang="en-US" sz="950" dirty="0">
                        <a:latin typeface="Roboto" charset="0"/>
                        <a:ea typeface="Roboto" charset="0"/>
                        <a:cs typeface="Robot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800" dirty="0">
                          <a:solidFill>
                            <a:srgbClr val="555555"/>
                          </a:solidFill>
                          <a:latin typeface="Roboto Mono" pitchFamily="34" charset="0"/>
                          <a:ea typeface="Roboto Mono" pitchFamily="34" charset="-122"/>
                          <a:cs typeface="Roboto Mono" pitchFamily="34" charset="-120"/>
                        </a:rPr>
                        <a:t>receiving · retail_selling</a:t>
                      </a:r>
                      <a:endParaRPr lang="en-US" sz="800" dirty="0">
                        <a:latin typeface="Roboto Mono" charset="0"/>
                        <a:ea typeface="Roboto Mono" charset="0"/>
                        <a:cs typeface="Roboto Mon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950" b="1" dirty="0">
                          <a:solidFill>
                            <a:srgbClr val="333333"/>
                          </a:solidFill>
                          <a:latin typeface="Roboto" pitchFamily="34" charset="0"/>
                          <a:ea typeface="Roboto" pitchFamily="34" charset="-122"/>
                          <a:cs typeface="Roboto" pitchFamily="34" charset="-120"/>
                        </a:rPr>
                        <a:t>Repair service</a:t>
                      </a:r>
                      <a:endParaRPr lang="en-US" sz="950" dirty="0">
                        <a:latin typeface="Roboto" charset="0"/>
                        <a:ea typeface="Roboto" charset="0"/>
                        <a:cs typeface="Robot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0F2F5"/>
                    </a:solidFill>
                  </a:tcPr>
                </a:tc>
                <a:tc>
                  <a:txBody>
                    <a:bodyPr/>
                    <a:lstStyle/>
                    <a:p>
                      <a:pPr marL="0" indent="0">
                        <a:buNone/>
                      </a:pPr>
                      <a:r>
                        <a:rPr lang="en-US" sz="950" dirty="0">
                          <a:solidFill>
                            <a:srgbClr val="555555"/>
                          </a:solidFill>
                          <a:latin typeface="Roboto" pitchFamily="34" charset="0"/>
                          <a:ea typeface="Roboto" pitchFamily="34" charset="-122"/>
                          <a:cs typeface="Roboto" pitchFamily="34" charset="-120"/>
                        </a:rPr>
                        <a:t>repaired it, replaced a part</a:t>
                      </a:r>
                      <a:endParaRPr lang="en-US" sz="950" dirty="0">
                        <a:latin typeface="Roboto" charset="0"/>
                        <a:ea typeface="Roboto" charset="0"/>
                        <a:cs typeface="Robot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0F2F5"/>
                    </a:solidFill>
                  </a:tcPr>
                </a:tc>
                <a:tc>
                  <a:txBody>
                    <a:bodyPr/>
                    <a:lstStyle/>
                    <a:p>
                      <a:pPr marL="0" indent="0">
                        <a:buNone/>
                      </a:pPr>
                      <a:r>
                        <a:rPr lang="en-US" sz="800" dirty="0">
                          <a:solidFill>
                            <a:srgbClr val="555555"/>
                          </a:solidFill>
                          <a:latin typeface="Roboto Mono" pitchFamily="34" charset="0"/>
                          <a:ea typeface="Roboto Mono" pitchFamily="34" charset="-122"/>
                          <a:cs typeface="Roboto Mono" pitchFamily="34" charset="-120"/>
                        </a:rPr>
                        <a:t>repairing · replacing</a:t>
                      </a:r>
                      <a:endParaRPr lang="en-US" sz="800" dirty="0">
                        <a:latin typeface="Roboto Mono" charset="0"/>
                        <a:ea typeface="Roboto Mono" charset="0"/>
                        <a:cs typeface="Roboto Mono" charset="0"/>
                      </a:endParaRPr>
                    </a:p>
                  </a:txBody>
                  <a:tcPr marL="54864" marR="54864" marT="54864" marB="54864" anchor="ctr">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F0F2F5"/>
                    </a:solidFill>
                  </a:tcPr>
                </a:tc>
                <a:extLst>
                  <a:ext uri="{0D108BD9-81ED-4DB2-BD59-A6C34878D82A}">
                    <a16:rowId xmlns:a16="http://schemas.microsoft.com/office/drawing/2014/main" val="10004"/>
                  </a:ext>
                </a:extLst>
              </a:tr>
            </a:tbl>
          </a:graphicData>
        </a:graphic>
      </p:graphicFrame>
      <p:sp>
        <p:nvSpPr>
          <p:cNvPr id="6" name="EPCIS note"/>
          <p:cNvSpPr/>
          <p:nvPr/>
        </p:nvSpPr>
        <p:spPr>
          <a:xfrm>
            <a:off x="411480" y="3063240"/>
            <a:ext cx="5577840" cy="228600"/>
          </a:xfrm>
          <a:prstGeom prst="rect">
            <a:avLst/>
          </a:prstGeom>
          <a:noFill/>
          <a:ln/>
        </p:spPr>
        <p:txBody>
          <a:bodyPr wrap="square" lIns="0" tIns="0" rIns="0" bIns="0" rtlCol="0" anchor="ctr"/>
          <a:lstStyle/>
          <a:p>
            <a:pPr marL="0" indent="0">
              <a:buNone/>
            </a:pPr>
            <a:r>
              <a:rPr lang="en-US" sz="850" i="1" dirty="0">
                <a:solidFill>
                  <a:srgbClr val="888888"/>
                </a:solidFill>
                <a:latin typeface="Roboto" pitchFamily="34" charset="0"/>
                <a:ea typeface="Roboto" pitchFamily="34" charset="-122"/>
                <a:cs typeface="Roboto" pitchFamily="34" charset="-120"/>
              </a:rPr>
              <a:t>EPCIS: the GS1 standard for supply-chain events, one event per step.</a:t>
            </a:r>
            <a:endParaRPr lang="en-US" sz="850" dirty="0"/>
          </a:p>
        </p:txBody>
      </p:sp>
      <p:sp>
        <p:nvSpPr>
          <p:cNvPr id="7" name="Card"/>
          <p:cNvSpPr/>
          <p:nvPr/>
        </p:nvSpPr>
        <p:spPr>
          <a:xfrm>
            <a:off x="6217920" y="1371600"/>
            <a:ext cx="2514600" cy="1325880"/>
          </a:xfrm>
          <a:prstGeom prst="rect">
            <a:avLst/>
          </a:prstGeom>
          <a:solidFill>
            <a:srgbClr val="EEF1F8"/>
          </a:solidFill>
          <a:ln w="19050">
            <a:solidFill>
              <a:srgbClr val="2D4D9D"/>
            </a:solidFill>
          </a:ln>
        </p:spPr>
        <p:txBody>
          <a:bodyPr wrap="square" lIns="101600" tIns="127000" rIns="127000" bIns="101600" rtlCol="0" anchor="t"/>
          <a:lstStyle/>
          <a:p>
            <a:pPr marL="0" indent="0">
              <a:spcAft>
                <a:spcPts val="600"/>
              </a:spcAft>
              <a:buNone/>
            </a:pPr>
            <a:r>
              <a:rPr lang="en-US" sz="750" b="1" kern="0" spc="150" dirty="0">
                <a:solidFill>
                  <a:srgbClr val="2D4D9D"/>
                </a:solidFill>
                <a:latin typeface="Roboto" pitchFamily="34" charset="0"/>
                <a:ea typeface="Roboto" pitchFamily="34" charset="-122"/>
                <a:cs typeface="Roboto" pitchFamily="34" charset="-120"/>
              </a:rPr>
              <a:t>TWO CHECKS FOR THE AGENT
</a:t>
            </a:r>
            <a:r>
              <a:rPr lang="en-US" sz="950" dirty="0">
                <a:solidFill>
                  <a:srgbClr val="333333"/>
                </a:solidFill>
                <a:latin typeface="Roboto" pitchFamily="34" charset="0"/>
                <a:ea typeface="Roboto" pitchFamily="34" charset="-122"/>
                <a:cs typeface="Roboto" pitchFamily="34" charset="-120"/>
              </a:rPr>
              <a:t>Is this party allowed to speak about this product? And is this the kind of thing it says? A retailer selling: normal. A retailer announcing a recall: not.</a:t>
            </a:r>
            <a:endParaRPr lang="en-US" sz="950" dirty="0"/>
          </a:p>
        </p:txBody>
      </p:sp>
      <p:sp>
        <p:nvSpPr>
          <p:cNvPr id="2" name="Card"/>
          <p:cNvSpPr/>
          <p:nvPr/>
        </p:nvSpPr>
        <p:spPr>
          <a:xfrm>
            <a:off x="6217920" y="2834640"/>
            <a:ext cx="2514600" cy="1005840"/>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600"/>
              </a:spcAft>
              <a:buNone/>
            </a:pPr>
            <a:r>
              <a:rPr lang="en-US" sz="750" b="1" kern="0" spc="150" dirty="0">
                <a:solidFill>
                  <a:srgbClr val="888888"/>
                </a:solidFill>
                <a:latin typeface="Roboto" pitchFamily="34" charset="0"/>
                <a:ea typeface="Roboto" pitchFamily="34" charset="-122"/>
                <a:cs typeface="Roboto" pitchFamily="34" charset="-120"/>
              </a:rPr>
              <a:t>WHERE THAT TABLE LIVES
</a:t>
            </a:r>
            <a:r>
              <a:rPr lang="en-US" sz="950" dirty="0">
                <a:solidFill>
                  <a:srgbClr val="555555"/>
                </a:solidFill>
                <a:latin typeface="Roboto" pitchFamily="34" charset="0"/>
                <a:ea typeface="Roboto" pitchFamily="34" charset="-122"/>
                <a:cs typeface="Roboto" pitchFamily="34" charset="-120"/>
              </a:rPr>
              <a:t>In every traceability system, built again for every customer. It never leaves.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4"/>
          <p:cNvSpPr>
            <a:spLocks noGrp="1"/>
          </p:cNvSpPr>
          <p:nvPr>
            <p:ph type="title" idx="104" hasCustomPrompt="1"/>
          </p:nvPr>
        </p:nvSpPr>
        <p:spPr>
          <a:xfrm>
            <a:off x="411480" y="384048"/>
            <a:ext cx="8412480" cy="502920"/>
          </a:xfrm>
          <a:prstGeom prst="rect">
            <a:avLst/>
          </a:prstGeom>
          <a:noFill/>
          <a:ln/>
        </p:spPr>
        <p:txBody>
          <a:bodyPr wrap="square" lIns="0" tIns="0" rIns="0" bIns="0" rtlCol="0" anchor="ctr"/>
          <a:lstStyle/>
          <a:p>
            <a:pPr marL="0" indent="0" algn="l">
              <a:buNone/>
            </a:pPr>
            <a:r>
              <a:rPr lang="en-US" sz="2200" b="1" dirty="0">
                <a:solidFill>
                  <a:srgbClr val="2D4D9D"/>
                </a:solidFill>
                <a:latin typeface="Roboto" pitchFamily="34" charset="0"/>
                <a:ea typeface="Roboto" pitchFamily="34" charset="-122"/>
                <a:cs typeface="Roboto" pitchFamily="34" charset="-120"/>
              </a:rPr>
              <a:t>Ownership of a GTIN is on record in one place</a:t>
            </a:r>
            <a:endParaRPr lang="en-US" sz="2200" dirty="0"/>
          </a:p>
        </p:txBody>
      </p:sp>
      <p:sp>
        <p:nvSpPr>
          <p:cNvPr id="4" name="Text 4"/>
          <p:cNvSpPr>
            <a:spLocks noGrp="1"/>
          </p:cNvSpPr>
          <p:nvPr>
            <p:ph type="body" idx="105" hasCustomPrompt="1"/>
          </p:nvPr>
        </p:nvSpPr>
        <p:spPr>
          <a:xfrm>
            <a:off x="411480" y="886968"/>
            <a:ext cx="8412480" cy="329184"/>
          </a:xfrm>
          <a:prstGeom prst="rect">
            <a:avLst/>
          </a:prstGeom>
          <a:noFill/>
          <a:ln/>
        </p:spPr>
        <p:txBody>
          <a:bodyPr wrap="square" lIns="0" tIns="0" rIns="0" bIns="0" rtlCol="0" anchor="ctr"/>
          <a:lstStyle/>
          <a:p>
            <a:pPr marL="0" indent="0" algn="l">
              <a:buNone/>
            </a:pPr>
            <a:r>
              <a:rPr lang="en-US" sz="1250" dirty="0">
                <a:solidFill>
                  <a:srgbClr val="555555"/>
                </a:solidFill>
                <a:latin typeface="Roboto" pitchFamily="34" charset="0"/>
                <a:ea typeface="Roboto" pitchFamily="34" charset="-122"/>
                <a:cs typeface="Roboto" pitchFamily="34" charset="-120"/>
              </a:rPr>
              <a:t>The registry that assigned it. For the GTIN that is GS1, and GS1 has started publishing it.</a:t>
            </a:r>
            <a:endParaRPr lang="en-US" sz="1250" dirty="0"/>
          </a:p>
        </p:txBody>
      </p:sp>
      <p:sp>
        <p:nvSpPr>
          <p:cNvPr id="5" name="Node: GS1 Global Office"/>
          <p:cNvSpPr/>
          <p:nvPr/>
        </p:nvSpPr>
        <p:spPr>
          <a:xfrm>
            <a:off x="411480" y="1371600"/>
            <a:ext cx="1874520" cy="1600200"/>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600"/>
              </a:spcAft>
              <a:buNone/>
            </a:pPr>
            <a:r>
              <a:rPr lang="en-US" sz="1150" b="1" dirty="0">
                <a:solidFill>
                  <a:srgbClr val="333333"/>
                </a:solidFill>
                <a:latin typeface="Roboto" pitchFamily="34" charset="0"/>
                <a:ea typeface="Roboto" pitchFamily="34" charset="-122"/>
                <a:cs typeface="Roboto" pitchFamily="34" charset="-120"/>
              </a:rPr>
              <a:t>GS1 Global Office
</a:t>
            </a:r>
            <a:r>
              <a:rPr lang="en-US" sz="900" dirty="0">
                <a:solidFill>
                  <a:srgbClr val="555555"/>
                </a:solidFill>
                <a:latin typeface="Roboto" pitchFamily="34" charset="0"/>
                <a:ea typeface="Roboto" pitchFamily="34" charset="-122"/>
                <a:cs typeface="Roboto" pitchFamily="34" charset="-120"/>
              </a:rPr>
              <a:t>allocates prefix ranges to Member Organisations
</a:t>
            </a:r>
            <a:r>
              <a:rPr lang="en-US" sz="400" dirty="0">
                <a:solidFill>
                  <a:srgbClr val="555555"/>
                </a:solidFill>
                <a:latin typeface="Roboto" pitchFamily="34" charset="0"/>
                <a:ea typeface="Roboto" pitchFamily="34" charset="-122"/>
                <a:cs typeface="Roboto" pitchFamily="34" charset="-120"/>
              </a:rPr>
              <a:t>
</a:t>
            </a:r>
            <a:r>
              <a:rPr lang="en-US" sz="850" i="1" dirty="0">
                <a:solidFill>
                  <a:srgbClr val="888888"/>
                </a:solidFill>
                <a:latin typeface="Roboto" pitchFamily="34" charset="0"/>
                <a:ea typeface="Roboto" pitchFamily="34" charset="-122"/>
                <a:cs typeface="Roboto" pitchFamily="34" charset="-120"/>
              </a:rPr>
              <a:t>root of the chain</a:t>
            </a:r>
            <a:br>
              <a:rPr lang="en-US" sz="850" i="1" dirty="0">
                <a:solidFill>
                  <a:srgbClr val="888888"/>
                </a:solidFill>
                <a:latin typeface="Roboto" pitchFamily="34" charset="0"/>
                <a:ea typeface="Roboto" pitchFamily="34" charset="-122"/>
                <a:cs typeface="Roboto" pitchFamily="34" charset="-120"/>
              </a:rPr>
            </a:br>
            <a:br>
              <a:rPr lang="en-US" sz="850" i="1" dirty="0">
                <a:solidFill>
                  <a:srgbClr val="888888"/>
                </a:solidFill>
                <a:latin typeface="Roboto" pitchFamily="34" charset="0"/>
                <a:ea typeface="Roboto" pitchFamily="34" charset="-122"/>
                <a:cs typeface="Roboto" pitchFamily="34" charset="-120"/>
              </a:rPr>
            </a:br>
            <a:r>
              <a:rPr lang="en-US" sz="1000" b="1" dirty="0">
                <a:latin typeface="Roboto" pitchFamily="34" charset="0"/>
                <a:ea typeface="Roboto" pitchFamily="34" charset="-122"/>
                <a:cs typeface="Roboto" pitchFamily="34" charset="-120"/>
              </a:rPr>
              <a:t>id.gs1.org</a:t>
            </a:r>
            <a:endParaRPr lang="en-US" sz="1000" b="1" dirty="0"/>
          </a:p>
        </p:txBody>
      </p:sp>
      <p:sp>
        <p:nvSpPr>
          <p:cNvPr id="6" name="Arrow"/>
          <p:cNvSpPr/>
          <p:nvPr/>
        </p:nvSpPr>
        <p:spPr>
          <a:xfrm>
            <a:off x="2267712" y="1920240"/>
            <a:ext cx="310896" cy="365760"/>
          </a:xfrm>
          <a:prstGeom prst="rect">
            <a:avLst/>
          </a:prstGeom>
          <a:noFill/>
          <a:ln/>
        </p:spPr>
        <p:txBody>
          <a:bodyPr wrap="square" lIns="0" tIns="0" rIns="0" bIns="0" rtlCol="0" anchor="ctr"/>
          <a:lstStyle/>
          <a:p>
            <a:pPr marL="0" indent="0" algn="ctr">
              <a:buNone/>
            </a:pPr>
            <a:r>
              <a:rPr lang="en-US" sz="1400" dirty="0">
                <a:solidFill>
                  <a:srgbClr val="888888"/>
                </a:solidFill>
                <a:latin typeface="Roboto" pitchFamily="34" charset="0"/>
                <a:ea typeface="Roboto" pitchFamily="34" charset="-122"/>
                <a:cs typeface="Roboto" pitchFamily="34" charset="-120"/>
              </a:rPr>
              <a:t>→</a:t>
            </a:r>
            <a:endParaRPr lang="en-US" sz="1400" dirty="0"/>
          </a:p>
        </p:txBody>
      </p:sp>
      <p:sp>
        <p:nvSpPr>
          <p:cNvPr id="7" name="Node: Member Organisation"/>
          <p:cNvSpPr/>
          <p:nvPr/>
        </p:nvSpPr>
        <p:spPr>
          <a:xfrm>
            <a:off x="2560320" y="1371600"/>
            <a:ext cx="1874520" cy="1600200"/>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600"/>
              </a:spcAft>
              <a:buNone/>
            </a:pPr>
            <a:r>
              <a:rPr lang="en-US" sz="1150" b="1" dirty="0">
                <a:solidFill>
                  <a:srgbClr val="333333"/>
                </a:solidFill>
                <a:latin typeface="Roboto" pitchFamily="34" charset="0"/>
                <a:ea typeface="Roboto" pitchFamily="34" charset="-122"/>
                <a:cs typeface="Roboto" pitchFamily="34" charset="-120"/>
              </a:rPr>
              <a:t>Member Organisation
</a:t>
            </a:r>
            <a:r>
              <a:rPr lang="en-US" sz="900" dirty="0">
                <a:solidFill>
                  <a:srgbClr val="555555"/>
                </a:solidFill>
                <a:latin typeface="Roboto" pitchFamily="34" charset="0"/>
                <a:ea typeface="Roboto" pitchFamily="34" charset="-122"/>
                <a:cs typeface="Roboto" pitchFamily="34" charset="-120"/>
              </a:rPr>
              <a:t>licences the Company Prefix to a company
</a:t>
            </a:r>
            <a:r>
              <a:rPr lang="en-US" sz="400" dirty="0">
                <a:solidFill>
                  <a:srgbClr val="555555"/>
                </a:solidFill>
                <a:latin typeface="Roboto" pitchFamily="34" charset="0"/>
                <a:ea typeface="Roboto" pitchFamily="34" charset="-122"/>
                <a:cs typeface="Roboto" pitchFamily="34" charset="-120"/>
              </a:rPr>
              <a:t>
</a:t>
            </a:r>
            <a:r>
              <a:rPr lang="en-US" sz="850" i="1" dirty="0">
                <a:solidFill>
                  <a:srgbClr val="888888"/>
                </a:solidFill>
                <a:latin typeface="Roboto" pitchFamily="34" charset="0"/>
                <a:ea typeface="Roboto" pitchFamily="34" charset="-122"/>
                <a:cs typeface="Roboto" pitchFamily="34" charset="-120"/>
              </a:rPr>
              <a:t>Licence Registry, Verified by GS1: APIs in production</a:t>
            </a:r>
            <a:endParaRPr lang="en-US" sz="950" dirty="0"/>
          </a:p>
        </p:txBody>
      </p:sp>
      <p:sp>
        <p:nvSpPr>
          <p:cNvPr id="8" name="Arrow"/>
          <p:cNvSpPr/>
          <p:nvPr/>
        </p:nvSpPr>
        <p:spPr>
          <a:xfrm>
            <a:off x="4416552" y="1920240"/>
            <a:ext cx="310896" cy="365760"/>
          </a:xfrm>
          <a:prstGeom prst="rect">
            <a:avLst/>
          </a:prstGeom>
          <a:noFill/>
          <a:ln/>
        </p:spPr>
        <p:txBody>
          <a:bodyPr wrap="square" lIns="0" tIns="0" rIns="0" bIns="0" rtlCol="0" anchor="ctr"/>
          <a:lstStyle/>
          <a:p>
            <a:pPr marL="0" indent="0" algn="ctr">
              <a:buNone/>
            </a:pPr>
            <a:r>
              <a:rPr lang="en-US" sz="1400" dirty="0">
                <a:solidFill>
                  <a:srgbClr val="888888"/>
                </a:solidFill>
                <a:latin typeface="Roboto" pitchFamily="34" charset="0"/>
                <a:ea typeface="Roboto" pitchFamily="34" charset="-122"/>
                <a:cs typeface="Roboto" pitchFamily="34" charset="-120"/>
              </a:rPr>
              <a:t>→</a:t>
            </a:r>
            <a:endParaRPr lang="en-US" sz="1400" dirty="0"/>
          </a:p>
        </p:txBody>
      </p:sp>
      <p:sp>
        <p:nvSpPr>
          <p:cNvPr id="9" name="Node: Licensee"/>
          <p:cNvSpPr/>
          <p:nvPr/>
        </p:nvSpPr>
        <p:spPr>
          <a:xfrm>
            <a:off x="4709160" y="1371600"/>
            <a:ext cx="1874520" cy="1600200"/>
          </a:xfrm>
          <a:prstGeom prst="rect">
            <a:avLst/>
          </a:prstGeom>
          <a:solidFill>
            <a:srgbClr val="EEF1F8"/>
          </a:solidFill>
          <a:ln w="19050">
            <a:solidFill>
              <a:srgbClr val="2D4D9D"/>
            </a:solidFill>
          </a:ln>
        </p:spPr>
        <p:txBody>
          <a:bodyPr wrap="square" lIns="101600" tIns="127000" rIns="127000" bIns="101600" rtlCol="0" anchor="t"/>
          <a:lstStyle/>
          <a:p>
            <a:pPr marL="0" indent="0">
              <a:spcAft>
                <a:spcPts val="600"/>
              </a:spcAft>
              <a:buNone/>
            </a:pPr>
            <a:r>
              <a:rPr lang="en-US" sz="1150" b="1" dirty="0">
                <a:solidFill>
                  <a:srgbClr val="2D4D9D"/>
                </a:solidFill>
                <a:latin typeface="Roboto" pitchFamily="34" charset="0"/>
                <a:ea typeface="Roboto" pitchFamily="34" charset="-122"/>
                <a:cs typeface="Roboto" pitchFamily="34" charset="-120"/>
              </a:rPr>
              <a:t>Licensee
</a:t>
            </a:r>
            <a:r>
              <a:rPr lang="en-US" sz="900" dirty="0">
                <a:solidFill>
                  <a:srgbClr val="555555"/>
                </a:solidFill>
                <a:latin typeface="Roboto" pitchFamily="34" charset="0"/>
                <a:ea typeface="Roboto" pitchFamily="34" charset="-122"/>
                <a:cs typeface="Roboto" pitchFamily="34" charset="-120"/>
              </a:rPr>
              <a:t>brand owner or manufacturer, holds the GCP
</a:t>
            </a:r>
            <a:r>
              <a:rPr lang="en-US" sz="400" dirty="0">
                <a:solidFill>
                  <a:srgbClr val="555555"/>
                </a:solidFill>
                <a:latin typeface="Roboto" pitchFamily="34" charset="0"/>
                <a:ea typeface="Roboto" pitchFamily="34" charset="-122"/>
                <a:cs typeface="Roboto" pitchFamily="34" charset="-120"/>
              </a:rPr>
              <a:t>
</a:t>
            </a:r>
            <a:r>
              <a:rPr lang="en-US" sz="850" i="1" dirty="0">
                <a:solidFill>
                  <a:srgbClr val="2D4D9D"/>
                </a:solidFill>
                <a:latin typeface="Roboto" pitchFamily="34" charset="0"/>
                <a:ea typeface="Roboto" pitchFamily="34" charset="-122"/>
                <a:cs typeface="Roboto" pitchFamily="34" charset="-120"/>
              </a:rPr>
              <a:t>licence credentials: specified, verified, issued</a:t>
            </a:r>
            <a:endParaRPr lang="en-US" sz="950" dirty="0"/>
          </a:p>
        </p:txBody>
      </p:sp>
      <p:sp>
        <p:nvSpPr>
          <p:cNvPr id="10" name="Arrow"/>
          <p:cNvSpPr/>
          <p:nvPr/>
        </p:nvSpPr>
        <p:spPr>
          <a:xfrm>
            <a:off x="6565392" y="1920240"/>
            <a:ext cx="310896" cy="365760"/>
          </a:xfrm>
          <a:prstGeom prst="rect">
            <a:avLst/>
          </a:prstGeom>
          <a:noFill/>
          <a:ln/>
        </p:spPr>
        <p:txBody>
          <a:bodyPr wrap="square" lIns="0" tIns="0" rIns="0" bIns="0" rtlCol="0" anchor="ctr"/>
          <a:lstStyle/>
          <a:p>
            <a:pPr marL="0" indent="0" algn="ctr">
              <a:buNone/>
            </a:pPr>
            <a:r>
              <a:rPr lang="en-US" sz="1400" dirty="0">
                <a:solidFill>
                  <a:srgbClr val="888888"/>
                </a:solidFill>
                <a:latin typeface="Roboto" pitchFamily="34" charset="0"/>
                <a:ea typeface="Roboto" pitchFamily="34" charset="-122"/>
                <a:cs typeface="Roboto" pitchFamily="34" charset="-120"/>
              </a:rPr>
              <a:t>→</a:t>
            </a:r>
            <a:endParaRPr lang="en-US" sz="1400" dirty="0"/>
          </a:p>
        </p:txBody>
      </p:sp>
      <p:sp>
        <p:nvSpPr>
          <p:cNvPr id="11" name="Node: GTIN"/>
          <p:cNvSpPr/>
          <p:nvPr/>
        </p:nvSpPr>
        <p:spPr>
          <a:xfrm>
            <a:off x="6858000" y="1371600"/>
            <a:ext cx="1874520" cy="1600200"/>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600"/>
              </a:spcAft>
              <a:buNone/>
            </a:pPr>
            <a:r>
              <a:rPr lang="en-US" sz="1150" b="1" dirty="0">
                <a:solidFill>
                  <a:srgbClr val="333333"/>
                </a:solidFill>
                <a:latin typeface="Roboto" pitchFamily="34" charset="0"/>
                <a:ea typeface="Roboto" pitchFamily="34" charset="-122"/>
                <a:cs typeface="Roboto" pitchFamily="34" charset="-120"/>
              </a:rPr>
              <a:t>GTIN
</a:t>
            </a:r>
            <a:r>
              <a:rPr lang="en-US" sz="900" dirty="0">
                <a:solidFill>
                  <a:srgbClr val="555555"/>
                </a:solidFill>
                <a:latin typeface="Roboto" pitchFamily="34" charset="0"/>
                <a:ea typeface="Roboto" pitchFamily="34" charset="-122"/>
                <a:cs typeface="Roboto" pitchFamily="34" charset="-120"/>
              </a:rPr>
              <a:t>assigned under the prefix, printed on the pack
</a:t>
            </a:r>
            <a:r>
              <a:rPr lang="en-US" sz="400" dirty="0">
                <a:solidFill>
                  <a:srgbClr val="555555"/>
                </a:solidFill>
                <a:latin typeface="Roboto" pitchFamily="34" charset="0"/>
                <a:ea typeface="Roboto" pitchFamily="34" charset="-122"/>
                <a:cs typeface="Roboto" pitchFamily="34" charset="-120"/>
              </a:rPr>
              <a:t>
</a:t>
            </a:r>
            <a:r>
              <a:rPr lang="en-US" sz="850" i="1" dirty="0">
                <a:solidFill>
                  <a:srgbClr val="888888"/>
                </a:solidFill>
                <a:latin typeface="Roboto" pitchFamily="34" charset="0"/>
                <a:ea typeface="Roboto" pitchFamily="34" charset="-122"/>
                <a:cs typeface="Roboto" pitchFamily="34" charset="-120"/>
              </a:rPr>
              <a:t>an agent may scan</a:t>
            </a:r>
            <a:br>
              <a:rPr lang="en-US" sz="850" i="1" dirty="0">
                <a:solidFill>
                  <a:srgbClr val="888888"/>
                </a:solidFill>
                <a:latin typeface="Roboto" pitchFamily="34" charset="0"/>
                <a:ea typeface="Roboto" pitchFamily="34" charset="-122"/>
                <a:cs typeface="Roboto" pitchFamily="34" charset="-120"/>
              </a:rPr>
            </a:br>
            <a:br>
              <a:rPr lang="en-US" sz="850" i="1" dirty="0">
                <a:solidFill>
                  <a:srgbClr val="888888"/>
                </a:solidFill>
                <a:latin typeface="Roboto" pitchFamily="34" charset="0"/>
                <a:ea typeface="Roboto" pitchFamily="34" charset="-122"/>
                <a:cs typeface="Roboto" pitchFamily="34" charset="-120"/>
              </a:rPr>
            </a:br>
            <a:r>
              <a:rPr lang="en-US" sz="1000" b="1" dirty="0" err="1">
                <a:latin typeface="Roboto" pitchFamily="34" charset="0"/>
                <a:ea typeface="Roboto" pitchFamily="34" charset="-122"/>
              </a:rPr>
              <a:t>id.brandowner.com</a:t>
            </a:r>
            <a:endParaRPr lang="en-US" sz="1000" b="1" dirty="0"/>
          </a:p>
        </p:txBody>
      </p:sp>
      <p:sp>
        <p:nvSpPr>
          <p:cNvPr id="12" name="Card"/>
          <p:cNvSpPr/>
          <p:nvPr/>
        </p:nvSpPr>
        <p:spPr>
          <a:xfrm>
            <a:off x="411480" y="3154680"/>
            <a:ext cx="4069080" cy="1280160"/>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600"/>
              </a:spcAft>
              <a:buNone/>
            </a:pPr>
            <a:r>
              <a:rPr lang="en-US" sz="750" b="1" kern="0" spc="150" dirty="0">
                <a:solidFill>
                  <a:srgbClr val="888888"/>
                </a:solidFill>
                <a:latin typeface="Roboto" pitchFamily="34" charset="0"/>
                <a:ea typeface="Roboto" pitchFamily="34" charset="-122"/>
                <a:cs typeface="Roboto" pitchFamily="34" charset="-120"/>
              </a:rPr>
              <a:t>PRECEDENT
</a:t>
            </a:r>
            <a:r>
              <a:rPr lang="en-US" sz="950" dirty="0">
                <a:solidFill>
                  <a:srgbClr val="555555"/>
                </a:solidFill>
                <a:latin typeface="Roboto" pitchFamily="34" charset="0"/>
                <a:ea typeface="Roboto" pitchFamily="34" charset="-122"/>
                <a:cs typeface="Roboto" pitchFamily="34" charset="-120"/>
              </a:rPr>
              <a:t>GLEIF publishes this chain for the LEI, the identifier for legal entities in finance, as credentials: GLEIF, qualified issuer, legal entity, person in a role.</a:t>
            </a:r>
            <a:endParaRPr lang="en-US" sz="950" dirty="0"/>
          </a:p>
        </p:txBody>
      </p:sp>
      <p:sp>
        <p:nvSpPr>
          <p:cNvPr id="13" name="Card"/>
          <p:cNvSpPr/>
          <p:nvPr/>
        </p:nvSpPr>
        <p:spPr>
          <a:xfrm>
            <a:off x="4663440" y="3154680"/>
            <a:ext cx="4069080" cy="1280160"/>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600"/>
              </a:spcAft>
              <a:buNone/>
            </a:pPr>
            <a:r>
              <a:rPr lang="en-US" sz="750" b="1" kern="0" spc="150" dirty="0">
                <a:solidFill>
                  <a:srgbClr val="888888"/>
                </a:solidFill>
                <a:latin typeface="Roboto" pitchFamily="34" charset="0"/>
                <a:ea typeface="Roboto" pitchFamily="34" charset="-122"/>
                <a:cs typeface="Roboto" pitchFamily="34" charset="-120"/>
              </a:rPr>
              <a:t>WHAT GS1 HAS TODAY
</a:t>
            </a:r>
            <a:r>
              <a:rPr lang="en-US" sz="950" dirty="0">
                <a:solidFill>
                  <a:srgbClr val="555555"/>
                </a:solidFill>
                <a:latin typeface="Roboto" pitchFamily="34" charset="0"/>
                <a:ea typeface="Roboto" pitchFamily="34" charset="-122"/>
                <a:cs typeface="Roboto" pitchFamily="34" charset="-120"/>
              </a:rPr>
              <a:t>Licence Registry and Verified by GS1 as APIs. A VC data model for the licence chain. A reference verifier (GS1 US). Optional Support for Verifiable Credentials (GS1 NL und BE, LU?).</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4"/>
          <p:cNvSpPr>
            <a:spLocks noGrp="1"/>
          </p:cNvSpPr>
          <p:nvPr>
            <p:ph type="title" idx="104" hasCustomPrompt="1"/>
          </p:nvPr>
        </p:nvSpPr>
        <p:spPr>
          <a:xfrm>
            <a:off x="411480" y="384048"/>
            <a:ext cx="8412480" cy="502920"/>
          </a:xfrm>
          <a:prstGeom prst="rect">
            <a:avLst/>
          </a:prstGeom>
          <a:noFill/>
          <a:ln/>
        </p:spPr>
        <p:txBody>
          <a:bodyPr wrap="square" lIns="0" tIns="0" rIns="0" bIns="0" rtlCol="0" anchor="ctr"/>
          <a:lstStyle/>
          <a:p>
            <a:pPr marL="0" indent="0" algn="l">
              <a:buNone/>
            </a:pPr>
            <a:r>
              <a:rPr lang="en-US" sz="2200" dirty="0"/>
              <a:t>Verifying Entitlement</a:t>
            </a:r>
          </a:p>
        </p:txBody>
      </p:sp>
      <p:sp>
        <p:nvSpPr>
          <p:cNvPr id="4" name="Text 4"/>
          <p:cNvSpPr>
            <a:spLocks noGrp="1"/>
          </p:cNvSpPr>
          <p:nvPr>
            <p:ph type="body" idx="105" hasCustomPrompt="1"/>
          </p:nvPr>
        </p:nvSpPr>
        <p:spPr>
          <a:xfrm>
            <a:off x="411480" y="886968"/>
            <a:ext cx="8412480" cy="329184"/>
          </a:xfrm>
          <a:prstGeom prst="rect">
            <a:avLst/>
          </a:prstGeom>
          <a:noFill/>
          <a:ln/>
        </p:spPr>
        <p:txBody>
          <a:bodyPr wrap="square" lIns="0" tIns="0" rIns="0" bIns="0" rtlCol="0" anchor="ctr"/>
          <a:lstStyle/>
          <a:p>
            <a:pPr marL="0" indent="0" algn="l">
              <a:buNone/>
            </a:pPr>
            <a:r>
              <a:rPr lang="en-US" sz="1250" dirty="0">
                <a:solidFill>
                  <a:srgbClr val="555555"/>
                </a:solidFill>
                <a:latin typeface="Roboto" pitchFamily="34" charset="0"/>
                <a:ea typeface="Roboto" pitchFamily="34" charset="-122"/>
                <a:cs typeface="Roboto" pitchFamily="34" charset="-120"/>
              </a:rPr>
              <a:t>From a Digital Link to a decision. Three steps work today, one needs a format, one needs the roles.</a:t>
            </a:r>
            <a:endParaRPr lang="en-US" sz="1250" dirty="0"/>
          </a:p>
        </p:txBody>
      </p:sp>
      <p:sp>
        <p:nvSpPr>
          <p:cNvPr id="5" name="Step 1"/>
          <p:cNvSpPr/>
          <p:nvPr/>
        </p:nvSpPr>
        <p:spPr>
          <a:xfrm>
            <a:off x="411480" y="1417320"/>
            <a:ext cx="6035040" cy="438912"/>
          </a:xfrm>
          <a:prstGeom prst="rect">
            <a:avLst/>
          </a:prstGeom>
          <a:solidFill>
            <a:srgbClr val="FFFFFF"/>
          </a:solidFill>
          <a:ln w="9525">
            <a:solidFill>
              <a:srgbClr val="DDE3EC"/>
            </a:solidFill>
          </a:ln>
        </p:spPr>
        <p:txBody>
          <a:bodyPr wrap="square" lIns="101600" tIns="127000" rIns="127000" bIns="101600" rtlCol="0" anchor="ctr"/>
          <a:lstStyle/>
          <a:p>
            <a:pPr marL="0" indent="0">
              <a:buNone/>
            </a:pPr>
            <a:r>
              <a:rPr lang="en-US" sz="1100" b="1" dirty="0">
                <a:solidFill>
                  <a:srgbClr val="2D4D9D"/>
                </a:solidFill>
                <a:latin typeface="Roboto" pitchFamily="34" charset="0"/>
                <a:ea typeface="Roboto" pitchFamily="34" charset="-122"/>
                <a:cs typeface="Roboto" pitchFamily="34" charset="-120"/>
              </a:rPr>
              <a:t>1   </a:t>
            </a:r>
            <a:r>
              <a:rPr lang="en-US" sz="1000" b="1" dirty="0">
                <a:solidFill>
                  <a:srgbClr val="333333"/>
                </a:solidFill>
                <a:latin typeface="Roboto" pitchFamily="34" charset="0"/>
                <a:ea typeface="Roboto" pitchFamily="34" charset="-122"/>
                <a:cs typeface="Roboto" pitchFamily="34" charset="-120"/>
              </a:rPr>
              <a:t>Canonicalise   </a:t>
            </a:r>
            <a:r>
              <a:rPr lang="en-US" sz="850" dirty="0">
                <a:solidFill>
                  <a:srgbClr val="555555"/>
                </a:solidFill>
                <a:latin typeface="Roboto" pitchFamily="34" charset="0"/>
                <a:ea typeface="Roboto" pitchFamily="34" charset="-122"/>
                <a:cs typeface="Roboto" pitchFamily="34" charset="-120"/>
              </a:rPr>
              <a:t>Whatever domain is printed, id.gs1.org/01/{gtin}.</a:t>
            </a:r>
            <a:endParaRPr lang="en-US" sz="950" dirty="0"/>
          </a:p>
        </p:txBody>
      </p:sp>
      <p:sp>
        <p:nvSpPr>
          <p:cNvPr id="6" name="Status 1"/>
          <p:cNvSpPr/>
          <p:nvPr/>
        </p:nvSpPr>
        <p:spPr>
          <a:xfrm>
            <a:off x="6583680" y="1417320"/>
            <a:ext cx="2148840" cy="438912"/>
          </a:xfrm>
          <a:prstGeom prst="rect">
            <a:avLst/>
          </a:prstGeom>
          <a:solidFill>
            <a:srgbClr val="FFFFFF"/>
          </a:solidFill>
          <a:ln w="12700">
            <a:solidFill>
              <a:srgbClr val="2E8B57"/>
            </a:solidFill>
          </a:ln>
        </p:spPr>
        <p:txBody>
          <a:bodyPr wrap="square" lIns="0" tIns="101600" rIns="101600" bIns="0" rtlCol="0" anchor="ctr"/>
          <a:lstStyle/>
          <a:p>
            <a:pPr marL="0" indent="0" algn="ctr">
              <a:buNone/>
            </a:pPr>
            <a:r>
              <a:rPr lang="en-US" sz="900" b="1" dirty="0">
                <a:solidFill>
                  <a:srgbClr val="2E8B57"/>
                </a:solidFill>
                <a:latin typeface="Roboto" pitchFamily="34" charset="0"/>
                <a:ea typeface="Roboto" pitchFamily="34" charset="-122"/>
                <a:cs typeface="Roboto" pitchFamily="34" charset="-120"/>
              </a:rPr>
              <a:t>works today</a:t>
            </a:r>
            <a:endParaRPr lang="en-US" sz="900" dirty="0"/>
          </a:p>
        </p:txBody>
      </p:sp>
      <p:sp>
        <p:nvSpPr>
          <p:cNvPr id="7" name="Step 2"/>
          <p:cNvSpPr/>
          <p:nvPr/>
        </p:nvSpPr>
        <p:spPr>
          <a:xfrm>
            <a:off x="411480" y="1920240"/>
            <a:ext cx="6035040" cy="438912"/>
          </a:xfrm>
          <a:prstGeom prst="rect">
            <a:avLst/>
          </a:prstGeom>
          <a:solidFill>
            <a:srgbClr val="FFFFFF"/>
          </a:solidFill>
          <a:ln w="9525">
            <a:solidFill>
              <a:srgbClr val="DDE3EC"/>
            </a:solidFill>
          </a:ln>
        </p:spPr>
        <p:txBody>
          <a:bodyPr wrap="square" lIns="101600" tIns="127000" rIns="127000" bIns="101600" rtlCol="0" anchor="ctr"/>
          <a:lstStyle/>
          <a:p>
            <a:pPr marL="0" indent="0">
              <a:buNone/>
            </a:pPr>
            <a:r>
              <a:rPr lang="en-US" sz="1100" b="1" dirty="0">
                <a:solidFill>
                  <a:srgbClr val="2D4D9D"/>
                </a:solidFill>
                <a:latin typeface="Roboto" pitchFamily="34" charset="0"/>
                <a:ea typeface="Roboto" pitchFamily="34" charset="-122"/>
                <a:cs typeface="Roboto" pitchFamily="34" charset="-120"/>
              </a:rPr>
              <a:t>2   </a:t>
            </a:r>
            <a:r>
              <a:rPr lang="en-US" sz="1000" b="1" dirty="0">
                <a:solidFill>
                  <a:srgbClr val="333333"/>
                </a:solidFill>
                <a:latin typeface="Roboto" pitchFamily="34" charset="0"/>
                <a:ea typeface="Roboto" pitchFamily="34" charset="-122"/>
                <a:cs typeface="Roboto" pitchFamily="34" charset="-120"/>
              </a:rPr>
              <a:t>Resolve and compare   </a:t>
            </a:r>
            <a:r>
              <a:rPr lang="en-US" sz="850" dirty="0">
                <a:solidFill>
                  <a:srgbClr val="555555"/>
                </a:solidFill>
                <a:latin typeface="Roboto" pitchFamily="34" charset="0"/>
                <a:ea typeface="Roboto" pitchFamily="34" charset="-122"/>
                <a:cs typeface="Roboto" pitchFamily="34" charset="-120"/>
              </a:rPr>
              <a:t>id.gs1.org points to the licensee's registered resolver. Compare with the host the data came from.</a:t>
            </a:r>
            <a:endParaRPr lang="en-US" sz="950" dirty="0"/>
          </a:p>
        </p:txBody>
      </p:sp>
      <p:sp>
        <p:nvSpPr>
          <p:cNvPr id="8" name="Status 2"/>
          <p:cNvSpPr/>
          <p:nvPr/>
        </p:nvSpPr>
        <p:spPr>
          <a:xfrm>
            <a:off x="6583680" y="1920240"/>
            <a:ext cx="2148840" cy="438912"/>
          </a:xfrm>
          <a:prstGeom prst="rect">
            <a:avLst/>
          </a:prstGeom>
          <a:solidFill>
            <a:srgbClr val="FFFFFF"/>
          </a:solidFill>
          <a:ln w="12700">
            <a:solidFill>
              <a:srgbClr val="2E8B57"/>
            </a:solidFill>
          </a:ln>
        </p:spPr>
        <p:txBody>
          <a:bodyPr wrap="square" lIns="0" tIns="101600" rIns="101600" bIns="0" rtlCol="0" anchor="ctr"/>
          <a:lstStyle/>
          <a:p>
            <a:pPr marL="0" indent="0" algn="ctr">
              <a:buNone/>
            </a:pPr>
            <a:r>
              <a:rPr lang="en-US" sz="900" b="1" dirty="0">
                <a:solidFill>
                  <a:srgbClr val="2E8B57"/>
                </a:solidFill>
                <a:latin typeface="Roboto" pitchFamily="34" charset="0"/>
                <a:ea typeface="Roboto" pitchFamily="34" charset="-122"/>
                <a:cs typeface="Roboto" pitchFamily="34" charset="-120"/>
              </a:rPr>
              <a:t>works today</a:t>
            </a:r>
            <a:endParaRPr lang="en-US" sz="900" dirty="0"/>
          </a:p>
        </p:txBody>
      </p:sp>
      <p:sp>
        <p:nvSpPr>
          <p:cNvPr id="9" name="Step 3"/>
          <p:cNvSpPr/>
          <p:nvPr/>
        </p:nvSpPr>
        <p:spPr>
          <a:xfrm>
            <a:off x="411480" y="2423160"/>
            <a:ext cx="6035040" cy="438912"/>
          </a:xfrm>
          <a:prstGeom prst="rect">
            <a:avLst/>
          </a:prstGeom>
          <a:solidFill>
            <a:srgbClr val="FFFFFF"/>
          </a:solidFill>
          <a:ln w="9525">
            <a:solidFill>
              <a:srgbClr val="DDE3EC"/>
            </a:solidFill>
          </a:ln>
        </p:spPr>
        <p:txBody>
          <a:bodyPr wrap="square" lIns="101600" tIns="127000" rIns="127000" bIns="101600" rtlCol="0" anchor="ctr"/>
          <a:lstStyle/>
          <a:p>
            <a:pPr marL="0" indent="0">
              <a:buNone/>
            </a:pPr>
            <a:r>
              <a:rPr lang="en-US" sz="1100" b="1" dirty="0">
                <a:solidFill>
                  <a:srgbClr val="2D4D9D"/>
                </a:solidFill>
                <a:latin typeface="Roboto" pitchFamily="34" charset="0"/>
                <a:ea typeface="Roboto" pitchFamily="34" charset="-122"/>
                <a:cs typeface="Roboto" pitchFamily="34" charset="-120"/>
              </a:rPr>
              <a:t>3   </a:t>
            </a:r>
            <a:r>
              <a:rPr lang="en-US" sz="1000" b="1" dirty="0">
                <a:solidFill>
                  <a:srgbClr val="333333"/>
                </a:solidFill>
                <a:latin typeface="Roboto" pitchFamily="34" charset="0"/>
                <a:ea typeface="Roboto" pitchFamily="34" charset="-122"/>
                <a:cs typeface="Roboto" pitchFamily="34" charset="-120"/>
              </a:rPr>
              <a:t>Ask who holds the GTIN   </a:t>
            </a:r>
            <a:r>
              <a:rPr lang="en-US" sz="850" dirty="0">
                <a:solidFill>
                  <a:srgbClr val="555555"/>
                </a:solidFill>
                <a:latin typeface="Roboto" pitchFamily="34" charset="0"/>
                <a:ea typeface="Roboto" pitchFamily="34" charset="-122"/>
                <a:cs typeface="Roboto" pitchFamily="34" charset="-120"/>
              </a:rPr>
              <a:t>Verified by GS1 returns the licensee. Rate-limited and unsigned, but there.</a:t>
            </a:r>
            <a:endParaRPr lang="en-US" sz="950" dirty="0"/>
          </a:p>
        </p:txBody>
      </p:sp>
      <p:sp>
        <p:nvSpPr>
          <p:cNvPr id="10" name="Status 3"/>
          <p:cNvSpPr/>
          <p:nvPr/>
        </p:nvSpPr>
        <p:spPr>
          <a:xfrm>
            <a:off x="6583680" y="2423160"/>
            <a:ext cx="2148840" cy="438912"/>
          </a:xfrm>
          <a:prstGeom prst="rect">
            <a:avLst/>
          </a:prstGeom>
          <a:solidFill>
            <a:srgbClr val="FFFFFF"/>
          </a:solidFill>
          <a:ln w="12700">
            <a:solidFill>
              <a:srgbClr val="2E8B57"/>
            </a:solidFill>
          </a:ln>
        </p:spPr>
        <p:txBody>
          <a:bodyPr wrap="square" lIns="0" tIns="101600" rIns="101600" bIns="0" rtlCol="0" anchor="ctr"/>
          <a:lstStyle/>
          <a:p>
            <a:pPr marL="0" indent="0" algn="ctr">
              <a:buNone/>
            </a:pPr>
            <a:r>
              <a:rPr lang="en-US" sz="900" b="1" dirty="0">
                <a:solidFill>
                  <a:srgbClr val="2E8B57"/>
                </a:solidFill>
                <a:latin typeface="Roboto" pitchFamily="34" charset="0"/>
                <a:ea typeface="Roboto" pitchFamily="34" charset="-122"/>
                <a:cs typeface="Roboto" pitchFamily="34" charset="-120"/>
              </a:rPr>
              <a:t>works today</a:t>
            </a:r>
            <a:endParaRPr lang="en-US" sz="900" dirty="0"/>
          </a:p>
        </p:txBody>
      </p:sp>
      <p:sp>
        <p:nvSpPr>
          <p:cNvPr id="11" name="Step 4"/>
          <p:cNvSpPr/>
          <p:nvPr/>
        </p:nvSpPr>
        <p:spPr>
          <a:xfrm>
            <a:off x="411480" y="2926080"/>
            <a:ext cx="6035040" cy="438912"/>
          </a:xfrm>
          <a:prstGeom prst="rect">
            <a:avLst/>
          </a:prstGeom>
          <a:solidFill>
            <a:srgbClr val="FFFFFF"/>
          </a:solidFill>
          <a:ln w="9525">
            <a:solidFill>
              <a:srgbClr val="DDE3EC"/>
            </a:solidFill>
          </a:ln>
        </p:spPr>
        <p:txBody>
          <a:bodyPr wrap="square" lIns="101600" tIns="127000" rIns="127000" bIns="101600" rtlCol="0" anchor="ctr"/>
          <a:lstStyle/>
          <a:p>
            <a:pPr marL="0" indent="0">
              <a:buNone/>
            </a:pPr>
            <a:r>
              <a:rPr lang="en-US" sz="1100" b="1" dirty="0">
                <a:solidFill>
                  <a:srgbClr val="2D4D9D"/>
                </a:solidFill>
                <a:latin typeface="Roboto" pitchFamily="34" charset="0"/>
                <a:ea typeface="Roboto" pitchFamily="34" charset="-122"/>
                <a:cs typeface="Roboto" pitchFamily="34" charset="-120"/>
              </a:rPr>
              <a:t>4   </a:t>
            </a:r>
            <a:r>
              <a:rPr lang="en-US" sz="1000" b="1" dirty="0">
                <a:solidFill>
                  <a:srgbClr val="333333"/>
                </a:solidFill>
                <a:latin typeface="Roboto" pitchFamily="34" charset="0"/>
                <a:ea typeface="Roboto" pitchFamily="34" charset="-122"/>
                <a:cs typeface="Roboto" pitchFamily="34" charset="-120"/>
              </a:rPr>
              <a:t>Verify the licence chain   </a:t>
            </a:r>
            <a:r>
              <a:rPr lang="en-US" sz="850" dirty="0">
                <a:solidFill>
                  <a:srgbClr val="555555"/>
                </a:solidFill>
                <a:latin typeface="Roboto" pitchFamily="34" charset="0"/>
                <a:ea typeface="Roboto" pitchFamily="34" charset="-122"/>
                <a:cs typeface="Roboto" pitchFamily="34" charset="-120"/>
              </a:rPr>
              <a:t>Global Office → MO → licensee → key. GS1 has model and verifier, Some GS1 MOs issue VCs, our prototype can verify it.</a:t>
            </a:r>
            <a:endParaRPr lang="en-US" sz="950" dirty="0"/>
          </a:p>
        </p:txBody>
      </p:sp>
      <p:sp>
        <p:nvSpPr>
          <p:cNvPr id="12" name="Status 4"/>
          <p:cNvSpPr/>
          <p:nvPr/>
        </p:nvSpPr>
        <p:spPr>
          <a:xfrm>
            <a:off x="6583680" y="2926080"/>
            <a:ext cx="2148840" cy="438912"/>
          </a:xfrm>
          <a:prstGeom prst="rect">
            <a:avLst/>
          </a:prstGeom>
          <a:solidFill>
            <a:srgbClr val="FFFFFF"/>
          </a:solidFill>
          <a:ln w="12700">
            <a:solidFill>
              <a:srgbClr val="8A6914"/>
            </a:solidFill>
          </a:ln>
        </p:spPr>
        <p:txBody>
          <a:bodyPr wrap="square" lIns="0" tIns="101600" rIns="101600" bIns="0" rtlCol="0" anchor="ctr"/>
          <a:lstStyle/>
          <a:p>
            <a:pPr marL="0" indent="0" algn="ctr">
              <a:buNone/>
            </a:pPr>
            <a:r>
              <a:rPr lang="en-US" sz="900" b="1" dirty="0">
                <a:solidFill>
                  <a:srgbClr val="8A6914"/>
                </a:solidFill>
                <a:latin typeface="Roboto" pitchFamily="34" charset="0"/>
                <a:ea typeface="Roboto" pitchFamily="34" charset="-122"/>
                <a:cs typeface="Roboto" pitchFamily="34" charset="-120"/>
              </a:rPr>
              <a:t>needs discovery</a:t>
            </a:r>
            <a:endParaRPr lang="en-US" sz="900" dirty="0"/>
          </a:p>
        </p:txBody>
      </p:sp>
      <p:sp>
        <p:nvSpPr>
          <p:cNvPr id="13" name="Step 5"/>
          <p:cNvSpPr/>
          <p:nvPr/>
        </p:nvSpPr>
        <p:spPr>
          <a:xfrm>
            <a:off x="411480" y="3429000"/>
            <a:ext cx="6035040" cy="438912"/>
          </a:xfrm>
          <a:prstGeom prst="rect">
            <a:avLst/>
          </a:prstGeom>
          <a:solidFill>
            <a:srgbClr val="FFFFFF"/>
          </a:solidFill>
          <a:ln w="9525">
            <a:solidFill>
              <a:srgbClr val="DDE3EC"/>
            </a:solidFill>
          </a:ln>
        </p:spPr>
        <p:txBody>
          <a:bodyPr wrap="square" lIns="101600" tIns="127000" rIns="127000" bIns="101600" rtlCol="0" anchor="ctr"/>
          <a:lstStyle/>
          <a:p>
            <a:pPr marL="0" indent="0">
              <a:buNone/>
            </a:pPr>
            <a:r>
              <a:rPr lang="en-US" sz="1100" b="1" dirty="0">
                <a:solidFill>
                  <a:srgbClr val="2D4D9D"/>
                </a:solidFill>
                <a:latin typeface="Roboto" pitchFamily="34" charset="0"/>
                <a:ea typeface="Roboto" pitchFamily="34" charset="-122"/>
                <a:cs typeface="Roboto" pitchFamily="34" charset="-120"/>
              </a:rPr>
              <a:t>5   </a:t>
            </a:r>
            <a:r>
              <a:rPr lang="en-US" sz="1000" b="1" dirty="0">
                <a:solidFill>
                  <a:srgbClr val="333333"/>
                </a:solidFill>
                <a:latin typeface="Roboto" pitchFamily="34" charset="0"/>
                <a:ea typeface="Roboto" pitchFamily="34" charset="-122"/>
                <a:cs typeface="Roboto" pitchFamily="34" charset="-120"/>
              </a:rPr>
              <a:t>Check the role   </a:t>
            </a:r>
            <a:r>
              <a:rPr lang="en-US" sz="850" dirty="0">
                <a:solidFill>
                  <a:srgbClr val="555555"/>
                </a:solidFill>
                <a:latin typeface="Roboto" pitchFamily="34" charset="0"/>
                <a:ea typeface="Roboto" pitchFamily="34" charset="-122"/>
                <a:cs typeface="Roboto" pitchFamily="34" charset="-120"/>
              </a:rPr>
              <a:t>Does this party hold a role for this kind of statement about this product? Published nowhere today.</a:t>
            </a:r>
            <a:endParaRPr lang="en-US" sz="950" dirty="0"/>
          </a:p>
        </p:txBody>
      </p:sp>
      <p:sp>
        <p:nvSpPr>
          <p:cNvPr id="14" name="Status 5"/>
          <p:cNvSpPr/>
          <p:nvPr/>
        </p:nvSpPr>
        <p:spPr>
          <a:xfrm>
            <a:off x="6583680" y="3429000"/>
            <a:ext cx="2148840" cy="438912"/>
          </a:xfrm>
          <a:prstGeom prst="rect">
            <a:avLst/>
          </a:prstGeom>
          <a:solidFill>
            <a:srgbClr val="FFFFFF"/>
          </a:solidFill>
          <a:ln w="12700">
            <a:solidFill>
              <a:srgbClr val="BB1133"/>
            </a:solidFill>
          </a:ln>
        </p:spPr>
        <p:txBody>
          <a:bodyPr wrap="square" lIns="0" tIns="101600" rIns="101600" bIns="0" rtlCol="0" anchor="ctr"/>
          <a:lstStyle/>
          <a:p>
            <a:pPr marL="0" indent="0" algn="ctr">
              <a:buNone/>
            </a:pPr>
            <a:r>
              <a:rPr lang="en-US" sz="900" b="1" dirty="0">
                <a:solidFill>
                  <a:srgbClr val="BB1133"/>
                </a:solidFill>
                <a:latin typeface="Roboto" pitchFamily="34" charset="0"/>
                <a:ea typeface="Roboto" pitchFamily="34" charset="-122"/>
                <a:cs typeface="Roboto" pitchFamily="34" charset="-120"/>
              </a:rPr>
              <a:t>needs the roles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4"/>
          <p:cNvSpPr>
            <a:spLocks noGrp="1"/>
          </p:cNvSpPr>
          <p:nvPr>
            <p:ph type="title" idx="104" hasCustomPrompt="1"/>
          </p:nvPr>
        </p:nvSpPr>
        <p:spPr>
          <a:xfrm>
            <a:off x="411480" y="384048"/>
            <a:ext cx="8412480" cy="502920"/>
          </a:xfrm>
          <a:prstGeom prst="rect">
            <a:avLst/>
          </a:prstGeom>
          <a:noFill/>
          <a:ln/>
        </p:spPr>
        <p:txBody>
          <a:bodyPr wrap="square" lIns="0" tIns="0" rIns="0" bIns="0" rtlCol="0" anchor="ctr"/>
          <a:lstStyle/>
          <a:p>
            <a:pPr marL="0" indent="0" algn="l">
              <a:buNone/>
            </a:pPr>
            <a:r>
              <a:rPr lang="en-US" sz="2200" b="1" dirty="0">
                <a:solidFill>
                  <a:srgbClr val="2D4D9D"/>
                </a:solidFill>
                <a:latin typeface="Roboto" pitchFamily="34" charset="0"/>
                <a:ea typeface="Roboto" pitchFamily="34" charset="-122"/>
                <a:cs typeface="Roboto" pitchFamily="34" charset="-120"/>
              </a:rPr>
              <a:t>Conclusion</a:t>
            </a:r>
            <a:endParaRPr lang="en-US" sz="2200" dirty="0"/>
          </a:p>
        </p:txBody>
      </p:sp>
      <p:sp>
        <p:nvSpPr>
          <p:cNvPr id="4" name="Text 4"/>
          <p:cNvSpPr>
            <a:spLocks noGrp="1"/>
          </p:cNvSpPr>
          <p:nvPr>
            <p:ph type="body" idx="105" hasCustomPrompt="1"/>
          </p:nvPr>
        </p:nvSpPr>
        <p:spPr>
          <a:xfrm>
            <a:off x="411480" y="886968"/>
            <a:ext cx="8412480" cy="329184"/>
          </a:xfrm>
          <a:prstGeom prst="rect">
            <a:avLst/>
          </a:prstGeom>
          <a:noFill/>
          <a:ln/>
        </p:spPr>
        <p:txBody>
          <a:bodyPr wrap="square" lIns="0" tIns="0" rIns="0" bIns="0" rtlCol="0" anchor="ctr"/>
          <a:lstStyle/>
          <a:p>
            <a:pPr marL="0" indent="0" algn="l">
              <a:buNone/>
            </a:pPr>
            <a:r>
              <a:rPr lang="en-US" sz="1250" dirty="0">
                <a:solidFill>
                  <a:srgbClr val="555555"/>
                </a:solidFill>
                <a:latin typeface="Roboto" pitchFamily="34" charset="0"/>
                <a:ea typeface="Roboto" pitchFamily="34" charset="-122"/>
                <a:cs typeface="Roboto" pitchFamily="34" charset="-120"/>
              </a:rPr>
              <a:t> </a:t>
            </a:r>
            <a:endParaRPr lang="en-US" sz="1250" dirty="0"/>
          </a:p>
        </p:txBody>
      </p:sp>
      <p:sp>
        <p:nvSpPr>
          <p:cNvPr id="5" name="Where we are"/>
          <p:cNvSpPr/>
          <p:nvPr/>
        </p:nvSpPr>
        <p:spPr>
          <a:xfrm>
            <a:off x="411480" y="1101780"/>
            <a:ext cx="4069080" cy="1828800"/>
          </a:xfrm>
          <a:prstGeom prst="rect">
            <a:avLst/>
          </a:prstGeom>
          <a:solidFill>
            <a:srgbClr val="FFFFFF"/>
          </a:solidFill>
          <a:ln w="9525">
            <a:solidFill>
              <a:srgbClr val="DDE3EC"/>
            </a:solidFill>
          </a:ln>
        </p:spPr>
        <p:txBody>
          <a:bodyPr wrap="square" lIns="101600" tIns="127000" rIns="127000" bIns="101600" rtlCol="0" anchor="t"/>
          <a:lstStyle/>
          <a:p>
            <a:pPr marL="0" indent="0">
              <a:spcAft>
                <a:spcPts val="800"/>
              </a:spcAft>
              <a:buNone/>
            </a:pPr>
            <a:r>
              <a:rPr lang="en-US" sz="750" b="1" kern="0" spc="150" dirty="0">
                <a:solidFill>
                  <a:srgbClr val="888888"/>
                </a:solidFill>
                <a:latin typeface="Roboto" pitchFamily="34" charset="0"/>
                <a:ea typeface="Roboto" pitchFamily="34" charset="-122"/>
                <a:cs typeface="Roboto" pitchFamily="34" charset="-120"/>
              </a:rPr>
              <a:t>WHERE WE ARE
</a:t>
            </a:r>
            <a:r>
              <a:rPr lang="en-US" sz="1100" dirty="0">
                <a:solidFill>
                  <a:srgbClr val="333333"/>
                </a:solidFill>
                <a:latin typeface="Roboto" pitchFamily="34" charset="0"/>
                <a:ea typeface="Roboto" pitchFamily="34" charset="-122"/>
                <a:cs typeface="Roboto" pitchFamily="34" charset="-120"/>
              </a:rPr>
              <a:t>Agents verify who signs. Nobody checks whether the signer may speak about the product, or may say this.
</a:t>
            </a:r>
            <a:r>
              <a:rPr lang="en-US" sz="400" dirty="0">
                <a:solidFill>
                  <a:srgbClr val="555555"/>
                </a:solidFill>
                <a:latin typeface="Roboto" pitchFamily="34" charset="0"/>
                <a:ea typeface="Roboto" pitchFamily="34" charset="-122"/>
                <a:cs typeface="Roboto" pitchFamily="34" charset="-120"/>
              </a:rPr>
              <a:t>
</a:t>
            </a:r>
            <a:r>
              <a:rPr lang="en-US" sz="1050" dirty="0">
                <a:solidFill>
                  <a:srgbClr val="555555"/>
                </a:solidFill>
                <a:latin typeface="Roboto" pitchFamily="34" charset="0"/>
                <a:ea typeface="Roboto" pitchFamily="34" charset="-122"/>
                <a:cs typeface="Roboto" pitchFamily="34" charset="-120"/>
              </a:rPr>
              <a:t>Few Member Organisations issue the licence as a credential. Verifiers exist. Resolvers exist. </a:t>
            </a:r>
            <a:endParaRPr lang="en-US" sz="950" dirty="0"/>
          </a:p>
        </p:txBody>
      </p:sp>
      <p:sp>
        <p:nvSpPr>
          <p:cNvPr id="6" name="What is missing"/>
          <p:cNvSpPr/>
          <p:nvPr/>
        </p:nvSpPr>
        <p:spPr>
          <a:xfrm>
            <a:off x="4663440" y="1101780"/>
            <a:ext cx="4069080" cy="1828800"/>
          </a:xfrm>
          <a:prstGeom prst="rect">
            <a:avLst/>
          </a:prstGeom>
          <a:solidFill>
            <a:srgbClr val="EEF1F8"/>
          </a:solidFill>
          <a:ln w="19050">
            <a:solidFill>
              <a:srgbClr val="2D4D9D"/>
            </a:solidFill>
          </a:ln>
        </p:spPr>
        <p:txBody>
          <a:bodyPr wrap="square" lIns="101600" tIns="127000" rIns="127000" bIns="101600" rtlCol="0" anchor="t"/>
          <a:lstStyle/>
          <a:p>
            <a:pPr marL="0" indent="0">
              <a:spcAft>
                <a:spcPts val="800"/>
              </a:spcAft>
              <a:buNone/>
            </a:pPr>
            <a:r>
              <a:rPr lang="en-US" sz="750" b="1" kern="0" spc="150" dirty="0">
                <a:solidFill>
                  <a:srgbClr val="2D4D9D"/>
                </a:solidFill>
                <a:latin typeface="Roboto" pitchFamily="34" charset="0"/>
                <a:ea typeface="Roboto" pitchFamily="34" charset="-122"/>
                <a:cs typeface="Roboto" pitchFamily="34" charset="-120"/>
              </a:rPr>
              <a:t>WHAT IS MISSING
</a:t>
            </a:r>
            <a:r>
              <a:rPr lang="en-US" sz="1100" dirty="0">
                <a:solidFill>
                  <a:srgbClr val="333333"/>
                </a:solidFill>
                <a:latin typeface="Roboto" pitchFamily="34" charset="0"/>
                <a:ea typeface="Roboto" pitchFamily="34" charset="-122"/>
                <a:cs typeface="Roboto" pitchFamily="34" charset="-120"/>
              </a:rPr>
              <a:t>1  Enabling Agents to run required checks in the same way.
</a:t>
            </a:r>
            <a:r>
              <a:rPr lang="en-US" sz="400" dirty="0">
                <a:solidFill>
                  <a:srgbClr val="555555"/>
                </a:solidFill>
                <a:latin typeface="Roboto" pitchFamily="34" charset="0"/>
                <a:ea typeface="Roboto" pitchFamily="34" charset="-122"/>
                <a:cs typeface="Roboto" pitchFamily="34" charset="-120"/>
              </a:rPr>
              <a:t>
</a:t>
            </a:r>
            <a:r>
              <a:rPr lang="en-US" sz="1100" dirty="0">
                <a:solidFill>
                  <a:srgbClr val="333333"/>
                </a:solidFill>
                <a:latin typeface="Roboto" pitchFamily="34" charset="0"/>
                <a:ea typeface="Roboto" pitchFamily="34" charset="-122"/>
                <a:cs typeface="Roboto" pitchFamily="34" charset="-120"/>
              </a:rPr>
              <a:t>2  A way to find the credential for a Digital Link.
</a:t>
            </a:r>
            <a:r>
              <a:rPr lang="en-US" sz="400" dirty="0">
                <a:solidFill>
                  <a:srgbClr val="555555"/>
                </a:solidFill>
                <a:latin typeface="Roboto" pitchFamily="34" charset="0"/>
                <a:ea typeface="Roboto" pitchFamily="34" charset="-122"/>
                <a:cs typeface="Roboto" pitchFamily="34" charset="-120"/>
              </a:rPr>
              <a:t>
</a:t>
            </a:r>
            <a:r>
              <a:rPr lang="en-US" sz="1100" dirty="0">
                <a:solidFill>
                  <a:srgbClr val="333333"/>
                </a:solidFill>
                <a:latin typeface="Roboto" pitchFamily="34" charset="0"/>
                <a:ea typeface="Roboto" pitchFamily="34" charset="-122"/>
                <a:cs typeface="Roboto" pitchFamily="34" charset="-120"/>
              </a:rPr>
              <a:t>3  The roles and permissions: who contributes what, out of the traceability systems and into the open.</a:t>
            </a:r>
            <a:endParaRPr lang="en-US" sz="950" dirty="0"/>
          </a:p>
        </p:txBody>
      </p:sp>
      <p:sp>
        <p:nvSpPr>
          <p:cNvPr id="7" name="Close"/>
          <p:cNvSpPr/>
          <p:nvPr/>
        </p:nvSpPr>
        <p:spPr>
          <a:xfrm>
            <a:off x="411480" y="4759452"/>
            <a:ext cx="8321040" cy="548640"/>
          </a:xfrm>
          <a:prstGeom prst="rect">
            <a:avLst/>
          </a:prstGeom>
          <a:noFill/>
          <a:ln/>
        </p:spPr>
        <p:txBody>
          <a:bodyPr wrap="square" lIns="0" tIns="0" rIns="0" bIns="0" rtlCol="0" anchor="t"/>
          <a:lstStyle/>
          <a:p>
            <a:pPr marL="0" indent="0">
              <a:buNone/>
            </a:pPr>
            <a:r>
              <a:rPr lang="en-US" sz="1000" dirty="0">
                <a:solidFill>
                  <a:srgbClr val="555555"/>
                </a:solidFill>
                <a:latin typeface="Roboto" pitchFamily="34" charset="0"/>
                <a:ea typeface="Roboto" pitchFamily="34" charset="-122"/>
                <a:cs typeface="Roboto" pitchFamily="34" charset="-120"/>
              </a:rPr>
              <a:t>Sven Böckelmann  ·  sven.boeckelmann@benelog.com  ·  openepcis.io</a:t>
            </a:r>
            <a:endParaRPr lang="en-US" sz="1200" dirty="0"/>
          </a:p>
        </p:txBody>
      </p:sp>
      <p:pic>
        <p:nvPicPr>
          <p:cNvPr id="2" name="Grafik 1">
            <a:extLst>
              <a:ext uri="{FF2B5EF4-FFF2-40B4-BE49-F238E27FC236}">
                <a16:creationId xmlns:a16="http://schemas.microsoft.com/office/drawing/2014/main" id="{D44706ED-C59C-276C-BEC9-D9F6F434FADC}"/>
              </a:ext>
            </a:extLst>
          </p:cNvPr>
          <p:cNvPicPr>
            <a:picLocks noChangeAspect="1"/>
          </p:cNvPicPr>
          <p:nvPr/>
        </p:nvPicPr>
        <p:blipFill>
          <a:blip r:embed="rId3"/>
          <a:stretch>
            <a:fillRect/>
          </a:stretch>
        </p:blipFill>
        <p:spPr>
          <a:xfrm>
            <a:off x="7215182" y="3018892"/>
            <a:ext cx="1517338" cy="1517338"/>
          </a:xfrm>
          <a:prstGeom prst="rect">
            <a:avLst/>
          </a:prstGeom>
        </p:spPr>
      </p:pic>
      <p:pic>
        <p:nvPicPr>
          <p:cNvPr id="9" name="Grafik 8">
            <a:extLst>
              <a:ext uri="{FF2B5EF4-FFF2-40B4-BE49-F238E27FC236}">
                <a16:creationId xmlns:a16="http://schemas.microsoft.com/office/drawing/2014/main" id="{6AC4022A-F70A-999B-7F79-405CB17C3ADB}"/>
              </a:ext>
            </a:extLst>
          </p:cNvPr>
          <p:cNvPicPr>
            <a:picLocks noChangeAspect="1"/>
          </p:cNvPicPr>
          <p:nvPr/>
        </p:nvPicPr>
        <p:blipFill>
          <a:blip r:embed="rId4"/>
          <a:stretch>
            <a:fillRect/>
          </a:stretch>
        </p:blipFill>
        <p:spPr>
          <a:xfrm>
            <a:off x="7869836" y="4566210"/>
            <a:ext cx="319998" cy="31999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2855</Words>
  <Application>Microsoft Macintosh PowerPoint</Application>
  <PresentationFormat>Bildschirmpräsentation (16:9)</PresentationFormat>
  <Paragraphs>114</Paragraphs>
  <Slides>10</Slides>
  <Notes>10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10</vt:i4>
      </vt:variant>
    </vt:vector>
  </HeadingPairs>
  <TitlesOfParts>
    <vt:vector size="14" baseType="lpstr">
      <vt:lpstr>Arial</vt:lpstr>
      <vt:lpstr>Roboto</vt:lpstr>
      <vt:lpstr>Roboto Mono</vt:lpstr>
      <vt:lpstr>Office Theme</vt:lpstr>
      <vt:lpstr>PowerPoint-Präsentation</vt:lpstr>
      <vt:lpstr>Not Only EPCIS</vt:lpstr>
      <vt:lpstr>First things first</vt:lpstr>
      <vt:lpstr>A well-built demo, and a question nobody asked</vt:lpstr>
      <vt:lpstr>Three sources, one GTIN, one choice</vt:lpstr>
      <vt:lpstr>Where. Who signed. Who may.</vt:lpstr>
      <vt:lpstr>Many parties speak about one product</vt:lpstr>
      <vt:lpstr>Ownership of a GTIN is on record in one place</vt:lpstr>
      <vt:lpstr>Verifying Entitlement</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Trusted Resolution</dc:title>
  <dc:subject>PptxGenJS Presentation</dc:subject>
  <dc:creator>Sven Böckelmann</dc:creator>
  <cp:lastModifiedBy>Sven Böckelmann</cp:lastModifiedBy>
  <cp:revision>36</cp:revision>
  <dcterms:created xsi:type="dcterms:W3CDTF">2026-09-08T13:35:37Z</dcterms:created>
  <dcterms:modified xsi:type="dcterms:W3CDTF">2026-09-09T01:04:41Z</dcterms:modified>
</cp:coreProperties>
</file>